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スライド番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タイトルテキスト"/>
          <p:cNvSpPr txBox="1"/>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タイトルテキスト</a:t>
            </a:r>
          </a:p>
        </p:txBody>
      </p:sp>
      <p:sp>
        <p:nvSpPr>
          <p:cNvPr id="3" name="本文レベル1…"/>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本文レベル1</a:t>
            </a:r>
          </a:p>
          <a:p>
            <a:pPr lvl="1"/>
            <a:r>
              <a:t>本文レベル2</a:t>
            </a:r>
          </a:p>
          <a:p>
            <a:pPr lvl="2"/>
            <a:r>
              <a:t>本文レベル3</a:t>
            </a:r>
          </a:p>
          <a:p>
            <a:pPr lvl="3"/>
            <a:r>
              <a:t>本文レベル4</a:t>
            </a:r>
          </a:p>
          <a:p>
            <a:pPr lvl="4"/>
            <a:r>
              <a:t>本文レベル5</a:t>
            </a:r>
          </a:p>
        </p:txBody>
      </p:sp>
      <p:sp>
        <p:nvSpPr>
          <p:cNvPr id="4" name="スライド番号"/>
          <p:cNvSpPr txBox="1"/>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1.jpe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259DA3"/>
        </a:solidFill>
      </p:bgPr>
    </p:bg>
    <p:spTree>
      <p:nvGrpSpPr>
        <p:cNvPr id="1" name=""/>
        <p:cNvGrpSpPr/>
        <p:nvPr/>
      </p:nvGrpSpPr>
      <p:grpSpPr>
        <a:xfrm>
          <a:off x="0" y="0"/>
          <a:ext cx="0" cy="0"/>
          <a:chOff x="0" y="0"/>
          <a:chExt cx="0" cy="0"/>
        </a:xfrm>
      </p:grpSpPr>
      <p:sp>
        <p:nvSpPr>
          <p:cNvPr id="20" name="Shape 0"/>
          <p:cNvSpPr/>
          <p:nvPr/>
        </p:nvSpPr>
        <p:spPr>
          <a:xfrm>
            <a:off x="411480" y="365759"/>
            <a:ext cx="36577" cy="4389122"/>
          </a:xfrm>
          <a:prstGeom prst="rect">
            <a:avLst/>
          </a:prstGeom>
          <a:solidFill>
            <a:srgbClr val="FFFFFF">
              <a:alpha val="70000"/>
            </a:srgbClr>
          </a:solidFill>
          <a:ln w="12700">
            <a:miter lim="400000"/>
          </a:ln>
        </p:spPr>
        <p:txBody>
          <a:bodyPr lIns="45719" rIns="45719"/>
          <a:lstStyle/>
          <a:p>
            <a:pPr/>
          </a:p>
        </p:txBody>
      </p:sp>
      <p:sp>
        <p:nvSpPr>
          <p:cNvPr id="21" name="Shape 3"/>
          <p:cNvSpPr/>
          <p:nvPr/>
        </p:nvSpPr>
        <p:spPr>
          <a:xfrm>
            <a:off x="2971800" y="3360916"/>
            <a:ext cx="3200400" cy="457201"/>
          </a:xfrm>
          <a:prstGeom prst="rect">
            <a:avLst/>
          </a:prstGeom>
          <a:solidFill>
            <a:srgbClr val="FFFFFF"/>
          </a:solidFill>
          <a:ln w="12700">
            <a:miter lim="400000"/>
          </a:ln>
        </p:spPr>
        <p:txBody>
          <a:bodyPr lIns="45719" rIns="45719"/>
          <a:lstStyle/>
          <a:p>
            <a:pPr/>
          </a:p>
        </p:txBody>
      </p:sp>
      <p:sp>
        <p:nvSpPr>
          <p:cNvPr id="22" name="Text 4"/>
          <p:cNvSpPr txBox="1"/>
          <p:nvPr/>
        </p:nvSpPr>
        <p:spPr>
          <a:xfrm>
            <a:off x="3017519" y="3445371"/>
            <a:ext cx="3108961" cy="28829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500">
                <a:solidFill>
                  <a:srgbClr val="259DA3"/>
                </a:solidFill>
                <a:latin typeface="+mn-lt"/>
                <a:ea typeface="+mn-ea"/>
                <a:cs typeface="+mn-cs"/>
                <a:sym typeface="Helvetica"/>
              </a:defRPr>
            </a:lvl1pPr>
          </a:lstStyle>
          <a:p>
            <a:pPr/>
            <a:r>
              <a:t>丸投げでも、手数料を下げれる</a:t>
            </a:r>
          </a:p>
        </p:txBody>
      </p:sp>
      <p:sp>
        <p:nvSpPr>
          <p:cNvPr id="23" name="Shape 11"/>
          <p:cNvSpPr/>
          <p:nvPr/>
        </p:nvSpPr>
        <p:spPr>
          <a:xfrm>
            <a:off x="0" y="4160520"/>
            <a:ext cx="9144000" cy="982981"/>
          </a:xfrm>
          <a:prstGeom prst="rect">
            <a:avLst/>
          </a:prstGeom>
          <a:solidFill>
            <a:srgbClr val="FFFFFF"/>
          </a:solidFill>
          <a:ln w="12700">
            <a:miter lim="400000"/>
          </a:ln>
        </p:spPr>
        <p:txBody>
          <a:bodyPr lIns="45719" rIns="45719"/>
          <a:lstStyle/>
          <a:p>
            <a:pPr/>
          </a:p>
        </p:txBody>
      </p:sp>
      <p:sp>
        <p:nvSpPr>
          <p:cNvPr id="24" name="Text 12"/>
          <p:cNvSpPr txBox="1"/>
          <p:nvPr/>
        </p:nvSpPr>
        <p:spPr>
          <a:xfrm>
            <a:off x="685800" y="4232655"/>
            <a:ext cx="448056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2D2D2D"/>
                </a:solidFill>
                <a:latin typeface="+mn-lt"/>
                <a:ea typeface="+mn-ea"/>
                <a:cs typeface="+mn-cs"/>
                <a:sym typeface="Helvetica"/>
              </a:defRPr>
            </a:lvl1pPr>
          </a:lstStyle>
          <a:p>
            <a:pPr/>
            <a:r>
              <a:t>株式会社セカイチ（SEKAICHI Inc.）  |  営業資料</a:t>
            </a:r>
          </a:p>
        </p:txBody>
      </p:sp>
      <p:sp>
        <p:nvSpPr>
          <p:cNvPr id="25" name="Text 13"/>
          <p:cNvSpPr txBox="1"/>
          <p:nvPr/>
        </p:nvSpPr>
        <p:spPr>
          <a:xfrm>
            <a:off x="685800" y="4504944"/>
            <a:ext cx="4480560" cy="243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solidFill>
                  <a:srgbClr val="5F6368"/>
                </a:solidFill>
                <a:latin typeface="+mn-lt"/>
                <a:ea typeface="+mn-ea"/>
                <a:cs typeface="+mn-cs"/>
                <a:sym typeface="Helvetica"/>
              </a:defRPr>
            </a:lvl1pPr>
          </a:lstStyle>
          <a:p>
            <a:pPr/>
            <a:r>
              <a:t>個人オーナー様向け  |  2026年4月  |  担当:</a:t>
            </a:r>
          </a:p>
        </p:txBody>
      </p:sp>
      <p:grpSp>
        <p:nvGrpSpPr>
          <p:cNvPr id="28" name="Text 14"/>
          <p:cNvGrpSpPr/>
          <p:nvPr/>
        </p:nvGrpSpPr>
        <p:grpSpPr>
          <a:xfrm>
            <a:off x="6857999" y="4389120"/>
            <a:ext cx="1554482" cy="256033"/>
            <a:chOff x="0" y="0"/>
            <a:chExt cx="1554480" cy="256031"/>
          </a:xfrm>
        </p:grpSpPr>
        <p:sp>
          <p:nvSpPr>
            <p:cNvPr id="26" name="四角形"/>
            <p:cNvSpPr/>
            <p:nvPr/>
          </p:nvSpPr>
          <p:spPr>
            <a:xfrm>
              <a:off x="-1" y="0"/>
              <a:ext cx="1554482" cy="256032"/>
            </a:xfrm>
            <a:prstGeom prst="rect">
              <a:avLst/>
            </a:prstGeom>
            <a:solidFill>
              <a:srgbClr val="E5F4F5"/>
            </a:solidFill>
            <a:ln w="12700" cap="flat">
              <a:noFill/>
              <a:miter lim="400000"/>
            </a:ln>
            <a:effectLst/>
          </p:spPr>
          <p:txBody>
            <a:bodyPr wrap="square" lIns="45719" tIns="45719" rIns="45719" bIns="45719" numCol="1" anchor="ctr">
              <a:noAutofit/>
            </a:bodyPr>
            <a:lstStyle/>
            <a:p>
              <a:pPr algn="ctr">
                <a:defRPr sz="800"/>
              </a:pPr>
            </a:p>
          </p:txBody>
        </p:sp>
        <p:sp>
          <p:nvSpPr>
            <p:cNvPr id="27" name="CONFIDENTIAL"/>
            <p:cNvSpPr txBox="1"/>
            <p:nvPr/>
          </p:nvSpPr>
          <p:spPr>
            <a:xfrm>
              <a:off x="45719" y="18795"/>
              <a:ext cx="1463042" cy="218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800">
                  <a:solidFill>
                    <a:srgbClr val="259DA3"/>
                  </a:solidFill>
                  <a:latin typeface="+mn-lt"/>
                  <a:ea typeface="+mn-ea"/>
                  <a:cs typeface="+mn-cs"/>
                  <a:sym typeface="Helvetica"/>
                </a:defRPr>
              </a:lvl1pPr>
            </a:lstStyle>
            <a:p>
              <a:pPr/>
              <a:r>
                <a:t>CONFIDENTIAL</a:t>
              </a:r>
            </a:p>
          </p:txBody>
        </p:sp>
      </p:grpSp>
      <p:pic>
        <p:nvPicPr>
          <p:cNvPr id="29" name="sekai_stay_03_03.png" descr="sekai_stay_03_03.png"/>
          <p:cNvPicPr>
            <a:picLocks noChangeAspect="1"/>
          </p:cNvPicPr>
          <p:nvPr/>
        </p:nvPicPr>
        <p:blipFill>
          <a:blip r:embed="rId2">
            <a:extLst/>
          </a:blip>
          <a:stretch>
            <a:fillRect/>
          </a:stretch>
        </p:blipFill>
        <p:spPr>
          <a:xfrm>
            <a:off x="2233987" y="1046851"/>
            <a:ext cx="4676026" cy="1761374"/>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 name="Text 0"/>
          <p:cNvSpPr txBox="1"/>
          <p:nvPr/>
        </p:nvSpPr>
        <p:spPr>
          <a:xfrm>
            <a:off x="8092439" y="4828540"/>
            <a:ext cx="548641"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9AA0A6"/>
                </a:solidFill>
                <a:latin typeface="+mn-lt"/>
                <a:ea typeface="+mn-ea"/>
                <a:cs typeface="+mn-cs"/>
                <a:sym typeface="Helvetica"/>
              </a:defRPr>
            </a:lvl1pPr>
          </a:lstStyle>
          <a:p>
            <a:pPr/>
            <a:r>
              <a:t>2 / 9</a:t>
            </a:r>
          </a:p>
        </p:txBody>
      </p:sp>
      <p:sp>
        <p:nvSpPr>
          <p:cNvPr id="32" name="Text 1"/>
          <p:cNvSpPr txBox="1"/>
          <p:nvPr/>
        </p:nvSpPr>
        <p:spPr>
          <a:xfrm>
            <a:off x="502919" y="4828540"/>
            <a:ext cx="2651762"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9AA0A6"/>
                </a:solidFill>
                <a:latin typeface="+mn-lt"/>
                <a:ea typeface="+mn-ea"/>
                <a:cs typeface="+mn-cs"/>
                <a:sym typeface="Helvetica"/>
              </a:defRPr>
            </a:lvl1pPr>
          </a:lstStyle>
          <a:p>
            <a:pPr/>
            <a:r>
              <a:t>SEKAI STAY  |  CONFIDENTIAL</a:t>
            </a:r>
          </a:p>
        </p:txBody>
      </p:sp>
      <p:sp>
        <p:nvSpPr>
          <p:cNvPr id="33" name="Shape 2"/>
          <p:cNvSpPr/>
          <p:nvPr/>
        </p:nvSpPr>
        <p:spPr>
          <a:xfrm>
            <a:off x="548640" y="411480"/>
            <a:ext cx="1097281" cy="1"/>
          </a:xfrm>
          <a:prstGeom prst="line">
            <a:avLst/>
          </a:prstGeom>
          <a:ln w="38100">
            <a:solidFill>
              <a:srgbClr val="259DA3"/>
            </a:solidFill>
          </a:ln>
        </p:spPr>
        <p:txBody>
          <a:bodyPr lIns="45719" rIns="45719"/>
          <a:lstStyle/>
          <a:p>
            <a:pPr/>
          </a:p>
        </p:txBody>
      </p:sp>
      <p:sp>
        <p:nvSpPr>
          <p:cNvPr id="34" name="Text 3"/>
          <p:cNvSpPr txBox="1"/>
          <p:nvPr/>
        </p:nvSpPr>
        <p:spPr>
          <a:xfrm>
            <a:off x="594359" y="474217"/>
            <a:ext cx="7223761" cy="459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400">
                <a:solidFill>
                  <a:srgbClr val="2D2D2D"/>
                </a:solidFill>
                <a:latin typeface="+mn-lt"/>
                <a:ea typeface="+mn-ea"/>
                <a:cs typeface="+mn-cs"/>
                <a:sym typeface="Helvetica"/>
              </a:defRPr>
            </a:lvl1pPr>
          </a:lstStyle>
          <a:p>
            <a:pPr/>
            <a:r>
              <a:t>オーナー様が抱える 6つの限界</a:t>
            </a:r>
          </a:p>
        </p:txBody>
      </p:sp>
      <p:sp>
        <p:nvSpPr>
          <p:cNvPr id="35" name="Shape 4"/>
          <p:cNvSpPr/>
          <p:nvPr/>
        </p:nvSpPr>
        <p:spPr>
          <a:xfrm>
            <a:off x="548640" y="1143000"/>
            <a:ext cx="2606040" cy="1691640"/>
          </a:xfrm>
          <a:prstGeom prst="rect">
            <a:avLst/>
          </a:prstGeom>
          <a:solidFill>
            <a:srgbClr val="F7F8FA"/>
          </a:solidFill>
          <a:ln w="12700">
            <a:miter lim="400000"/>
          </a:ln>
          <a:effectLst>
            <a:outerShdw sx="100000" sy="100000" kx="0" ky="0" algn="b" rotWithShape="0" blurRad="50800" dist="19050" dir="8100000">
              <a:srgbClr val="000000">
                <a:alpha val="6000"/>
              </a:srgbClr>
            </a:outerShdw>
          </a:effectLst>
        </p:spPr>
        <p:txBody>
          <a:bodyPr lIns="45719" rIns="45719"/>
          <a:lstStyle/>
          <a:p>
            <a:pPr/>
          </a:p>
        </p:txBody>
      </p:sp>
      <p:sp>
        <p:nvSpPr>
          <p:cNvPr id="36" name="Text 5"/>
          <p:cNvSpPr txBox="1"/>
          <p:nvPr/>
        </p:nvSpPr>
        <p:spPr>
          <a:xfrm>
            <a:off x="731519" y="1219199"/>
            <a:ext cx="822962" cy="396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000">
                <a:solidFill>
                  <a:srgbClr val="259DA3"/>
                </a:solidFill>
                <a:latin typeface="+mn-lt"/>
                <a:ea typeface="+mn-ea"/>
                <a:cs typeface="+mn-cs"/>
                <a:sym typeface="Helvetica"/>
              </a:defRPr>
            </a:lvl1pPr>
          </a:lstStyle>
          <a:p>
            <a:pPr/>
            <a:r>
              <a:t>01</a:t>
            </a:r>
          </a:p>
        </p:txBody>
      </p:sp>
      <p:sp>
        <p:nvSpPr>
          <p:cNvPr id="37" name="Text 6"/>
          <p:cNvSpPr txBox="1"/>
          <p:nvPr/>
        </p:nvSpPr>
        <p:spPr>
          <a:xfrm>
            <a:off x="731519" y="1671320"/>
            <a:ext cx="2240282"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2D2D2D"/>
                </a:solidFill>
                <a:latin typeface="+mn-lt"/>
                <a:ea typeface="+mn-ea"/>
                <a:cs typeface="+mn-cs"/>
                <a:sym typeface="Helvetica"/>
              </a:defRPr>
            </a:lvl1pPr>
          </a:lstStyle>
          <a:p>
            <a:pPr/>
            <a:r>
              <a:t>手数料が重すぎる</a:t>
            </a:r>
          </a:p>
        </p:txBody>
      </p:sp>
      <p:sp>
        <p:nvSpPr>
          <p:cNvPr id="38" name="Text 7"/>
          <p:cNvSpPr txBox="1"/>
          <p:nvPr/>
        </p:nvSpPr>
        <p:spPr>
          <a:xfrm>
            <a:off x="731519" y="2052954"/>
            <a:ext cx="2240282" cy="55753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nSpc>
                <a:spcPct val="140000"/>
              </a:lnSpc>
              <a:defRPr sz="1100">
                <a:solidFill>
                  <a:srgbClr val="5F6368"/>
                </a:solidFill>
                <a:latin typeface="+mn-lt"/>
                <a:ea typeface="+mn-ea"/>
                <a:cs typeface="+mn-cs"/>
                <a:sym typeface="Helvetica"/>
              </a:defRPr>
            </a:pPr>
            <a:r>
              <a:t>15〜25%が業界標準。</a:t>
            </a:r>
          </a:p>
          <a:p>
            <a:pPr>
              <a:lnSpc>
                <a:spcPct val="140000"/>
              </a:lnSpc>
              <a:defRPr sz="1100">
                <a:solidFill>
                  <a:srgbClr val="5F6368"/>
                </a:solidFill>
                <a:latin typeface="+mn-lt"/>
                <a:ea typeface="+mn-ea"/>
                <a:cs typeface="+mn-cs"/>
                <a:sym typeface="Helvetica"/>
              </a:defRPr>
            </a:pPr>
            <a:r>
              <a:t>売上の4分の1が消える。</a:t>
            </a:r>
          </a:p>
        </p:txBody>
      </p:sp>
      <p:sp>
        <p:nvSpPr>
          <p:cNvPr id="39" name="Shape 8"/>
          <p:cNvSpPr/>
          <p:nvPr/>
        </p:nvSpPr>
        <p:spPr>
          <a:xfrm>
            <a:off x="3383279" y="1143000"/>
            <a:ext cx="2606041" cy="1691640"/>
          </a:xfrm>
          <a:prstGeom prst="rect">
            <a:avLst/>
          </a:prstGeom>
          <a:solidFill>
            <a:srgbClr val="F7F8FA"/>
          </a:solidFill>
          <a:ln w="12700">
            <a:miter lim="400000"/>
          </a:ln>
          <a:effectLst>
            <a:outerShdw sx="100000" sy="100000" kx="0" ky="0" algn="b" rotWithShape="0" blurRad="50800" dist="19050" dir="8100000">
              <a:srgbClr val="000000">
                <a:alpha val="6000"/>
              </a:srgbClr>
            </a:outerShdw>
          </a:effectLst>
        </p:spPr>
        <p:txBody>
          <a:bodyPr lIns="45719" rIns="45719"/>
          <a:lstStyle/>
          <a:p>
            <a:pPr/>
          </a:p>
        </p:txBody>
      </p:sp>
      <p:sp>
        <p:nvSpPr>
          <p:cNvPr id="40" name="Text 9"/>
          <p:cNvSpPr txBox="1"/>
          <p:nvPr/>
        </p:nvSpPr>
        <p:spPr>
          <a:xfrm>
            <a:off x="3566160" y="1219199"/>
            <a:ext cx="822961" cy="396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000">
                <a:solidFill>
                  <a:srgbClr val="259DA3"/>
                </a:solidFill>
                <a:latin typeface="+mn-lt"/>
                <a:ea typeface="+mn-ea"/>
                <a:cs typeface="+mn-cs"/>
                <a:sym typeface="Helvetica"/>
              </a:defRPr>
            </a:lvl1pPr>
          </a:lstStyle>
          <a:p>
            <a:pPr/>
            <a:r>
              <a:t>02</a:t>
            </a:r>
          </a:p>
        </p:txBody>
      </p:sp>
      <p:sp>
        <p:nvSpPr>
          <p:cNvPr id="41" name="Text 10"/>
          <p:cNvSpPr txBox="1"/>
          <p:nvPr/>
        </p:nvSpPr>
        <p:spPr>
          <a:xfrm>
            <a:off x="3566160" y="1671320"/>
            <a:ext cx="224028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2D2D2D"/>
                </a:solidFill>
                <a:latin typeface="+mn-lt"/>
                <a:ea typeface="+mn-ea"/>
                <a:cs typeface="+mn-cs"/>
                <a:sym typeface="Helvetica"/>
              </a:defRPr>
            </a:lvl1pPr>
          </a:lstStyle>
          <a:p>
            <a:pPr/>
            <a:r>
              <a:t>対応に追われる毎日</a:t>
            </a:r>
          </a:p>
        </p:txBody>
      </p:sp>
      <p:sp>
        <p:nvSpPr>
          <p:cNvPr id="42" name="Text 11"/>
          <p:cNvSpPr txBox="1"/>
          <p:nvPr/>
        </p:nvSpPr>
        <p:spPr>
          <a:xfrm>
            <a:off x="3566160" y="2066289"/>
            <a:ext cx="2240281" cy="53086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nSpc>
                <a:spcPct val="140000"/>
              </a:lnSpc>
              <a:defRPr sz="1100">
                <a:solidFill>
                  <a:srgbClr val="5F6368"/>
                </a:solidFill>
                <a:latin typeface="+mn-lt"/>
                <a:ea typeface="+mn-ea"/>
                <a:cs typeface="+mn-cs"/>
                <a:sym typeface="Helvetica"/>
              </a:defRPr>
            </a:pPr>
            <a:r>
              <a:t>深夜のゲスト連絡、</a:t>
            </a:r>
          </a:p>
          <a:p>
            <a:pPr>
              <a:lnSpc>
                <a:spcPct val="140000"/>
              </a:lnSpc>
              <a:defRPr sz="1100">
                <a:solidFill>
                  <a:srgbClr val="5F6368"/>
                </a:solidFill>
                <a:latin typeface="+mn-lt"/>
                <a:ea typeface="+mn-ea"/>
                <a:cs typeface="+mn-cs"/>
                <a:sym typeface="Helvetica"/>
              </a:defRPr>
            </a:pPr>
            <a:r>
              <a:t>クレーム、チェックイン調整…</a:t>
            </a:r>
          </a:p>
        </p:txBody>
      </p:sp>
      <p:sp>
        <p:nvSpPr>
          <p:cNvPr id="43" name="Shape 12"/>
          <p:cNvSpPr/>
          <p:nvPr/>
        </p:nvSpPr>
        <p:spPr>
          <a:xfrm>
            <a:off x="6217920" y="1143000"/>
            <a:ext cx="2606041" cy="1691640"/>
          </a:xfrm>
          <a:prstGeom prst="rect">
            <a:avLst/>
          </a:prstGeom>
          <a:solidFill>
            <a:srgbClr val="F7F8FA"/>
          </a:solidFill>
          <a:ln w="12700">
            <a:miter lim="400000"/>
          </a:ln>
          <a:effectLst>
            <a:outerShdw sx="100000" sy="100000" kx="0" ky="0" algn="b" rotWithShape="0" blurRad="50800" dist="19050" dir="8100000">
              <a:srgbClr val="000000">
                <a:alpha val="6000"/>
              </a:srgbClr>
            </a:outerShdw>
          </a:effectLst>
        </p:spPr>
        <p:txBody>
          <a:bodyPr lIns="45719" rIns="45719"/>
          <a:lstStyle/>
          <a:p>
            <a:pPr/>
          </a:p>
        </p:txBody>
      </p:sp>
      <p:sp>
        <p:nvSpPr>
          <p:cNvPr id="44" name="Text 13"/>
          <p:cNvSpPr txBox="1"/>
          <p:nvPr/>
        </p:nvSpPr>
        <p:spPr>
          <a:xfrm>
            <a:off x="6400800" y="1219199"/>
            <a:ext cx="822961" cy="396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000">
                <a:solidFill>
                  <a:srgbClr val="259DA3"/>
                </a:solidFill>
                <a:latin typeface="+mn-lt"/>
                <a:ea typeface="+mn-ea"/>
                <a:cs typeface="+mn-cs"/>
                <a:sym typeface="Helvetica"/>
              </a:defRPr>
            </a:lvl1pPr>
          </a:lstStyle>
          <a:p>
            <a:pPr/>
            <a:r>
              <a:t>03</a:t>
            </a:r>
          </a:p>
        </p:txBody>
      </p:sp>
      <p:sp>
        <p:nvSpPr>
          <p:cNvPr id="45" name="Text 14"/>
          <p:cNvSpPr txBox="1"/>
          <p:nvPr/>
        </p:nvSpPr>
        <p:spPr>
          <a:xfrm>
            <a:off x="6400800" y="1652270"/>
            <a:ext cx="224028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2D2D2D"/>
                </a:solidFill>
                <a:latin typeface="+mn-lt"/>
                <a:ea typeface="+mn-ea"/>
                <a:cs typeface="+mn-cs"/>
                <a:sym typeface="Helvetica"/>
              </a:defRPr>
            </a:lvl1pPr>
          </a:lstStyle>
          <a:p>
            <a:pPr/>
            <a:r>
              <a:t>OTAの適性がわからない</a:t>
            </a:r>
          </a:p>
        </p:txBody>
      </p:sp>
      <p:sp>
        <p:nvSpPr>
          <p:cNvPr id="46" name="Text 15"/>
          <p:cNvSpPr txBox="1"/>
          <p:nvPr/>
        </p:nvSpPr>
        <p:spPr>
          <a:xfrm>
            <a:off x="6400800" y="1925319"/>
            <a:ext cx="2240281" cy="8128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nSpc>
                <a:spcPct val="140000"/>
              </a:lnSpc>
              <a:defRPr sz="1100">
                <a:solidFill>
                  <a:srgbClr val="5F6368"/>
                </a:solidFill>
                <a:latin typeface="+mn-lt"/>
                <a:ea typeface="+mn-ea"/>
                <a:cs typeface="+mn-cs"/>
                <a:sym typeface="Helvetica"/>
              </a:defRPr>
            </a:pPr>
            <a:r>
              <a:t>Airbnb・Booking・楽天…</a:t>
            </a:r>
            <a:br/>
            <a:r>
              <a:t>どれがなんの適正なのか。</a:t>
            </a:r>
          </a:p>
          <a:p>
            <a:pPr>
              <a:lnSpc>
                <a:spcPct val="140000"/>
              </a:lnSpc>
              <a:defRPr sz="1100">
                <a:solidFill>
                  <a:srgbClr val="5F6368"/>
                </a:solidFill>
                <a:latin typeface="+mn-lt"/>
                <a:ea typeface="+mn-ea"/>
                <a:cs typeface="+mn-cs"/>
                <a:sym typeface="Helvetica"/>
              </a:defRPr>
            </a:pPr>
            <a:r>
              <a:t>バラバラで最適化できない。</a:t>
            </a:r>
          </a:p>
        </p:txBody>
      </p:sp>
      <p:sp>
        <p:nvSpPr>
          <p:cNvPr id="47" name="Shape 16"/>
          <p:cNvSpPr/>
          <p:nvPr/>
        </p:nvSpPr>
        <p:spPr>
          <a:xfrm>
            <a:off x="548640" y="3017520"/>
            <a:ext cx="2606040" cy="1691641"/>
          </a:xfrm>
          <a:prstGeom prst="rect">
            <a:avLst/>
          </a:prstGeom>
          <a:solidFill>
            <a:srgbClr val="F7F8FA"/>
          </a:solidFill>
          <a:ln w="12700">
            <a:miter lim="400000"/>
          </a:ln>
          <a:effectLst>
            <a:outerShdw sx="100000" sy="100000" kx="0" ky="0" algn="b" rotWithShape="0" blurRad="50800" dist="19050" dir="8100000">
              <a:srgbClr val="000000">
                <a:alpha val="6000"/>
              </a:srgbClr>
            </a:outerShdw>
          </a:effectLst>
        </p:spPr>
        <p:txBody>
          <a:bodyPr lIns="45719" rIns="45719"/>
          <a:lstStyle/>
          <a:p>
            <a:pPr/>
          </a:p>
        </p:txBody>
      </p:sp>
      <p:sp>
        <p:nvSpPr>
          <p:cNvPr id="48" name="Text 17"/>
          <p:cNvSpPr txBox="1"/>
          <p:nvPr/>
        </p:nvSpPr>
        <p:spPr>
          <a:xfrm>
            <a:off x="731519" y="3093720"/>
            <a:ext cx="822962" cy="396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000">
                <a:solidFill>
                  <a:srgbClr val="259DA3"/>
                </a:solidFill>
                <a:latin typeface="+mn-lt"/>
                <a:ea typeface="+mn-ea"/>
                <a:cs typeface="+mn-cs"/>
                <a:sym typeface="Helvetica"/>
              </a:defRPr>
            </a:lvl1pPr>
          </a:lstStyle>
          <a:p>
            <a:pPr/>
            <a:r>
              <a:t>04</a:t>
            </a:r>
          </a:p>
        </p:txBody>
      </p:sp>
      <p:sp>
        <p:nvSpPr>
          <p:cNvPr id="49" name="Text 18"/>
          <p:cNvSpPr txBox="1"/>
          <p:nvPr/>
        </p:nvSpPr>
        <p:spPr>
          <a:xfrm>
            <a:off x="731519" y="3545840"/>
            <a:ext cx="2240282"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2D2D2D"/>
                </a:solidFill>
                <a:latin typeface="+mn-lt"/>
                <a:ea typeface="+mn-ea"/>
                <a:cs typeface="+mn-cs"/>
                <a:sym typeface="Helvetica"/>
              </a:defRPr>
            </a:lvl1pPr>
          </a:lstStyle>
          <a:p>
            <a:pPr/>
            <a:r>
              <a:t>稼働率が安定しない</a:t>
            </a:r>
          </a:p>
        </p:txBody>
      </p:sp>
      <p:sp>
        <p:nvSpPr>
          <p:cNvPr id="50" name="Text 19"/>
          <p:cNvSpPr txBox="1"/>
          <p:nvPr/>
        </p:nvSpPr>
        <p:spPr>
          <a:xfrm>
            <a:off x="731519" y="3950335"/>
            <a:ext cx="2240282" cy="51181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nSpc>
                <a:spcPct val="140000"/>
              </a:lnSpc>
              <a:defRPr sz="1100">
                <a:solidFill>
                  <a:srgbClr val="5F6368"/>
                </a:solidFill>
                <a:latin typeface="+mn-lt"/>
                <a:ea typeface="+mn-ea"/>
                <a:cs typeface="+mn-cs"/>
                <a:sym typeface="Helvetica"/>
              </a:defRPr>
            </a:pPr>
            <a:r>
              <a:t>感覚に頼った価格設定。</a:t>
            </a:r>
          </a:p>
          <a:p>
            <a:pPr>
              <a:lnSpc>
                <a:spcPct val="140000"/>
              </a:lnSpc>
              <a:defRPr sz="1100">
                <a:solidFill>
                  <a:srgbClr val="5F6368"/>
                </a:solidFill>
                <a:latin typeface="+mn-lt"/>
                <a:ea typeface="+mn-ea"/>
                <a:cs typeface="+mn-cs"/>
                <a:sym typeface="Helvetica"/>
              </a:defRPr>
            </a:pPr>
            <a:r>
              <a:t>繁忙期も空室が残る。</a:t>
            </a:r>
          </a:p>
        </p:txBody>
      </p:sp>
      <p:sp>
        <p:nvSpPr>
          <p:cNvPr id="51" name="Shape 20"/>
          <p:cNvSpPr/>
          <p:nvPr/>
        </p:nvSpPr>
        <p:spPr>
          <a:xfrm>
            <a:off x="3383279" y="3017520"/>
            <a:ext cx="2606041" cy="1691641"/>
          </a:xfrm>
          <a:prstGeom prst="rect">
            <a:avLst/>
          </a:prstGeom>
          <a:solidFill>
            <a:srgbClr val="F7F8FA"/>
          </a:solidFill>
          <a:ln w="12700">
            <a:miter lim="400000"/>
          </a:ln>
          <a:effectLst>
            <a:outerShdw sx="100000" sy="100000" kx="0" ky="0" algn="b" rotWithShape="0" blurRad="50800" dist="19050" dir="8100000">
              <a:srgbClr val="000000">
                <a:alpha val="6000"/>
              </a:srgbClr>
            </a:outerShdw>
          </a:effectLst>
        </p:spPr>
        <p:txBody>
          <a:bodyPr lIns="45719" rIns="45719"/>
          <a:lstStyle/>
          <a:p>
            <a:pPr/>
          </a:p>
        </p:txBody>
      </p:sp>
      <p:sp>
        <p:nvSpPr>
          <p:cNvPr id="52" name="Text 21"/>
          <p:cNvSpPr txBox="1"/>
          <p:nvPr/>
        </p:nvSpPr>
        <p:spPr>
          <a:xfrm>
            <a:off x="3566160" y="3093720"/>
            <a:ext cx="822961" cy="396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000">
                <a:solidFill>
                  <a:srgbClr val="259DA3"/>
                </a:solidFill>
                <a:latin typeface="+mn-lt"/>
                <a:ea typeface="+mn-ea"/>
                <a:cs typeface="+mn-cs"/>
                <a:sym typeface="Helvetica"/>
              </a:defRPr>
            </a:lvl1pPr>
          </a:lstStyle>
          <a:p>
            <a:pPr/>
            <a:r>
              <a:t>05</a:t>
            </a:r>
          </a:p>
        </p:txBody>
      </p:sp>
      <p:sp>
        <p:nvSpPr>
          <p:cNvPr id="53" name="Text 22"/>
          <p:cNvSpPr txBox="1"/>
          <p:nvPr/>
        </p:nvSpPr>
        <p:spPr>
          <a:xfrm>
            <a:off x="3566160" y="3545840"/>
            <a:ext cx="224028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2D2D2D"/>
                </a:solidFill>
                <a:latin typeface="+mn-lt"/>
                <a:ea typeface="+mn-ea"/>
                <a:cs typeface="+mn-cs"/>
                <a:sym typeface="Helvetica"/>
              </a:defRPr>
            </a:lvl1pPr>
          </a:lstStyle>
          <a:p>
            <a:pPr/>
            <a:r>
              <a:t>法的リスクが不安</a:t>
            </a:r>
          </a:p>
        </p:txBody>
      </p:sp>
      <p:sp>
        <p:nvSpPr>
          <p:cNvPr id="54" name="Text 23"/>
          <p:cNvSpPr txBox="1"/>
          <p:nvPr/>
        </p:nvSpPr>
        <p:spPr>
          <a:xfrm>
            <a:off x="3566160" y="3950335"/>
            <a:ext cx="2240281" cy="51181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nSpc>
                <a:spcPct val="140000"/>
              </a:lnSpc>
              <a:defRPr sz="1100">
                <a:solidFill>
                  <a:srgbClr val="5F6368"/>
                </a:solidFill>
                <a:latin typeface="+mn-lt"/>
                <a:ea typeface="+mn-ea"/>
                <a:cs typeface="+mn-cs"/>
                <a:sym typeface="Helvetica"/>
              </a:defRPr>
            </a:pPr>
            <a:r>
              <a:t>住宅宿泊事業法の変更、</a:t>
            </a:r>
          </a:p>
          <a:p>
            <a:pPr>
              <a:lnSpc>
                <a:spcPct val="140000"/>
              </a:lnSpc>
              <a:defRPr sz="1100">
                <a:solidFill>
                  <a:srgbClr val="5F6368"/>
                </a:solidFill>
                <a:latin typeface="+mn-lt"/>
                <a:ea typeface="+mn-ea"/>
                <a:cs typeface="+mn-cs"/>
                <a:sym typeface="Helvetica"/>
              </a:defRPr>
            </a:pPr>
            <a:r>
              <a:t>届出対応の煩雑さ。</a:t>
            </a:r>
          </a:p>
        </p:txBody>
      </p:sp>
      <p:sp>
        <p:nvSpPr>
          <p:cNvPr id="55" name="Shape 24"/>
          <p:cNvSpPr/>
          <p:nvPr/>
        </p:nvSpPr>
        <p:spPr>
          <a:xfrm>
            <a:off x="6217920" y="3017520"/>
            <a:ext cx="2606041" cy="1691641"/>
          </a:xfrm>
          <a:prstGeom prst="rect">
            <a:avLst/>
          </a:prstGeom>
          <a:solidFill>
            <a:srgbClr val="F7F8FA"/>
          </a:solidFill>
          <a:ln w="12700">
            <a:miter lim="400000"/>
          </a:ln>
          <a:effectLst>
            <a:outerShdw sx="100000" sy="100000" kx="0" ky="0" algn="b" rotWithShape="0" blurRad="50800" dist="19050" dir="8100000">
              <a:srgbClr val="000000">
                <a:alpha val="6000"/>
              </a:srgbClr>
            </a:outerShdw>
          </a:effectLst>
        </p:spPr>
        <p:txBody>
          <a:bodyPr lIns="45719" rIns="45719"/>
          <a:lstStyle/>
          <a:p>
            <a:pPr/>
          </a:p>
        </p:txBody>
      </p:sp>
      <p:sp>
        <p:nvSpPr>
          <p:cNvPr id="56" name="Text 25"/>
          <p:cNvSpPr txBox="1"/>
          <p:nvPr/>
        </p:nvSpPr>
        <p:spPr>
          <a:xfrm>
            <a:off x="6400800" y="3093720"/>
            <a:ext cx="822961" cy="396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000">
                <a:solidFill>
                  <a:srgbClr val="259DA3"/>
                </a:solidFill>
                <a:latin typeface="+mn-lt"/>
                <a:ea typeface="+mn-ea"/>
                <a:cs typeface="+mn-cs"/>
                <a:sym typeface="Helvetica"/>
              </a:defRPr>
            </a:lvl1pPr>
          </a:lstStyle>
          <a:p>
            <a:pPr/>
            <a:r>
              <a:t>06</a:t>
            </a:r>
          </a:p>
        </p:txBody>
      </p:sp>
      <p:sp>
        <p:nvSpPr>
          <p:cNvPr id="57" name="Text 26"/>
          <p:cNvSpPr txBox="1"/>
          <p:nvPr/>
        </p:nvSpPr>
        <p:spPr>
          <a:xfrm>
            <a:off x="6400800" y="3545840"/>
            <a:ext cx="224028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solidFill>
                  <a:srgbClr val="2D2D2D"/>
                </a:solidFill>
                <a:latin typeface="+mn-lt"/>
                <a:ea typeface="+mn-ea"/>
                <a:cs typeface="+mn-cs"/>
                <a:sym typeface="Helvetica"/>
              </a:defRPr>
            </a:lvl1pPr>
          </a:lstStyle>
          <a:p>
            <a:pPr/>
            <a:r>
              <a:t>運営が属人化する</a:t>
            </a:r>
          </a:p>
        </p:txBody>
      </p:sp>
      <p:sp>
        <p:nvSpPr>
          <p:cNvPr id="58" name="Text 27"/>
          <p:cNvSpPr txBox="1"/>
          <p:nvPr/>
        </p:nvSpPr>
        <p:spPr>
          <a:xfrm>
            <a:off x="6400800" y="3950335"/>
            <a:ext cx="2240281" cy="51181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nSpc>
                <a:spcPct val="140000"/>
              </a:lnSpc>
              <a:defRPr sz="1100">
                <a:solidFill>
                  <a:srgbClr val="5F6368"/>
                </a:solidFill>
                <a:latin typeface="+mn-lt"/>
                <a:ea typeface="+mn-ea"/>
                <a:cs typeface="+mn-cs"/>
                <a:sym typeface="Helvetica"/>
              </a:defRPr>
            </a:pPr>
            <a:r>
              <a:t>担当者が抜けると回らない。</a:t>
            </a:r>
          </a:p>
          <a:p>
            <a:pPr>
              <a:lnSpc>
                <a:spcPct val="140000"/>
              </a:lnSpc>
              <a:defRPr sz="1100">
                <a:solidFill>
                  <a:srgbClr val="5F6368"/>
                </a:solidFill>
                <a:latin typeface="+mn-lt"/>
                <a:ea typeface="+mn-ea"/>
                <a:cs typeface="+mn-cs"/>
                <a:sym typeface="Helvetica"/>
              </a:defRPr>
            </a:pPr>
            <a:r>
              <a:t>仕組み化されていない。</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0" name="Text 0"/>
          <p:cNvSpPr txBox="1"/>
          <p:nvPr/>
        </p:nvSpPr>
        <p:spPr>
          <a:xfrm>
            <a:off x="8092439" y="4828540"/>
            <a:ext cx="548641"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9AA0A6"/>
                </a:solidFill>
                <a:latin typeface="+mn-lt"/>
                <a:ea typeface="+mn-ea"/>
                <a:cs typeface="+mn-cs"/>
                <a:sym typeface="Helvetica"/>
              </a:defRPr>
            </a:lvl1pPr>
          </a:lstStyle>
          <a:p>
            <a:pPr/>
            <a:r>
              <a:t>3 / 9</a:t>
            </a:r>
          </a:p>
        </p:txBody>
      </p:sp>
      <p:sp>
        <p:nvSpPr>
          <p:cNvPr id="61" name="Text 1"/>
          <p:cNvSpPr txBox="1"/>
          <p:nvPr/>
        </p:nvSpPr>
        <p:spPr>
          <a:xfrm>
            <a:off x="502919" y="4828540"/>
            <a:ext cx="2651762"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9AA0A6"/>
                </a:solidFill>
                <a:latin typeface="+mn-lt"/>
                <a:ea typeface="+mn-ea"/>
                <a:cs typeface="+mn-cs"/>
                <a:sym typeface="Helvetica"/>
              </a:defRPr>
            </a:lvl1pPr>
          </a:lstStyle>
          <a:p>
            <a:pPr/>
            <a:r>
              <a:t>SEKAI STAY  |  CONFIDENTIAL</a:t>
            </a:r>
          </a:p>
        </p:txBody>
      </p:sp>
      <p:sp>
        <p:nvSpPr>
          <p:cNvPr id="62" name="Shape 2"/>
          <p:cNvSpPr/>
          <p:nvPr/>
        </p:nvSpPr>
        <p:spPr>
          <a:xfrm>
            <a:off x="548640" y="411480"/>
            <a:ext cx="1097281" cy="1"/>
          </a:xfrm>
          <a:prstGeom prst="line">
            <a:avLst/>
          </a:prstGeom>
          <a:ln w="38100">
            <a:solidFill>
              <a:srgbClr val="259DA3"/>
            </a:solidFill>
          </a:ln>
        </p:spPr>
        <p:txBody>
          <a:bodyPr lIns="45719" rIns="45719"/>
          <a:lstStyle/>
          <a:p>
            <a:pPr/>
          </a:p>
        </p:txBody>
      </p:sp>
      <p:sp>
        <p:nvSpPr>
          <p:cNvPr id="63" name="Text 3"/>
          <p:cNvSpPr txBox="1"/>
          <p:nvPr/>
        </p:nvSpPr>
        <p:spPr>
          <a:xfrm>
            <a:off x="594359" y="505968"/>
            <a:ext cx="7223761" cy="3962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400">
                <a:solidFill>
                  <a:srgbClr val="2D2D2D"/>
                </a:solidFill>
                <a:latin typeface="+mn-lt"/>
                <a:ea typeface="+mn-ea"/>
                <a:cs typeface="+mn-cs"/>
                <a:sym typeface="Helvetica"/>
              </a:defRPr>
            </a:lvl1pPr>
          </a:lstStyle>
          <a:p>
            <a:pPr/>
            <a:r>
              <a:t>なぜ今まで解決できなかったのか</a:t>
            </a:r>
          </a:p>
        </p:txBody>
      </p:sp>
      <p:sp>
        <p:nvSpPr>
          <p:cNvPr id="64" name="Shape 12"/>
          <p:cNvSpPr/>
          <p:nvPr/>
        </p:nvSpPr>
        <p:spPr>
          <a:xfrm>
            <a:off x="658575" y="1153794"/>
            <a:ext cx="7826851" cy="2377441"/>
          </a:xfrm>
          <a:prstGeom prst="rect">
            <a:avLst/>
          </a:prstGeom>
          <a:solidFill>
            <a:srgbClr val="F7F8FA"/>
          </a:solidFill>
          <a:ln w="12700">
            <a:miter lim="400000"/>
          </a:ln>
          <a:effectLst>
            <a:outerShdw sx="100000" sy="100000" kx="0" ky="0" algn="b" rotWithShape="0" blurRad="50800" dist="19050" dir="8100000">
              <a:srgbClr val="000000">
                <a:alpha val="6000"/>
              </a:srgbClr>
            </a:outerShdw>
          </a:effectLst>
        </p:spPr>
        <p:txBody>
          <a:bodyPr lIns="45719" rIns="45719"/>
          <a:lstStyle/>
          <a:p>
            <a:pPr/>
          </a:p>
        </p:txBody>
      </p:sp>
      <p:sp>
        <p:nvSpPr>
          <p:cNvPr id="65" name="Shape 13"/>
          <p:cNvSpPr/>
          <p:nvPr/>
        </p:nvSpPr>
        <p:spPr>
          <a:xfrm>
            <a:off x="658575" y="1153794"/>
            <a:ext cx="7826851" cy="411481"/>
          </a:xfrm>
          <a:prstGeom prst="rect">
            <a:avLst/>
          </a:prstGeom>
          <a:solidFill>
            <a:srgbClr val="5F6368"/>
          </a:solidFill>
          <a:ln w="12700">
            <a:miter lim="400000"/>
          </a:ln>
        </p:spPr>
        <p:txBody>
          <a:bodyPr lIns="45719" rIns="45719"/>
          <a:lstStyle/>
          <a:p>
            <a:pPr/>
          </a:p>
        </p:txBody>
      </p:sp>
      <p:sp>
        <p:nvSpPr>
          <p:cNvPr id="66" name="Text 14"/>
          <p:cNvSpPr txBox="1"/>
          <p:nvPr/>
        </p:nvSpPr>
        <p:spPr>
          <a:xfrm>
            <a:off x="2880360" y="1212214"/>
            <a:ext cx="338328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300">
                <a:solidFill>
                  <a:srgbClr val="FFFFFF"/>
                </a:solidFill>
                <a:latin typeface="+mn-lt"/>
                <a:ea typeface="+mn-ea"/>
                <a:cs typeface="+mn-cs"/>
                <a:sym typeface="Helvetica"/>
              </a:defRPr>
            </a:lvl1pPr>
          </a:lstStyle>
          <a:p>
            <a:pPr/>
            <a:r>
              <a:t>既存 運用代行</a:t>
            </a:r>
          </a:p>
        </p:txBody>
      </p:sp>
      <p:sp>
        <p:nvSpPr>
          <p:cNvPr id="67" name="Text 15"/>
          <p:cNvSpPr txBox="1"/>
          <p:nvPr/>
        </p:nvSpPr>
        <p:spPr>
          <a:xfrm>
            <a:off x="2317996" y="1600454"/>
            <a:ext cx="4508008" cy="64008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lnSpc>
                <a:spcPct val="120000"/>
              </a:lnSpc>
              <a:defRPr b="1" sz="1600">
                <a:solidFill>
                  <a:srgbClr val="2D2D2D"/>
                </a:solidFill>
                <a:latin typeface="+mn-lt"/>
                <a:ea typeface="+mn-ea"/>
                <a:cs typeface="+mn-cs"/>
                <a:sym typeface="Helvetica"/>
              </a:defRPr>
            </a:pPr>
            <a:r>
              <a:t>人力だから高コスト、</a:t>
            </a:r>
          </a:p>
          <a:p>
            <a:pPr algn="ctr">
              <a:lnSpc>
                <a:spcPct val="120000"/>
              </a:lnSpc>
              <a:defRPr b="1" sz="1600">
                <a:solidFill>
                  <a:srgbClr val="2D2D2D"/>
                </a:solidFill>
                <a:latin typeface="+mn-lt"/>
                <a:ea typeface="+mn-ea"/>
                <a:cs typeface="+mn-cs"/>
                <a:sym typeface="Helvetica"/>
              </a:defRPr>
            </a:pPr>
            <a:r>
              <a:t>品質にムラ</a:t>
            </a:r>
          </a:p>
        </p:txBody>
      </p:sp>
      <p:sp>
        <p:nvSpPr>
          <p:cNvPr id="68" name="Text 16"/>
          <p:cNvSpPr txBox="1"/>
          <p:nvPr/>
        </p:nvSpPr>
        <p:spPr>
          <a:xfrm>
            <a:off x="887175" y="2342260"/>
            <a:ext cx="3017521"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C62828"/>
                </a:solidFill>
                <a:latin typeface="+mn-lt"/>
                <a:ea typeface="+mn-ea"/>
                <a:cs typeface="+mn-cs"/>
                <a:sym typeface="Helvetica"/>
              </a:defRPr>
            </a:lvl1pPr>
          </a:lstStyle>
          <a:p>
            <a:pPr/>
            <a:r>
              <a:t>✘  無駄な人件費による手数料の高コスト体質</a:t>
            </a:r>
          </a:p>
        </p:txBody>
      </p:sp>
      <p:sp>
        <p:nvSpPr>
          <p:cNvPr id="69" name="Text 17"/>
          <p:cNvSpPr txBox="1"/>
          <p:nvPr/>
        </p:nvSpPr>
        <p:spPr>
          <a:xfrm>
            <a:off x="887175" y="2616580"/>
            <a:ext cx="3017521"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C62828"/>
                </a:solidFill>
                <a:latin typeface="+mn-lt"/>
                <a:ea typeface="+mn-ea"/>
                <a:cs typeface="+mn-cs"/>
                <a:sym typeface="Helvetica"/>
              </a:defRPr>
            </a:lvl1pPr>
          </a:lstStyle>
          <a:p>
            <a:pPr/>
            <a:r>
              <a:t>✘  担当者の力量で品質が変わる</a:t>
            </a:r>
          </a:p>
        </p:txBody>
      </p:sp>
      <p:sp>
        <p:nvSpPr>
          <p:cNvPr id="70" name="Text 18"/>
          <p:cNvSpPr txBox="1"/>
          <p:nvPr/>
        </p:nvSpPr>
        <p:spPr>
          <a:xfrm>
            <a:off x="887175" y="2890900"/>
            <a:ext cx="3017521"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C62828"/>
                </a:solidFill>
                <a:latin typeface="+mn-lt"/>
                <a:ea typeface="+mn-ea"/>
                <a:cs typeface="+mn-cs"/>
                <a:sym typeface="Helvetica"/>
              </a:defRPr>
            </a:lvl1pPr>
          </a:lstStyle>
          <a:p>
            <a:pPr/>
            <a:r>
              <a:t>✘  レポートが不透明・遅い</a:t>
            </a:r>
          </a:p>
        </p:txBody>
      </p:sp>
      <p:sp>
        <p:nvSpPr>
          <p:cNvPr id="71" name="Text 19"/>
          <p:cNvSpPr txBox="1"/>
          <p:nvPr/>
        </p:nvSpPr>
        <p:spPr>
          <a:xfrm>
            <a:off x="887175" y="3165220"/>
            <a:ext cx="3017521"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C62828"/>
                </a:solidFill>
                <a:latin typeface="+mn-lt"/>
                <a:ea typeface="+mn-ea"/>
                <a:cs typeface="+mn-cs"/>
                <a:sym typeface="Helvetica"/>
              </a:defRPr>
            </a:lvl1pPr>
          </a:lstStyle>
          <a:p>
            <a:pPr/>
            <a:r>
              <a:t>✘  契約縛り・解約手数料あり</a:t>
            </a:r>
          </a:p>
        </p:txBody>
      </p:sp>
      <p:sp>
        <p:nvSpPr>
          <p:cNvPr id="72" name="Shape 23"/>
          <p:cNvSpPr/>
          <p:nvPr/>
        </p:nvSpPr>
        <p:spPr>
          <a:xfrm>
            <a:off x="548640" y="3794759"/>
            <a:ext cx="8046719" cy="914401"/>
          </a:xfrm>
          <a:prstGeom prst="rect">
            <a:avLst/>
          </a:prstGeom>
          <a:solidFill>
            <a:srgbClr val="E5F4F5"/>
          </a:solidFill>
          <a:ln w="12700">
            <a:miter lim="400000"/>
          </a:ln>
        </p:spPr>
        <p:txBody>
          <a:bodyPr lIns="45719" rIns="45719"/>
          <a:lstStyle/>
          <a:p>
            <a:pPr/>
          </a:p>
        </p:txBody>
      </p:sp>
      <p:sp>
        <p:nvSpPr>
          <p:cNvPr id="73" name="Shape 24"/>
          <p:cNvSpPr/>
          <p:nvPr/>
        </p:nvSpPr>
        <p:spPr>
          <a:xfrm>
            <a:off x="548640" y="3794759"/>
            <a:ext cx="8046719" cy="45721"/>
          </a:xfrm>
          <a:prstGeom prst="rect">
            <a:avLst/>
          </a:prstGeom>
          <a:solidFill>
            <a:srgbClr val="259DA3"/>
          </a:solidFill>
          <a:ln w="12700">
            <a:miter lim="400000"/>
          </a:ln>
        </p:spPr>
        <p:txBody>
          <a:bodyPr lIns="45719" rIns="45719"/>
          <a:lstStyle/>
          <a:p>
            <a:pPr/>
          </a:p>
        </p:txBody>
      </p:sp>
      <p:sp>
        <p:nvSpPr>
          <p:cNvPr id="74" name="Text 25"/>
          <p:cNvSpPr txBox="1"/>
          <p:nvPr/>
        </p:nvSpPr>
        <p:spPr>
          <a:xfrm>
            <a:off x="777240" y="3860800"/>
            <a:ext cx="7589520"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a:solidFill>
                  <a:srgbClr val="259DA3"/>
                </a:solidFill>
                <a:latin typeface="+mn-lt"/>
                <a:ea typeface="+mn-ea"/>
                <a:cs typeface="+mn-cs"/>
                <a:sym typeface="Helvetica"/>
              </a:defRPr>
            </a:lvl1pPr>
          </a:lstStyle>
          <a:p>
            <a:pPr/>
            <a:r>
              <a:t>SEKAI STAY = 集客力 × 運用力 × 独自の仕組み</a:t>
            </a:r>
          </a:p>
        </p:txBody>
      </p:sp>
      <p:sp>
        <p:nvSpPr>
          <p:cNvPr id="75" name="Text 26"/>
          <p:cNvSpPr txBox="1"/>
          <p:nvPr/>
        </p:nvSpPr>
        <p:spPr>
          <a:xfrm>
            <a:off x="1417319" y="4254499"/>
            <a:ext cx="630936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solidFill>
                  <a:srgbClr val="5F6368"/>
                </a:solidFill>
                <a:latin typeface="+mn-lt"/>
                <a:ea typeface="+mn-ea"/>
                <a:cs typeface="+mn-cs"/>
                <a:sym typeface="Helvetica"/>
              </a:defRPr>
            </a:lvl1pPr>
          </a:lstStyle>
          <a:p>
            <a:pPr/>
            <a:r>
              <a:t>OTAの集客力と運用代行のフルサポートを、仕組み化によって8%の手数料で実現。</a:t>
            </a:r>
          </a:p>
        </p:txBody>
      </p:sp>
      <p:sp>
        <p:nvSpPr>
          <p:cNvPr id="76" name="Text 16"/>
          <p:cNvSpPr txBox="1"/>
          <p:nvPr/>
        </p:nvSpPr>
        <p:spPr>
          <a:xfrm>
            <a:off x="5101168" y="2296286"/>
            <a:ext cx="3017521"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C62828"/>
                </a:solidFill>
                <a:latin typeface="+mn-lt"/>
                <a:ea typeface="+mn-ea"/>
                <a:cs typeface="+mn-cs"/>
                <a:sym typeface="Helvetica"/>
              </a:defRPr>
            </a:lvl1pPr>
          </a:lstStyle>
          <a:p>
            <a:pPr/>
            <a:r>
              <a:t>✘  手探りによるダイナミックプライシング</a:t>
            </a:r>
          </a:p>
        </p:txBody>
      </p:sp>
      <p:sp>
        <p:nvSpPr>
          <p:cNvPr id="77" name="Text 17"/>
          <p:cNvSpPr txBox="1"/>
          <p:nvPr/>
        </p:nvSpPr>
        <p:spPr>
          <a:xfrm>
            <a:off x="5101168" y="2570606"/>
            <a:ext cx="3017521"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C62828"/>
                </a:solidFill>
                <a:latin typeface="+mn-lt"/>
                <a:ea typeface="+mn-ea"/>
                <a:cs typeface="+mn-cs"/>
                <a:sym typeface="Helvetica"/>
              </a:defRPr>
            </a:lvl1pPr>
          </a:lstStyle>
          <a:p>
            <a:pPr/>
            <a:r>
              <a:t>✘ 深夜対応における人員コストの増加</a:t>
            </a:r>
          </a:p>
        </p:txBody>
      </p:sp>
      <p:sp>
        <p:nvSpPr>
          <p:cNvPr id="78" name="Text 18"/>
          <p:cNvSpPr txBox="1"/>
          <p:nvPr/>
        </p:nvSpPr>
        <p:spPr>
          <a:xfrm>
            <a:off x="5101168" y="2844926"/>
            <a:ext cx="3017521"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C62828"/>
                </a:solidFill>
                <a:latin typeface="+mn-lt"/>
                <a:ea typeface="+mn-ea"/>
                <a:cs typeface="+mn-cs"/>
                <a:sym typeface="Helvetica"/>
              </a:defRPr>
            </a:lvl1pPr>
          </a:lstStyle>
          <a:p>
            <a:pPr/>
            <a:r>
              <a:t>✘  写真のトンマナのバラつき</a:t>
            </a:r>
          </a:p>
        </p:txBody>
      </p:sp>
      <p:sp>
        <p:nvSpPr>
          <p:cNvPr id="79" name="Text 19"/>
          <p:cNvSpPr txBox="1"/>
          <p:nvPr/>
        </p:nvSpPr>
        <p:spPr>
          <a:xfrm>
            <a:off x="5101168" y="3119246"/>
            <a:ext cx="3017521"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C62828"/>
                </a:solidFill>
                <a:latin typeface="+mn-lt"/>
                <a:ea typeface="+mn-ea"/>
                <a:cs typeface="+mn-cs"/>
                <a:sym typeface="Helvetica"/>
              </a:defRPr>
            </a:lvl1pPr>
          </a:lstStyle>
          <a:p>
            <a:pPr/>
            <a:r>
              <a:t>✘ 周辺イベントの見逃し</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1" name="Text 0"/>
          <p:cNvSpPr txBox="1"/>
          <p:nvPr/>
        </p:nvSpPr>
        <p:spPr>
          <a:xfrm>
            <a:off x="457200" y="416560"/>
            <a:ext cx="8229600" cy="3556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2D2D2D"/>
                </a:solidFill>
              </a:defRPr>
            </a:lvl1pPr>
          </a:lstStyle>
          <a:p>
            <a:pPr/>
            <a:r>
              <a:t>稼働率向上ができる理由</a:t>
            </a:r>
          </a:p>
        </p:txBody>
      </p:sp>
      <p:sp>
        <p:nvSpPr>
          <p:cNvPr id="82" name="Text 1"/>
          <p:cNvSpPr txBox="1"/>
          <p:nvPr/>
        </p:nvSpPr>
        <p:spPr>
          <a:xfrm>
            <a:off x="457200" y="923734"/>
            <a:ext cx="8229600" cy="16421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777777"/>
                </a:solidFill>
              </a:defRPr>
            </a:lvl1pPr>
          </a:lstStyle>
          <a:p>
            <a:pPr/>
            <a:r>
              <a:t>3つの独自の仕組みが、空室を収益に変える</a:t>
            </a:r>
          </a:p>
        </p:txBody>
      </p:sp>
      <p:sp>
        <p:nvSpPr>
          <p:cNvPr id="83" name="Shape 2"/>
          <p:cNvSpPr/>
          <p:nvPr/>
        </p:nvSpPr>
        <p:spPr>
          <a:xfrm>
            <a:off x="502919" y="1371600"/>
            <a:ext cx="2606041" cy="3108961"/>
          </a:xfrm>
          <a:prstGeom prst="rect">
            <a:avLst/>
          </a:prstGeom>
          <a:solidFill>
            <a:srgbClr val="F5F5F5"/>
          </a:solidFill>
          <a:ln w="12700">
            <a:miter lim="400000"/>
          </a:ln>
          <a:effectLst>
            <a:outerShdw sx="100000" sy="100000" kx="0" ky="0" algn="b" rotWithShape="0" blurRad="50800" dist="19050" dir="8100000">
              <a:srgbClr val="000000">
                <a:alpha val="8000"/>
              </a:srgbClr>
            </a:outerShdw>
          </a:effectLst>
        </p:spPr>
        <p:txBody>
          <a:bodyPr lIns="45719" rIns="45719"/>
          <a:lstStyle/>
          <a:p>
            <a:pPr/>
          </a:p>
        </p:txBody>
      </p:sp>
      <p:sp>
        <p:nvSpPr>
          <p:cNvPr id="84" name="Shape 3"/>
          <p:cNvSpPr/>
          <p:nvPr/>
        </p:nvSpPr>
        <p:spPr>
          <a:xfrm>
            <a:off x="502919" y="1371600"/>
            <a:ext cx="2606041" cy="54864"/>
          </a:xfrm>
          <a:prstGeom prst="rect">
            <a:avLst/>
          </a:prstGeom>
          <a:solidFill>
            <a:srgbClr val="3B9EA3"/>
          </a:solidFill>
          <a:ln w="12700">
            <a:miter lim="400000"/>
          </a:ln>
        </p:spPr>
        <p:txBody>
          <a:bodyPr lIns="45719" rIns="45719"/>
          <a:lstStyle/>
          <a:p>
            <a:pPr/>
          </a:p>
        </p:txBody>
      </p:sp>
      <p:sp>
        <p:nvSpPr>
          <p:cNvPr id="85" name="Text 4"/>
          <p:cNvSpPr txBox="1"/>
          <p:nvPr/>
        </p:nvSpPr>
        <p:spPr>
          <a:xfrm>
            <a:off x="731519" y="1587108"/>
            <a:ext cx="914401" cy="34622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3B9EA3"/>
                </a:solidFill>
              </a:defRPr>
            </a:lvl1pPr>
          </a:lstStyle>
          <a:p>
            <a:pPr/>
            <a:r>
              <a:t>01</a:t>
            </a:r>
          </a:p>
        </p:txBody>
      </p:sp>
      <p:sp>
        <p:nvSpPr>
          <p:cNvPr id="86" name="Text 5"/>
          <p:cNvSpPr txBox="1"/>
          <p:nvPr/>
        </p:nvSpPr>
        <p:spPr>
          <a:xfrm>
            <a:off x="731519" y="2086609"/>
            <a:ext cx="2148841"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solidFill>
                  <a:srgbClr val="2D2D2D"/>
                </a:solidFill>
              </a:defRPr>
            </a:pPr>
            <a:r>
              <a:t>独自のダイナミック</a:t>
            </a:r>
          </a:p>
          <a:p>
            <a:pPr>
              <a:defRPr b="1" sz="1400">
                <a:solidFill>
                  <a:srgbClr val="2D2D2D"/>
                </a:solidFill>
              </a:defRPr>
            </a:pPr>
            <a:r>
              <a:t>プライシング</a:t>
            </a:r>
          </a:p>
        </p:txBody>
      </p:sp>
      <p:sp>
        <p:nvSpPr>
          <p:cNvPr id="87" name="Shape 6"/>
          <p:cNvSpPr/>
          <p:nvPr/>
        </p:nvSpPr>
        <p:spPr>
          <a:xfrm>
            <a:off x="731519" y="2651760"/>
            <a:ext cx="2148841" cy="1"/>
          </a:xfrm>
          <a:prstGeom prst="line">
            <a:avLst/>
          </a:prstGeom>
          <a:ln>
            <a:solidFill>
              <a:srgbClr val="DDDDDD"/>
            </a:solidFill>
          </a:ln>
        </p:spPr>
        <p:txBody>
          <a:bodyPr lIns="45719" rIns="45719"/>
          <a:lstStyle/>
          <a:p>
            <a:pPr/>
          </a:p>
        </p:txBody>
      </p:sp>
      <p:sp>
        <p:nvSpPr>
          <p:cNvPr id="88" name="Text 7"/>
          <p:cNvSpPr txBox="1"/>
          <p:nvPr/>
        </p:nvSpPr>
        <p:spPr>
          <a:xfrm>
            <a:off x="731519" y="2862580"/>
            <a:ext cx="2148841" cy="8128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30000"/>
              </a:lnSpc>
              <a:defRPr sz="1000">
                <a:solidFill>
                  <a:srgbClr val="777777"/>
                </a:solidFill>
              </a:defRPr>
            </a:pPr>
            <a:r>
              <a:t>需要・競合・季節・イベント情報を</a:t>
            </a:r>
          </a:p>
          <a:p>
            <a:pPr>
              <a:lnSpc>
                <a:spcPct val="130000"/>
              </a:lnSpc>
              <a:defRPr sz="1000">
                <a:solidFill>
                  <a:srgbClr val="777777"/>
                </a:solidFill>
              </a:defRPr>
            </a:pPr>
            <a:r>
              <a:t>もとに毎日価格を自動最適化。</a:t>
            </a:r>
          </a:p>
          <a:p>
            <a:pPr>
              <a:lnSpc>
                <a:spcPct val="130000"/>
              </a:lnSpc>
              <a:defRPr sz="1000">
                <a:solidFill>
                  <a:srgbClr val="777777"/>
                </a:solidFill>
              </a:defRPr>
            </a:pPr>
            <a:r>
              <a:t>感覚ではなくデータで</a:t>
            </a:r>
          </a:p>
          <a:p>
            <a:pPr>
              <a:lnSpc>
                <a:spcPct val="130000"/>
              </a:lnSpc>
              <a:defRPr sz="1000">
                <a:solidFill>
                  <a:srgbClr val="777777"/>
                </a:solidFill>
              </a:defRPr>
            </a:pPr>
            <a:r>
              <a:t>稼働率と単価を両立させます。</a:t>
            </a:r>
          </a:p>
        </p:txBody>
      </p:sp>
      <p:sp>
        <p:nvSpPr>
          <p:cNvPr id="89" name="Shape 8"/>
          <p:cNvSpPr/>
          <p:nvPr/>
        </p:nvSpPr>
        <p:spPr>
          <a:xfrm>
            <a:off x="502919" y="3840479"/>
            <a:ext cx="2606041" cy="640081"/>
          </a:xfrm>
          <a:prstGeom prst="rect">
            <a:avLst/>
          </a:prstGeom>
          <a:solidFill>
            <a:srgbClr val="E8F4F5"/>
          </a:solidFill>
          <a:ln w="12700">
            <a:miter lim="400000"/>
          </a:ln>
        </p:spPr>
        <p:txBody>
          <a:bodyPr lIns="45719" rIns="45719"/>
          <a:lstStyle/>
          <a:p>
            <a:pPr/>
          </a:p>
        </p:txBody>
      </p:sp>
      <p:sp>
        <p:nvSpPr>
          <p:cNvPr id="90" name="Text 9"/>
          <p:cNvSpPr txBox="1"/>
          <p:nvPr/>
        </p:nvSpPr>
        <p:spPr>
          <a:xfrm>
            <a:off x="502919" y="3880964"/>
            <a:ext cx="2606041" cy="29393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3B9EA3"/>
                </a:solidFill>
              </a:defRPr>
            </a:lvl1pPr>
          </a:lstStyle>
          <a:p>
            <a:pPr/>
            <a:r>
              <a:t>+42%</a:t>
            </a:r>
          </a:p>
        </p:txBody>
      </p:sp>
      <p:sp>
        <p:nvSpPr>
          <p:cNvPr id="91" name="Text 10"/>
          <p:cNvSpPr txBox="1"/>
          <p:nvPr/>
        </p:nvSpPr>
        <p:spPr>
          <a:xfrm>
            <a:off x="502919" y="4238752"/>
            <a:ext cx="26060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2D8A8F"/>
                </a:solidFill>
              </a:defRPr>
            </a:lvl1pPr>
          </a:lstStyle>
          <a:p>
            <a:pPr/>
            <a:r>
              <a:t>平均収益向上</a:t>
            </a:r>
          </a:p>
        </p:txBody>
      </p:sp>
      <p:sp>
        <p:nvSpPr>
          <p:cNvPr id="92" name="Shape 11"/>
          <p:cNvSpPr/>
          <p:nvPr/>
        </p:nvSpPr>
        <p:spPr>
          <a:xfrm>
            <a:off x="3383279" y="1371600"/>
            <a:ext cx="2606041" cy="3108961"/>
          </a:xfrm>
          <a:prstGeom prst="rect">
            <a:avLst/>
          </a:prstGeom>
          <a:solidFill>
            <a:srgbClr val="F5F5F5"/>
          </a:solidFill>
          <a:ln w="12700">
            <a:miter lim="400000"/>
          </a:ln>
          <a:effectLst>
            <a:outerShdw sx="100000" sy="100000" kx="0" ky="0" algn="b" rotWithShape="0" blurRad="50800" dist="19050" dir="8100000">
              <a:srgbClr val="000000">
                <a:alpha val="8000"/>
              </a:srgbClr>
            </a:outerShdw>
          </a:effectLst>
        </p:spPr>
        <p:txBody>
          <a:bodyPr lIns="45719" rIns="45719"/>
          <a:lstStyle/>
          <a:p>
            <a:pPr/>
          </a:p>
        </p:txBody>
      </p:sp>
      <p:sp>
        <p:nvSpPr>
          <p:cNvPr id="93" name="Shape 12"/>
          <p:cNvSpPr/>
          <p:nvPr/>
        </p:nvSpPr>
        <p:spPr>
          <a:xfrm>
            <a:off x="3383279" y="1371600"/>
            <a:ext cx="2606041" cy="54864"/>
          </a:xfrm>
          <a:prstGeom prst="rect">
            <a:avLst/>
          </a:prstGeom>
          <a:solidFill>
            <a:srgbClr val="3B9EA3"/>
          </a:solidFill>
          <a:ln w="12700">
            <a:miter lim="400000"/>
          </a:ln>
        </p:spPr>
        <p:txBody>
          <a:bodyPr lIns="45719" rIns="45719"/>
          <a:lstStyle/>
          <a:p>
            <a:pPr/>
          </a:p>
        </p:txBody>
      </p:sp>
      <p:sp>
        <p:nvSpPr>
          <p:cNvPr id="94" name="Text 13"/>
          <p:cNvSpPr txBox="1"/>
          <p:nvPr/>
        </p:nvSpPr>
        <p:spPr>
          <a:xfrm>
            <a:off x="3611879" y="1587108"/>
            <a:ext cx="914401" cy="34622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3B9EA3"/>
                </a:solidFill>
              </a:defRPr>
            </a:lvl1pPr>
          </a:lstStyle>
          <a:p>
            <a:pPr/>
            <a:r>
              <a:t>02</a:t>
            </a:r>
          </a:p>
        </p:txBody>
      </p:sp>
      <p:sp>
        <p:nvSpPr>
          <p:cNvPr id="95" name="Text 14"/>
          <p:cNvSpPr txBox="1"/>
          <p:nvPr/>
        </p:nvSpPr>
        <p:spPr>
          <a:xfrm>
            <a:off x="3611879" y="2086609"/>
            <a:ext cx="2148841"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solidFill>
                  <a:srgbClr val="2D2D2D"/>
                </a:solidFill>
              </a:defRPr>
            </a:pPr>
            <a:r>
              <a:t>写真のトーン＆</a:t>
            </a:r>
          </a:p>
          <a:p>
            <a:pPr>
              <a:defRPr b="1" sz="1400">
                <a:solidFill>
                  <a:srgbClr val="2D2D2D"/>
                </a:solidFill>
              </a:defRPr>
            </a:pPr>
            <a:r>
              <a:t>マナー統一</a:t>
            </a:r>
          </a:p>
        </p:txBody>
      </p:sp>
      <p:sp>
        <p:nvSpPr>
          <p:cNvPr id="96" name="Shape 15"/>
          <p:cNvSpPr/>
          <p:nvPr/>
        </p:nvSpPr>
        <p:spPr>
          <a:xfrm>
            <a:off x="3611879" y="2651760"/>
            <a:ext cx="2148841" cy="1"/>
          </a:xfrm>
          <a:prstGeom prst="line">
            <a:avLst/>
          </a:prstGeom>
          <a:ln>
            <a:solidFill>
              <a:srgbClr val="DDDDDD"/>
            </a:solidFill>
          </a:ln>
        </p:spPr>
        <p:txBody>
          <a:bodyPr lIns="45719" rIns="45719"/>
          <a:lstStyle/>
          <a:p>
            <a:pPr/>
          </a:p>
        </p:txBody>
      </p:sp>
      <p:sp>
        <p:nvSpPr>
          <p:cNvPr id="97" name="Text 16"/>
          <p:cNvSpPr txBox="1"/>
          <p:nvPr/>
        </p:nvSpPr>
        <p:spPr>
          <a:xfrm>
            <a:off x="3611879" y="2851848"/>
            <a:ext cx="2279440" cy="83426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30000"/>
              </a:lnSpc>
              <a:defRPr sz="1000">
                <a:solidFill>
                  <a:srgbClr val="777777"/>
                </a:solidFill>
              </a:defRPr>
            </a:pPr>
            <a:r>
              <a:t>独自の加工技術で、誰が撮影しても</a:t>
            </a:r>
          </a:p>
          <a:p>
            <a:pPr>
              <a:lnSpc>
                <a:spcPct val="130000"/>
              </a:lnSpc>
              <a:defRPr sz="1000">
                <a:solidFill>
                  <a:srgbClr val="777777"/>
                </a:solidFill>
              </a:defRPr>
            </a:pPr>
            <a:r>
              <a:t>統一されたブランド品質に仕上げます。</a:t>
            </a:r>
          </a:p>
          <a:p>
            <a:pPr>
              <a:lnSpc>
                <a:spcPct val="130000"/>
              </a:lnSpc>
              <a:defRPr sz="1000">
                <a:solidFill>
                  <a:srgbClr val="777777"/>
                </a:solidFill>
              </a:defRPr>
            </a:pPr>
            <a:r>
              <a:t>OTA掲載写真のクリック率が</a:t>
            </a:r>
          </a:p>
          <a:p>
            <a:pPr>
              <a:lnSpc>
                <a:spcPct val="130000"/>
              </a:lnSpc>
              <a:defRPr sz="1000">
                <a:solidFill>
                  <a:srgbClr val="777777"/>
                </a:solidFill>
              </a:defRPr>
            </a:pPr>
            <a:r>
              <a:t>大幅に向上します。</a:t>
            </a:r>
          </a:p>
        </p:txBody>
      </p:sp>
      <p:sp>
        <p:nvSpPr>
          <p:cNvPr id="98" name="Shape 17"/>
          <p:cNvSpPr/>
          <p:nvPr/>
        </p:nvSpPr>
        <p:spPr>
          <a:xfrm>
            <a:off x="3383279" y="3840479"/>
            <a:ext cx="2606041" cy="640081"/>
          </a:xfrm>
          <a:prstGeom prst="rect">
            <a:avLst/>
          </a:prstGeom>
          <a:solidFill>
            <a:srgbClr val="E8F4F5"/>
          </a:solidFill>
          <a:ln w="12700">
            <a:miter lim="400000"/>
          </a:ln>
        </p:spPr>
        <p:txBody>
          <a:bodyPr lIns="45719" rIns="45719"/>
          <a:lstStyle/>
          <a:p>
            <a:pPr/>
          </a:p>
        </p:txBody>
      </p:sp>
      <p:sp>
        <p:nvSpPr>
          <p:cNvPr id="99" name="Text 18"/>
          <p:cNvSpPr txBox="1"/>
          <p:nvPr/>
        </p:nvSpPr>
        <p:spPr>
          <a:xfrm>
            <a:off x="3383279" y="3880964"/>
            <a:ext cx="2606041" cy="29393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3B9EA3"/>
                </a:solidFill>
              </a:defRPr>
            </a:lvl1pPr>
          </a:lstStyle>
          <a:p>
            <a:pPr/>
            <a:r>
              <a:t>+35%</a:t>
            </a:r>
          </a:p>
        </p:txBody>
      </p:sp>
      <p:sp>
        <p:nvSpPr>
          <p:cNvPr id="100" name="Text 19"/>
          <p:cNvSpPr txBox="1"/>
          <p:nvPr/>
        </p:nvSpPr>
        <p:spPr>
          <a:xfrm>
            <a:off x="3383279" y="4234497"/>
            <a:ext cx="2606041" cy="1355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2D8A8F"/>
                </a:solidFill>
              </a:defRPr>
            </a:lvl1pPr>
          </a:lstStyle>
          <a:p>
            <a:pPr/>
            <a:r>
              <a:t>クリック率UP</a:t>
            </a:r>
          </a:p>
        </p:txBody>
      </p:sp>
      <p:sp>
        <p:nvSpPr>
          <p:cNvPr id="101" name="Shape 20"/>
          <p:cNvSpPr/>
          <p:nvPr/>
        </p:nvSpPr>
        <p:spPr>
          <a:xfrm>
            <a:off x="6263640" y="1371600"/>
            <a:ext cx="2606041" cy="3108961"/>
          </a:xfrm>
          <a:prstGeom prst="rect">
            <a:avLst/>
          </a:prstGeom>
          <a:solidFill>
            <a:srgbClr val="F5F5F5"/>
          </a:solidFill>
          <a:ln w="12700">
            <a:miter lim="400000"/>
          </a:ln>
          <a:effectLst>
            <a:outerShdw sx="100000" sy="100000" kx="0" ky="0" algn="b" rotWithShape="0" blurRad="50800" dist="19050" dir="8100000">
              <a:srgbClr val="000000">
                <a:alpha val="8000"/>
              </a:srgbClr>
            </a:outerShdw>
          </a:effectLst>
        </p:spPr>
        <p:txBody>
          <a:bodyPr lIns="45719" rIns="45719"/>
          <a:lstStyle/>
          <a:p>
            <a:pPr/>
          </a:p>
        </p:txBody>
      </p:sp>
      <p:sp>
        <p:nvSpPr>
          <p:cNvPr id="102" name="Shape 21"/>
          <p:cNvSpPr/>
          <p:nvPr/>
        </p:nvSpPr>
        <p:spPr>
          <a:xfrm>
            <a:off x="6263640" y="1371600"/>
            <a:ext cx="2606041" cy="54864"/>
          </a:xfrm>
          <a:prstGeom prst="rect">
            <a:avLst/>
          </a:prstGeom>
          <a:solidFill>
            <a:srgbClr val="3B9EA3"/>
          </a:solidFill>
          <a:ln w="12700">
            <a:miter lim="400000"/>
          </a:ln>
        </p:spPr>
        <p:txBody>
          <a:bodyPr lIns="45719" rIns="45719"/>
          <a:lstStyle/>
          <a:p>
            <a:pPr/>
          </a:p>
        </p:txBody>
      </p:sp>
      <p:sp>
        <p:nvSpPr>
          <p:cNvPr id="103" name="Text 22"/>
          <p:cNvSpPr txBox="1"/>
          <p:nvPr/>
        </p:nvSpPr>
        <p:spPr>
          <a:xfrm>
            <a:off x="6492240" y="1587108"/>
            <a:ext cx="914401" cy="34622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600">
                <a:solidFill>
                  <a:srgbClr val="3B9EA3"/>
                </a:solidFill>
              </a:defRPr>
            </a:lvl1pPr>
          </a:lstStyle>
          <a:p>
            <a:pPr/>
            <a:r>
              <a:t>03</a:t>
            </a:r>
          </a:p>
        </p:txBody>
      </p:sp>
      <p:sp>
        <p:nvSpPr>
          <p:cNvPr id="104" name="Text 23"/>
          <p:cNvSpPr txBox="1"/>
          <p:nvPr/>
        </p:nvSpPr>
        <p:spPr>
          <a:xfrm>
            <a:off x="6492240" y="2063495"/>
            <a:ext cx="2148841" cy="49072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400">
                <a:solidFill>
                  <a:srgbClr val="2D2D2D"/>
                </a:solidFill>
              </a:defRPr>
            </a:pPr>
            <a:r>
              <a:t>全OTA一元管理</a:t>
            </a:r>
          </a:p>
          <a:p>
            <a:pPr>
              <a:defRPr b="1" sz="1400">
                <a:solidFill>
                  <a:srgbClr val="2D2D2D"/>
                </a:solidFill>
              </a:defRPr>
            </a:pPr>
            <a:r>
              <a:t>× 掲載最適化</a:t>
            </a:r>
          </a:p>
        </p:txBody>
      </p:sp>
      <p:sp>
        <p:nvSpPr>
          <p:cNvPr id="105" name="Shape 24"/>
          <p:cNvSpPr/>
          <p:nvPr/>
        </p:nvSpPr>
        <p:spPr>
          <a:xfrm>
            <a:off x="6492240" y="2651760"/>
            <a:ext cx="2148841" cy="1"/>
          </a:xfrm>
          <a:prstGeom prst="line">
            <a:avLst/>
          </a:prstGeom>
          <a:ln>
            <a:solidFill>
              <a:srgbClr val="DDDDDD"/>
            </a:solidFill>
          </a:ln>
        </p:spPr>
        <p:txBody>
          <a:bodyPr lIns="45719" rIns="45719"/>
          <a:lstStyle/>
          <a:p>
            <a:pPr/>
          </a:p>
        </p:txBody>
      </p:sp>
      <p:sp>
        <p:nvSpPr>
          <p:cNvPr id="106" name="Text 25"/>
          <p:cNvSpPr txBox="1"/>
          <p:nvPr/>
        </p:nvSpPr>
        <p:spPr>
          <a:xfrm>
            <a:off x="6492240" y="2841117"/>
            <a:ext cx="2148841" cy="85572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30000"/>
              </a:lnSpc>
              <a:defRPr sz="1000">
                <a:solidFill>
                  <a:srgbClr val="777777"/>
                </a:solidFill>
              </a:defRPr>
            </a:pPr>
            <a:r>
              <a:t>Airbnb・Booking.com・楽天トラベル</a:t>
            </a:r>
          </a:p>
          <a:p>
            <a:pPr>
              <a:lnSpc>
                <a:spcPct val="130000"/>
              </a:lnSpc>
              <a:defRPr sz="1000">
                <a:solidFill>
                  <a:srgbClr val="777777"/>
                </a:solidFill>
              </a:defRPr>
            </a:pPr>
            <a:r>
              <a:t>など主要OTAに同時掲載。</a:t>
            </a:r>
          </a:p>
          <a:p>
            <a:pPr>
              <a:lnSpc>
                <a:spcPct val="130000"/>
              </a:lnSpc>
              <a:defRPr sz="1000">
                <a:solidFill>
                  <a:srgbClr val="777777"/>
                </a:solidFill>
              </a:defRPr>
            </a:pPr>
            <a:r>
              <a:t>タイトル・説明文・カレンダーを</a:t>
            </a:r>
          </a:p>
          <a:p>
            <a:pPr>
              <a:lnSpc>
                <a:spcPct val="130000"/>
              </a:lnSpc>
              <a:defRPr sz="1000">
                <a:solidFill>
                  <a:srgbClr val="777777"/>
                </a:solidFill>
              </a:defRPr>
            </a:pPr>
            <a:r>
              <a:t>個別に最適化します。</a:t>
            </a:r>
          </a:p>
        </p:txBody>
      </p:sp>
      <p:sp>
        <p:nvSpPr>
          <p:cNvPr id="107" name="Shape 26"/>
          <p:cNvSpPr/>
          <p:nvPr/>
        </p:nvSpPr>
        <p:spPr>
          <a:xfrm>
            <a:off x="6263640" y="3840479"/>
            <a:ext cx="2606041" cy="640081"/>
          </a:xfrm>
          <a:prstGeom prst="rect">
            <a:avLst/>
          </a:prstGeom>
          <a:solidFill>
            <a:srgbClr val="E8F4F5"/>
          </a:solidFill>
          <a:ln w="12700">
            <a:miter lim="400000"/>
          </a:ln>
        </p:spPr>
        <p:txBody>
          <a:bodyPr lIns="45719" rIns="45719"/>
          <a:lstStyle/>
          <a:p>
            <a:pPr/>
          </a:p>
        </p:txBody>
      </p:sp>
      <p:sp>
        <p:nvSpPr>
          <p:cNvPr id="108" name="Text 27"/>
          <p:cNvSpPr txBox="1"/>
          <p:nvPr/>
        </p:nvSpPr>
        <p:spPr>
          <a:xfrm>
            <a:off x="6263640" y="3880964"/>
            <a:ext cx="2606041" cy="29393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3B9EA3"/>
                </a:solidFill>
              </a:defRPr>
            </a:lvl1pPr>
          </a:lstStyle>
          <a:p>
            <a:pPr/>
            <a:r>
              <a:t>5+</a:t>
            </a:r>
          </a:p>
        </p:txBody>
      </p:sp>
      <p:sp>
        <p:nvSpPr>
          <p:cNvPr id="109" name="Text 28"/>
          <p:cNvSpPr txBox="1"/>
          <p:nvPr/>
        </p:nvSpPr>
        <p:spPr>
          <a:xfrm>
            <a:off x="6263640" y="4234497"/>
            <a:ext cx="2606041" cy="1355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900">
                <a:solidFill>
                  <a:srgbClr val="2D8A8F"/>
                </a:solidFill>
              </a:defRPr>
            </a:lvl1pPr>
          </a:lstStyle>
          <a:p>
            <a:pPr/>
            <a:r>
              <a:t>OTA同時掲載</a:t>
            </a:r>
          </a:p>
        </p:txBody>
      </p:sp>
      <p:sp>
        <p:nvSpPr>
          <p:cNvPr id="110" name="Text 29"/>
          <p:cNvSpPr txBox="1"/>
          <p:nvPr/>
        </p:nvSpPr>
        <p:spPr>
          <a:xfrm>
            <a:off x="365759" y="4851399"/>
            <a:ext cx="36576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700">
                <a:solidFill>
                  <a:srgbClr val="AAAAAA"/>
                </a:solidFill>
              </a:defRPr>
            </a:lvl1pPr>
          </a:lstStyle>
          <a:p>
            <a:pPr/>
            <a:r>
              <a:t>SEKAI STAY  |  CONFIDENTIAL</a:t>
            </a:r>
          </a:p>
        </p:txBody>
      </p:sp>
      <p:sp>
        <p:nvSpPr>
          <p:cNvPr id="111" name="Text 30"/>
          <p:cNvSpPr txBox="1"/>
          <p:nvPr/>
        </p:nvSpPr>
        <p:spPr>
          <a:xfrm>
            <a:off x="7772400" y="4851399"/>
            <a:ext cx="9144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700">
                <a:solidFill>
                  <a:srgbClr val="AAAAAA"/>
                </a:solidFill>
              </a:defRPr>
            </a:lvl1pPr>
          </a:lstStyle>
          <a:p>
            <a:pPr/>
            <a:r>
              <a:t>15 / 4</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3" name="Text 0"/>
          <p:cNvSpPr txBox="1"/>
          <p:nvPr/>
        </p:nvSpPr>
        <p:spPr>
          <a:xfrm>
            <a:off x="8092439" y="4828540"/>
            <a:ext cx="548641"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9AA0A6"/>
                </a:solidFill>
                <a:latin typeface="+mn-lt"/>
                <a:ea typeface="+mn-ea"/>
                <a:cs typeface="+mn-cs"/>
                <a:sym typeface="Helvetica"/>
              </a:defRPr>
            </a:lvl1pPr>
          </a:lstStyle>
          <a:p>
            <a:pPr/>
            <a:r>
              <a:t>4 / 9</a:t>
            </a:r>
          </a:p>
        </p:txBody>
      </p:sp>
      <p:sp>
        <p:nvSpPr>
          <p:cNvPr id="114" name="Text 1"/>
          <p:cNvSpPr txBox="1"/>
          <p:nvPr/>
        </p:nvSpPr>
        <p:spPr>
          <a:xfrm>
            <a:off x="502919" y="4828540"/>
            <a:ext cx="2651762"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9AA0A6"/>
                </a:solidFill>
                <a:latin typeface="+mn-lt"/>
                <a:ea typeface="+mn-ea"/>
                <a:cs typeface="+mn-cs"/>
                <a:sym typeface="Helvetica"/>
              </a:defRPr>
            </a:lvl1pPr>
          </a:lstStyle>
          <a:p>
            <a:pPr/>
            <a:r>
              <a:t>SEKAI STAY  |  CONFIDENTIAL</a:t>
            </a:r>
          </a:p>
        </p:txBody>
      </p:sp>
      <p:sp>
        <p:nvSpPr>
          <p:cNvPr id="115" name="Shape 2"/>
          <p:cNvSpPr/>
          <p:nvPr/>
        </p:nvSpPr>
        <p:spPr>
          <a:xfrm>
            <a:off x="548640" y="411480"/>
            <a:ext cx="1097281" cy="1"/>
          </a:xfrm>
          <a:prstGeom prst="line">
            <a:avLst/>
          </a:prstGeom>
          <a:ln w="38100">
            <a:solidFill>
              <a:srgbClr val="259DA3"/>
            </a:solidFill>
          </a:ln>
        </p:spPr>
        <p:txBody>
          <a:bodyPr lIns="45719" rIns="45719"/>
          <a:lstStyle/>
          <a:p>
            <a:pPr/>
          </a:p>
        </p:txBody>
      </p:sp>
      <p:sp>
        <p:nvSpPr>
          <p:cNvPr id="116" name="Text 3"/>
          <p:cNvSpPr txBox="1"/>
          <p:nvPr/>
        </p:nvSpPr>
        <p:spPr>
          <a:xfrm>
            <a:off x="594359" y="474217"/>
            <a:ext cx="7223761" cy="459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400">
                <a:solidFill>
                  <a:srgbClr val="2D2D2D"/>
                </a:solidFill>
                <a:latin typeface="+mn-lt"/>
                <a:ea typeface="+mn-ea"/>
                <a:cs typeface="+mn-cs"/>
                <a:sym typeface="Helvetica"/>
              </a:defRPr>
            </a:lvl1pPr>
          </a:lstStyle>
          <a:p>
            <a:pPr/>
            <a:r>
              <a:t>SEKAI STAY が提供する世界</a:t>
            </a:r>
          </a:p>
        </p:txBody>
      </p:sp>
      <p:sp>
        <p:nvSpPr>
          <p:cNvPr id="117" name="Shape 4"/>
          <p:cNvSpPr/>
          <p:nvPr/>
        </p:nvSpPr>
        <p:spPr>
          <a:xfrm>
            <a:off x="548640" y="1097280"/>
            <a:ext cx="3840480" cy="3474721"/>
          </a:xfrm>
          <a:prstGeom prst="rect">
            <a:avLst/>
          </a:prstGeom>
          <a:solidFill>
            <a:srgbClr val="F7F8FA"/>
          </a:solidFill>
          <a:ln w="12700">
            <a:miter lim="400000"/>
          </a:ln>
          <a:effectLst>
            <a:outerShdw sx="100000" sy="100000" kx="0" ky="0" algn="b" rotWithShape="0" blurRad="50800" dist="19050" dir="8100000">
              <a:srgbClr val="000000">
                <a:alpha val="6000"/>
              </a:srgbClr>
            </a:outerShdw>
          </a:effectLst>
        </p:spPr>
        <p:txBody>
          <a:bodyPr lIns="45719" rIns="45719"/>
          <a:lstStyle/>
          <a:p>
            <a:pPr/>
          </a:p>
        </p:txBody>
      </p:sp>
      <p:sp>
        <p:nvSpPr>
          <p:cNvPr id="118" name="Shape 5"/>
          <p:cNvSpPr/>
          <p:nvPr/>
        </p:nvSpPr>
        <p:spPr>
          <a:xfrm>
            <a:off x="548640" y="1097280"/>
            <a:ext cx="3840480" cy="411481"/>
          </a:xfrm>
          <a:prstGeom prst="rect">
            <a:avLst/>
          </a:prstGeom>
          <a:solidFill>
            <a:srgbClr val="C62828"/>
          </a:solidFill>
          <a:ln w="12700">
            <a:miter lim="400000"/>
          </a:ln>
        </p:spPr>
        <p:txBody>
          <a:bodyPr lIns="45719" rIns="45719"/>
          <a:lstStyle/>
          <a:p>
            <a:pPr/>
          </a:p>
        </p:txBody>
      </p:sp>
      <p:sp>
        <p:nvSpPr>
          <p:cNvPr id="119" name="Text 6"/>
          <p:cNvSpPr txBox="1"/>
          <p:nvPr/>
        </p:nvSpPr>
        <p:spPr>
          <a:xfrm>
            <a:off x="594360" y="1149349"/>
            <a:ext cx="374904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400">
                <a:solidFill>
                  <a:srgbClr val="FFFFFF"/>
                </a:solidFill>
                <a:latin typeface="+mn-lt"/>
                <a:ea typeface="+mn-ea"/>
                <a:cs typeface="+mn-cs"/>
                <a:sym typeface="Helvetica"/>
              </a:defRPr>
            </a:lvl1pPr>
          </a:lstStyle>
          <a:p>
            <a:pPr/>
            <a:r>
              <a:t>Before ─ 導入前</a:t>
            </a:r>
          </a:p>
        </p:txBody>
      </p:sp>
      <p:sp>
        <p:nvSpPr>
          <p:cNvPr id="120" name="Shape 7"/>
          <p:cNvSpPr/>
          <p:nvPr/>
        </p:nvSpPr>
        <p:spPr>
          <a:xfrm>
            <a:off x="731519" y="1645920"/>
            <a:ext cx="3474722" cy="384049"/>
          </a:xfrm>
          <a:prstGeom prst="rect">
            <a:avLst/>
          </a:prstGeom>
          <a:solidFill>
            <a:srgbClr val="FFFFFF"/>
          </a:solidFill>
          <a:ln w="12700">
            <a:miter lim="400000"/>
          </a:ln>
        </p:spPr>
        <p:txBody>
          <a:bodyPr lIns="45719" rIns="45719"/>
          <a:lstStyle/>
          <a:p>
            <a:pPr/>
          </a:p>
        </p:txBody>
      </p:sp>
      <p:sp>
        <p:nvSpPr>
          <p:cNvPr id="121" name="Text 8"/>
          <p:cNvSpPr txBox="1"/>
          <p:nvPr/>
        </p:nvSpPr>
        <p:spPr>
          <a:xfrm>
            <a:off x="868680" y="1719199"/>
            <a:ext cx="1005841" cy="23749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100">
                <a:solidFill>
                  <a:srgbClr val="2D2D2D"/>
                </a:solidFill>
                <a:latin typeface="+mn-lt"/>
                <a:ea typeface="+mn-ea"/>
                <a:cs typeface="+mn-cs"/>
                <a:sym typeface="Helvetica"/>
              </a:defRPr>
            </a:lvl1pPr>
          </a:lstStyle>
          <a:p>
            <a:pPr/>
            <a:r>
              <a:t>手数料</a:t>
            </a:r>
          </a:p>
        </p:txBody>
      </p:sp>
      <p:sp>
        <p:nvSpPr>
          <p:cNvPr id="122" name="Text 9"/>
          <p:cNvSpPr txBox="1"/>
          <p:nvPr/>
        </p:nvSpPr>
        <p:spPr>
          <a:xfrm>
            <a:off x="1965959" y="1601724"/>
            <a:ext cx="2103121"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100">
                <a:solidFill>
                  <a:srgbClr val="C62828"/>
                </a:solidFill>
                <a:latin typeface="+mn-lt"/>
                <a:ea typeface="+mn-ea"/>
                <a:cs typeface="+mn-cs"/>
                <a:sym typeface="Helvetica"/>
              </a:defRPr>
            </a:pPr>
            <a:r>
              <a:t>15〜25%＋物件管理費が</a:t>
            </a:r>
          </a:p>
          <a:p>
            <a:pPr>
              <a:defRPr sz="1100">
                <a:solidFill>
                  <a:srgbClr val="C62828"/>
                </a:solidFill>
                <a:latin typeface="+mn-lt"/>
                <a:ea typeface="+mn-ea"/>
                <a:cs typeface="+mn-cs"/>
                <a:sym typeface="Helvetica"/>
              </a:defRPr>
            </a:pPr>
            <a:r>
              <a:t>利益を圧迫</a:t>
            </a:r>
          </a:p>
        </p:txBody>
      </p:sp>
      <p:sp>
        <p:nvSpPr>
          <p:cNvPr id="123" name="Shape 10"/>
          <p:cNvSpPr/>
          <p:nvPr/>
        </p:nvSpPr>
        <p:spPr>
          <a:xfrm>
            <a:off x="731519" y="2103120"/>
            <a:ext cx="3474722" cy="384049"/>
          </a:xfrm>
          <a:prstGeom prst="rect">
            <a:avLst/>
          </a:prstGeom>
          <a:solidFill>
            <a:srgbClr val="F7F8FA"/>
          </a:solidFill>
          <a:ln w="12700">
            <a:miter lim="400000"/>
          </a:ln>
        </p:spPr>
        <p:txBody>
          <a:bodyPr lIns="45719" rIns="45719"/>
          <a:lstStyle/>
          <a:p>
            <a:pPr/>
          </a:p>
        </p:txBody>
      </p:sp>
      <p:sp>
        <p:nvSpPr>
          <p:cNvPr id="124" name="Text 11"/>
          <p:cNvSpPr txBox="1"/>
          <p:nvPr/>
        </p:nvSpPr>
        <p:spPr>
          <a:xfrm>
            <a:off x="868680" y="2176399"/>
            <a:ext cx="1005841" cy="23749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100">
                <a:solidFill>
                  <a:srgbClr val="2D2D2D"/>
                </a:solidFill>
                <a:latin typeface="+mn-lt"/>
                <a:ea typeface="+mn-ea"/>
                <a:cs typeface="+mn-cs"/>
                <a:sym typeface="Helvetica"/>
              </a:defRPr>
            </a:lvl1pPr>
          </a:lstStyle>
          <a:p>
            <a:pPr/>
            <a:r>
              <a:t>ゲスト対応</a:t>
            </a:r>
          </a:p>
        </p:txBody>
      </p:sp>
      <p:sp>
        <p:nvSpPr>
          <p:cNvPr id="125" name="Text 12"/>
          <p:cNvSpPr txBox="1"/>
          <p:nvPr/>
        </p:nvSpPr>
        <p:spPr>
          <a:xfrm>
            <a:off x="1965959" y="2176399"/>
            <a:ext cx="2103121" cy="23749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C62828"/>
                </a:solidFill>
                <a:latin typeface="+mn-lt"/>
                <a:ea typeface="+mn-ea"/>
                <a:cs typeface="+mn-cs"/>
                <a:sym typeface="Helvetica"/>
              </a:defRPr>
            </a:lvl1pPr>
          </a:lstStyle>
          <a:p>
            <a:pPr/>
            <a:r>
              <a:t>苦手な言語での電話対応</a:t>
            </a:r>
          </a:p>
        </p:txBody>
      </p:sp>
      <p:sp>
        <p:nvSpPr>
          <p:cNvPr id="126" name="Shape 13"/>
          <p:cNvSpPr/>
          <p:nvPr/>
        </p:nvSpPr>
        <p:spPr>
          <a:xfrm>
            <a:off x="731519" y="2560320"/>
            <a:ext cx="3474722" cy="384049"/>
          </a:xfrm>
          <a:prstGeom prst="rect">
            <a:avLst/>
          </a:prstGeom>
          <a:solidFill>
            <a:srgbClr val="FFFFFF"/>
          </a:solidFill>
          <a:ln w="12700">
            <a:miter lim="400000"/>
          </a:ln>
        </p:spPr>
        <p:txBody>
          <a:bodyPr lIns="45719" rIns="45719"/>
          <a:lstStyle/>
          <a:p>
            <a:pPr/>
          </a:p>
        </p:txBody>
      </p:sp>
      <p:sp>
        <p:nvSpPr>
          <p:cNvPr id="127" name="Text 14"/>
          <p:cNvSpPr txBox="1"/>
          <p:nvPr/>
        </p:nvSpPr>
        <p:spPr>
          <a:xfrm>
            <a:off x="868680" y="2624074"/>
            <a:ext cx="1005841"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100">
                <a:solidFill>
                  <a:srgbClr val="2D2D2D"/>
                </a:solidFill>
                <a:latin typeface="+mn-lt"/>
                <a:ea typeface="+mn-ea"/>
                <a:cs typeface="+mn-cs"/>
                <a:sym typeface="Helvetica"/>
              </a:defRPr>
            </a:lvl1pPr>
          </a:lstStyle>
          <a:p>
            <a:pPr/>
            <a:r>
              <a:t>OTA管理</a:t>
            </a:r>
          </a:p>
        </p:txBody>
      </p:sp>
      <p:sp>
        <p:nvSpPr>
          <p:cNvPr id="128" name="Text 15"/>
          <p:cNvSpPr txBox="1"/>
          <p:nvPr/>
        </p:nvSpPr>
        <p:spPr>
          <a:xfrm>
            <a:off x="1965959" y="2633599"/>
            <a:ext cx="2103121" cy="23749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C62828"/>
                </a:solidFill>
                <a:latin typeface="+mn-lt"/>
                <a:ea typeface="+mn-ea"/>
                <a:cs typeface="+mn-cs"/>
                <a:sym typeface="Helvetica"/>
              </a:defRPr>
            </a:lvl1pPr>
          </a:lstStyle>
          <a:p>
            <a:pPr/>
            <a:r>
              <a:t>バラバラで更新漏れ</a:t>
            </a:r>
          </a:p>
        </p:txBody>
      </p:sp>
      <p:sp>
        <p:nvSpPr>
          <p:cNvPr id="129" name="Shape 16"/>
          <p:cNvSpPr/>
          <p:nvPr/>
        </p:nvSpPr>
        <p:spPr>
          <a:xfrm>
            <a:off x="731519" y="3017520"/>
            <a:ext cx="3474722" cy="384049"/>
          </a:xfrm>
          <a:prstGeom prst="rect">
            <a:avLst/>
          </a:prstGeom>
          <a:solidFill>
            <a:srgbClr val="F7F8FA"/>
          </a:solidFill>
          <a:ln w="12700">
            <a:miter lim="400000"/>
          </a:ln>
        </p:spPr>
        <p:txBody>
          <a:bodyPr lIns="45719" rIns="45719"/>
          <a:lstStyle/>
          <a:p>
            <a:pPr/>
          </a:p>
        </p:txBody>
      </p:sp>
      <p:sp>
        <p:nvSpPr>
          <p:cNvPr id="130" name="Text 17"/>
          <p:cNvSpPr txBox="1"/>
          <p:nvPr/>
        </p:nvSpPr>
        <p:spPr>
          <a:xfrm>
            <a:off x="868680" y="3090799"/>
            <a:ext cx="1005841" cy="23749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100">
                <a:solidFill>
                  <a:srgbClr val="2D2D2D"/>
                </a:solidFill>
                <a:latin typeface="+mn-lt"/>
                <a:ea typeface="+mn-ea"/>
                <a:cs typeface="+mn-cs"/>
                <a:sym typeface="Helvetica"/>
              </a:defRPr>
            </a:lvl1pPr>
          </a:lstStyle>
          <a:p>
            <a:pPr/>
            <a:r>
              <a:t>価格設定</a:t>
            </a:r>
          </a:p>
        </p:txBody>
      </p:sp>
      <p:sp>
        <p:nvSpPr>
          <p:cNvPr id="131" name="Text 18"/>
          <p:cNvSpPr txBox="1"/>
          <p:nvPr/>
        </p:nvSpPr>
        <p:spPr>
          <a:xfrm>
            <a:off x="1965959" y="3090799"/>
            <a:ext cx="2103121" cy="23749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C62828"/>
                </a:solidFill>
                <a:latin typeface="+mn-lt"/>
                <a:ea typeface="+mn-ea"/>
                <a:cs typeface="+mn-cs"/>
                <a:sym typeface="Helvetica"/>
              </a:defRPr>
            </a:lvl1pPr>
          </a:lstStyle>
          <a:p>
            <a:pPr/>
            <a:r>
              <a:t>感覚頼りで機会損失</a:t>
            </a:r>
          </a:p>
        </p:txBody>
      </p:sp>
      <p:sp>
        <p:nvSpPr>
          <p:cNvPr id="132" name="Shape 19"/>
          <p:cNvSpPr/>
          <p:nvPr/>
        </p:nvSpPr>
        <p:spPr>
          <a:xfrm>
            <a:off x="731519" y="3474720"/>
            <a:ext cx="3474722" cy="384049"/>
          </a:xfrm>
          <a:prstGeom prst="rect">
            <a:avLst/>
          </a:prstGeom>
          <a:solidFill>
            <a:srgbClr val="FFFFFF"/>
          </a:solidFill>
          <a:ln w="12700">
            <a:miter lim="400000"/>
          </a:ln>
        </p:spPr>
        <p:txBody>
          <a:bodyPr lIns="45719" rIns="45719"/>
          <a:lstStyle/>
          <a:p>
            <a:pPr/>
          </a:p>
        </p:txBody>
      </p:sp>
      <p:sp>
        <p:nvSpPr>
          <p:cNvPr id="133" name="Text 20"/>
          <p:cNvSpPr txBox="1"/>
          <p:nvPr/>
        </p:nvSpPr>
        <p:spPr>
          <a:xfrm>
            <a:off x="868680" y="3547999"/>
            <a:ext cx="1005841" cy="23749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100">
                <a:solidFill>
                  <a:srgbClr val="2D2D2D"/>
                </a:solidFill>
                <a:latin typeface="+mn-lt"/>
                <a:ea typeface="+mn-ea"/>
                <a:cs typeface="+mn-cs"/>
                <a:sym typeface="Helvetica"/>
              </a:defRPr>
            </a:lvl1pPr>
          </a:lstStyle>
          <a:p>
            <a:pPr/>
            <a:r>
              <a:t>レポート</a:t>
            </a:r>
          </a:p>
        </p:txBody>
      </p:sp>
      <p:sp>
        <p:nvSpPr>
          <p:cNvPr id="134" name="Text 21"/>
          <p:cNvSpPr txBox="1"/>
          <p:nvPr/>
        </p:nvSpPr>
        <p:spPr>
          <a:xfrm>
            <a:off x="1965959" y="3538474"/>
            <a:ext cx="2103121"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C62828"/>
                </a:solidFill>
                <a:latin typeface="+mn-lt"/>
                <a:ea typeface="+mn-ea"/>
                <a:cs typeface="+mn-cs"/>
                <a:sym typeface="Helvetica"/>
              </a:defRPr>
            </a:lvl1pPr>
          </a:lstStyle>
          <a:p>
            <a:pPr/>
            <a:r>
              <a:t>月1回、または来ない</a:t>
            </a:r>
          </a:p>
        </p:txBody>
      </p:sp>
      <p:sp>
        <p:nvSpPr>
          <p:cNvPr id="135" name="Shape 22"/>
          <p:cNvSpPr/>
          <p:nvPr/>
        </p:nvSpPr>
        <p:spPr>
          <a:xfrm>
            <a:off x="731519" y="3931920"/>
            <a:ext cx="3474722" cy="384049"/>
          </a:xfrm>
          <a:prstGeom prst="rect">
            <a:avLst/>
          </a:prstGeom>
          <a:solidFill>
            <a:srgbClr val="F7F8FA"/>
          </a:solidFill>
          <a:ln w="12700">
            <a:miter lim="400000"/>
          </a:ln>
        </p:spPr>
        <p:txBody>
          <a:bodyPr lIns="45719" rIns="45719"/>
          <a:lstStyle/>
          <a:p>
            <a:pPr/>
          </a:p>
        </p:txBody>
      </p:sp>
      <p:sp>
        <p:nvSpPr>
          <p:cNvPr id="136" name="Text 23"/>
          <p:cNvSpPr txBox="1"/>
          <p:nvPr/>
        </p:nvSpPr>
        <p:spPr>
          <a:xfrm>
            <a:off x="868680" y="4005199"/>
            <a:ext cx="1005841" cy="23749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100">
                <a:solidFill>
                  <a:srgbClr val="2D2D2D"/>
                </a:solidFill>
                <a:latin typeface="+mn-lt"/>
                <a:ea typeface="+mn-ea"/>
                <a:cs typeface="+mn-cs"/>
                <a:sym typeface="Helvetica"/>
              </a:defRPr>
            </a:lvl1pPr>
          </a:lstStyle>
          <a:p>
            <a:pPr/>
            <a:r>
              <a:t>清掃</a:t>
            </a:r>
          </a:p>
        </p:txBody>
      </p:sp>
      <p:sp>
        <p:nvSpPr>
          <p:cNvPr id="137" name="Text 24"/>
          <p:cNvSpPr txBox="1"/>
          <p:nvPr/>
        </p:nvSpPr>
        <p:spPr>
          <a:xfrm>
            <a:off x="1965959" y="4005199"/>
            <a:ext cx="2103121" cy="23749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C62828"/>
                </a:solidFill>
                <a:latin typeface="+mn-lt"/>
                <a:ea typeface="+mn-ea"/>
                <a:cs typeface="+mn-cs"/>
                <a:sym typeface="Helvetica"/>
              </a:defRPr>
            </a:lvl1pPr>
          </a:lstStyle>
          <a:p>
            <a:pPr/>
            <a:r>
              <a:t>クレームが読めない</a:t>
            </a:r>
          </a:p>
        </p:txBody>
      </p:sp>
      <p:sp>
        <p:nvSpPr>
          <p:cNvPr id="138" name="Text 25"/>
          <p:cNvSpPr txBox="1"/>
          <p:nvPr/>
        </p:nvSpPr>
        <p:spPr>
          <a:xfrm>
            <a:off x="4389120" y="2533650"/>
            <a:ext cx="365761" cy="510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2800">
                <a:solidFill>
                  <a:srgbClr val="259DA3"/>
                </a:solidFill>
                <a:latin typeface="+mn-lt"/>
                <a:ea typeface="+mn-ea"/>
                <a:cs typeface="+mn-cs"/>
                <a:sym typeface="Helvetica"/>
              </a:defRPr>
            </a:lvl1pPr>
          </a:lstStyle>
          <a:p>
            <a:pPr/>
            <a:r>
              <a:t>▶</a:t>
            </a:r>
          </a:p>
        </p:txBody>
      </p:sp>
      <p:sp>
        <p:nvSpPr>
          <p:cNvPr id="139" name="Shape 26"/>
          <p:cNvSpPr/>
          <p:nvPr/>
        </p:nvSpPr>
        <p:spPr>
          <a:xfrm>
            <a:off x="4754879" y="1097280"/>
            <a:ext cx="3840481" cy="3474721"/>
          </a:xfrm>
          <a:prstGeom prst="rect">
            <a:avLst/>
          </a:prstGeom>
          <a:solidFill>
            <a:srgbClr val="F7F8FA"/>
          </a:solidFill>
          <a:ln w="12700">
            <a:miter lim="400000"/>
          </a:ln>
          <a:effectLst>
            <a:outerShdw sx="100000" sy="100000" kx="0" ky="0" algn="b" rotWithShape="0" blurRad="50800" dist="19050" dir="8100000">
              <a:srgbClr val="000000">
                <a:alpha val="6000"/>
              </a:srgbClr>
            </a:outerShdw>
          </a:effectLst>
        </p:spPr>
        <p:txBody>
          <a:bodyPr lIns="45719" rIns="45719"/>
          <a:lstStyle/>
          <a:p>
            <a:pPr/>
          </a:p>
        </p:txBody>
      </p:sp>
      <p:sp>
        <p:nvSpPr>
          <p:cNvPr id="140" name="Shape 27"/>
          <p:cNvSpPr/>
          <p:nvPr/>
        </p:nvSpPr>
        <p:spPr>
          <a:xfrm>
            <a:off x="4754879" y="1097280"/>
            <a:ext cx="3840481" cy="411481"/>
          </a:xfrm>
          <a:prstGeom prst="rect">
            <a:avLst/>
          </a:prstGeom>
          <a:solidFill>
            <a:srgbClr val="259DA3"/>
          </a:solidFill>
          <a:ln w="12700">
            <a:miter lim="400000"/>
          </a:ln>
        </p:spPr>
        <p:txBody>
          <a:bodyPr lIns="45719" rIns="45719"/>
          <a:lstStyle/>
          <a:p>
            <a:pPr/>
          </a:p>
        </p:txBody>
      </p:sp>
      <p:sp>
        <p:nvSpPr>
          <p:cNvPr id="141" name="Text 28"/>
          <p:cNvSpPr txBox="1"/>
          <p:nvPr/>
        </p:nvSpPr>
        <p:spPr>
          <a:xfrm>
            <a:off x="4800600" y="1149349"/>
            <a:ext cx="374904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400">
                <a:solidFill>
                  <a:srgbClr val="FFFFFF"/>
                </a:solidFill>
                <a:latin typeface="+mn-lt"/>
                <a:ea typeface="+mn-ea"/>
                <a:cs typeface="+mn-cs"/>
                <a:sym typeface="Helvetica"/>
              </a:defRPr>
            </a:lvl1pPr>
          </a:lstStyle>
          <a:p>
            <a:pPr/>
            <a:r>
              <a:t>After ─ SEKAI STAY 導入後</a:t>
            </a:r>
          </a:p>
        </p:txBody>
      </p:sp>
      <p:sp>
        <p:nvSpPr>
          <p:cNvPr id="142" name="Shape 29"/>
          <p:cNvSpPr/>
          <p:nvPr/>
        </p:nvSpPr>
        <p:spPr>
          <a:xfrm>
            <a:off x="4937759" y="1645920"/>
            <a:ext cx="3474721" cy="384049"/>
          </a:xfrm>
          <a:prstGeom prst="rect">
            <a:avLst/>
          </a:prstGeom>
          <a:solidFill>
            <a:srgbClr val="FFFFFF"/>
          </a:solidFill>
          <a:ln w="12700">
            <a:miter lim="400000"/>
          </a:ln>
        </p:spPr>
        <p:txBody>
          <a:bodyPr lIns="45719" rIns="45719"/>
          <a:lstStyle/>
          <a:p>
            <a:pPr/>
          </a:p>
        </p:txBody>
      </p:sp>
      <p:sp>
        <p:nvSpPr>
          <p:cNvPr id="143" name="Text 30"/>
          <p:cNvSpPr txBox="1"/>
          <p:nvPr/>
        </p:nvSpPr>
        <p:spPr>
          <a:xfrm>
            <a:off x="5074920" y="1719199"/>
            <a:ext cx="1005841" cy="23749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100">
                <a:solidFill>
                  <a:srgbClr val="2D2D2D"/>
                </a:solidFill>
                <a:latin typeface="+mn-lt"/>
                <a:ea typeface="+mn-ea"/>
                <a:cs typeface="+mn-cs"/>
                <a:sym typeface="Helvetica"/>
              </a:defRPr>
            </a:lvl1pPr>
          </a:lstStyle>
          <a:p>
            <a:pPr/>
            <a:r>
              <a:t>手数料</a:t>
            </a:r>
          </a:p>
        </p:txBody>
      </p:sp>
      <p:sp>
        <p:nvSpPr>
          <p:cNvPr id="144" name="Text 31"/>
          <p:cNvSpPr txBox="1"/>
          <p:nvPr/>
        </p:nvSpPr>
        <p:spPr>
          <a:xfrm>
            <a:off x="6172200" y="1709674"/>
            <a:ext cx="2103121"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100">
                <a:solidFill>
                  <a:srgbClr val="2E7D32"/>
                </a:solidFill>
                <a:latin typeface="+mn-lt"/>
                <a:ea typeface="+mn-ea"/>
                <a:cs typeface="+mn-cs"/>
                <a:sym typeface="Helvetica"/>
              </a:defRPr>
            </a:lvl1pPr>
          </a:lstStyle>
          <a:p>
            <a:pPr/>
            <a:r>
              <a:t>8% + ¥5,000 で利益最大化</a:t>
            </a:r>
          </a:p>
        </p:txBody>
      </p:sp>
      <p:sp>
        <p:nvSpPr>
          <p:cNvPr id="145" name="Shape 32"/>
          <p:cNvSpPr/>
          <p:nvPr/>
        </p:nvSpPr>
        <p:spPr>
          <a:xfrm>
            <a:off x="4937759" y="2103120"/>
            <a:ext cx="3474721" cy="384049"/>
          </a:xfrm>
          <a:prstGeom prst="rect">
            <a:avLst/>
          </a:prstGeom>
          <a:solidFill>
            <a:srgbClr val="F7F8FA"/>
          </a:solidFill>
          <a:ln w="12700">
            <a:miter lim="400000"/>
          </a:ln>
        </p:spPr>
        <p:txBody>
          <a:bodyPr lIns="45719" rIns="45719"/>
          <a:lstStyle/>
          <a:p>
            <a:pPr/>
          </a:p>
        </p:txBody>
      </p:sp>
      <p:sp>
        <p:nvSpPr>
          <p:cNvPr id="146" name="Text 33"/>
          <p:cNvSpPr txBox="1"/>
          <p:nvPr/>
        </p:nvSpPr>
        <p:spPr>
          <a:xfrm>
            <a:off x="5074920" y="2176399"/>
            <a:ext cx="1005841" cy="23749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100">
                <a:solidFill>
                  <a:srgbClr val="2D2D2D"/>
                </a:solidFill>
                <a:latin typeface="+mn-lt"/>
                <a:ea typeface="+mn-ea"/>
                <a:cs typeface="+mn-cs"/>
                <a:sym typeface="Helvetica"/>
              </a:defRPr>
            </a:lvl1pPr>
          </a:lstStyle>
          <a:p>
            <a:pPr/>
            <a:r>
              <a:t>ゲスト対応</a:t>
            </a:r>
          </a:p>
        </p:txBody>
      </p:sp>
      <p:sp>
        <p:nvSpPr>
          <p:cNvPr id="147" name="Text 34"/>
          <p:cNvSpPr txBox="1"/>
          <p:nvPr/>
        </p:nvSpPr>
        <p:spPr>
          <a:xfrm>
            <a:off x="6172200" y="2166874"/>
            <a:ext cx="2103121"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100">
                <a:solidFill>
                  <a:srgbClr val="2E7D32"/>
                </a:solidFill>
                <a:latin typeface="+mn-lt"/>
                <a:ea typeface="+mn-ea"/>
                <a:cs typeface="+mn-cs"/>
                <a:sym typeface="Helvetica"/>
              </a:defRPr>
            </a:lvl1pPr>
          </a:lstStyle>
          <a:p>
            <a:pPr/>
            <a:r>
              <a:t>24h 多言語で完全代行</a:t>
            </a:r>
          </a:p>
        </p:txBody>
      </p:sp>
      <p:sp>
        <p:nvSpPr>
          <p:cNvPr id="148" name="Shape 35"/>
          <p:cNvSpPr/>
          <p:nvPr/>
        </p:nvSpPr>
        <p:spPr>
          <a:xfrm>
            <a:off x="4937759" y="2560320"/>
            <a:ext cx="3474721" cy="384049"/>
          </a:xfrm>
          <a:prstGeom prst="rect">
            <a:avLst/>
          </a:prstGeom>
          <a:solidFill>
            <a:srgbClr val="FFFFFF"/>
          </a:solidFill>
          <a:ln w="12700">
            <a:miter lim="400000"/>
          </a:ln>
        </p:spPr>
        <p:txBody>
          <a:bodyPr lIns="45719" rIns="45719"/>
          <a:lstStyle/>
          <a:p>
            <a:pPr/>
          </a:p>
        </p:txBody>
      </p:sp>
      <p:sp>
        <p:nvSpPr>
          <p:cNvPr id="149" name="Text 36"/>
          <p:cNvSpPr txBox="1"/>
          <p:nvPr/>
        </p:nvSpPr>
        <p:spPr>
          <a:xfrm>
            <a:off x="5074920" y="2624074"/>
            <a:ext cx="1005841"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100">
                <a:solidFill>
                  <a:srgbClr val="2D2D2D"/>
                </a:solidFill>
                <a:latin typeface="+mn-lt"/>
                <a:ea typeface="+mn-ea"/>
                <a:cs typeface="+mn-cs"/>
                <a:sym typeface="Helvetica"/>
              </a:defRPr>
            </a:lvl1pPr>
          </a:lstStyle>
          <a:p>
            <a:pPr/>
            <a:r>
              <a:t>OTA管理</a:t>
            </a:r>
          </a:p>
        </p:txBody>
      </p:sp>
      <p:sp>
        <p:nvSpPr>
          <p:cNvPr id="150" name="Text 37"/>
          <p:cNvSpPr txBox="1"/>
          <p:nvPr/>
        </p:nvSpPr>
        <p:spPr>
          <a:xfrm>
            <a:off x="6172200" y="2624074"/>
            <a:ext cx="2103121"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100">
                <a:solidFill>
                  <a:srgbClr val="2E7D32"/>
                </a:solidFill>
                <a:latin typeface="+mn-lt"/>
                <a:ea typeface="+mn-ea"/>
                <a:cs typeface="+mn-cs"/>
                <a:sym typeface="Helvetica"/>
              </a:defRPr>
            </a:lvl1pPr>
          </a:lstStyle>
          <a:p>
            <a:pPr/>
            <a:r>
              <a:t>全OTA一元管理・最適化</a:t>
            </a:r>
          </a:p>
        </p:txBody>
      </p:sp>
      <p:sp>
        <p:nvSpPr>
          <p:cNvPr id="151" name="Shape 38"/>
          <p:cNvSpPr/>
          <p:nvPr/>
        </p:nvSpPr>
        <p:spPr>
          <a:xfrm>
            <a:off x="4937759" y="3017520"/>
            <a:ext cx="3474721" cy="384049"/>
          </a:xfrm>
          <a:prstGeom prst="rect">
            <a:avLst/>
          </a:prstGeom>
          <a:solidFill>
            <a:srgbClr val="F7F8FA"/>
          </a:solidFill>
          <a:ln w="12700">
            <a:miter lim="400000"/>
          </a:ln>
        </p:spPr>
        <p:txBody>
          <a:bodyPr lIns="45719" rIns="45719"/>
          <a:lstStyle/>
          <a:p>
            <a:pPr/>
          </a:p>
        </p:txBody>
      </p:sp>
      <p:sp>
        <p:nvSpPr>
          <p:cNvPr id="152" name="Text 39"/>
          <p:cNvSpPr txBox="1"/>
          <p:nvPr/>
        </p:nvSpPr>
        <p:spPr>
          <a:xfrm>
            <a:off x="5074920" y="3090799"/>
            <a:ext cx="1005841" cy="23749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100">
                <a:solidFill>
                  <a:srgbClr val="2D2D2D"/>
                </a:solidFill>
                <a:latin typeface="+mn-lt"/>
                <a:ea typeface="+mn-ea"/>
                <a:cs typeface="+mn-cs"/>
                <a:sym typeface="Helvetica"/>
              </a:defRPr>
            </a:lvl1pPr>
          </a:lstStyle>
          <a:p>
            <a:pPr/>
            <a:r>
              <a:t>価格設定</a:t>
            </a:r>
          </a:p>
        </p:txBody>
      </p:sp>
      <p:sp>
        <p:nvSpPr>
          <p:cNvPr id="153" name="Text 40"/>
          <p:cNvSpPr txBox="1"/>
          <p:nvPr/>
        </p:nvSpPr>
        <p:spPr>
          <a:xfrm>
            <a:off x="6172200" y="3090799"/>
            <a:ext cx="2103121" cy="23749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100">
                <a:solidFill>
                  <a:srgbClr val="2E7D32"/>
                </a:solidFill>
                <a:latin typeface="+mn-lt"/>
                <a:ea typeface="+mn-ea"/>
                <a:cs typeface="+mn-cs"/>
                <a:sym typeface="Helvetica"/>
              </a:defRPr>
            </a:lvl1pPr>
          </a:lstStyle>
          <a:p>
            <a:pPr/>
            <a:r>
              <a:t>データで毎日自動最適化</a:t>
            </a:r>
          </a:p>
        </p:txBody>
      </p:sp>
      <p:sp>
        <p:nvSpPr>
          <p:cNvPr id="154" name="Shape 41"/>
          <p:cNvSpPr/>
          <p:nvPr/>
        </p:nvSpPr>
        <p:spPr>
          <a:xfrm>
            <a:off x="4937759" y="3474720"/>
            <a:ext cx="3474721" cy="384049"/>
          </a:xfrm>
          <a:prstGeom prst="rect">
            <a:avLst/>
          </a:prstGeom>
          <a:solidFill>
            <a:srgbClr val="FFFFFF"/>
          </a:solidFill>
          <a:ln w="12700">
            <a:miter lim="400000"/>
          </a:ln>
        </p:spPr>
        <p:txBody>
          <a:bodyPr lIns="45719" rIns="45719"/>
          <a:lstStyle/>
          <a:p>
            <a:pPr/>
          </a:p>
        </p:txBody>
      </p:sp>
      <p:sp>
        <p:nvSpPr>
          <p:cNvPr id="155" name="Text 42"/>
          <p:cNvSpPr txBox="1"/>
          <p:nvPr/>
        </p:nvSpPr>
        <p:spPr>
          <a:xfrm>
            <a:off x="5074920" y="3547999"/>
            <a:ext cx="1005841" cy="23749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100">
                <a:solidFill>
                  <a:srgbClr val="2D2D2D"/>
                </a:solidFill>
                <a:latin typeface="+mn-lt"/>
                <a:ea typeface="+mn-ea"/>
                <a:cs typeface="+mn-cs"/>
                <a:sym typeface="Helvetica"/>
              </a:defRPr>
            </a:lvl1pPr>
          </a:lstStyle>
          <a:p>
            <a:pPr/>
            <a:r>
              <a:t>レポート</a:t>
            </a:r>
          </a:p>
        </p:txBody>
      </p:sp>
      <p:sp>
        <p:nvSpPr>
          <p:cNvPr id="156" name="Text 43"/>
          <p:cNvSpPr txBox="1"/>
          <p:nvPr/>
        </p:nvSpPr>
        <p:spPr>
          <a:xfrm>
            <a:off x="6172200" y="3440049"/>
            <a:ext cx="2103121" cy="45339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100">
                <a:solidFill>
                  <a:srgbClr val="2E7D32"/>
                </a:solidFill>
                <a:latin typeface="+mn-lt"/>
                <a:ea typeface="+mn-ea"/>
                <a:cs typeface="+mn-cs"/>
                <a:sym typeface="Helvetica"/>
              </a:defRPr>
            </a:lvl1pPr>
          </a:lstStyle>
          <a:p>
            <a:pPr/>
            <a:r>
              <a:t>リアルタイムダッシュボード＋月次レポーティング</a:t>
            </a:r>
          </a:p>
        </p:txBody>
      </p:sp>
      <p:sp>
        <p:nvSpPr>
          <p:cNvPr id="157" name="Shape 44"/>
          <p:cNvSpPr/>
          <p:nvPr/>
        </p:nvSpPr>
        <p:spPr>
          <a:xfrm>
            <a:off x="4937759" y="3931920"/>
            <a:ext cx="3474721" cy="384049"/>
          </a:xfrm>
          <a:prstGeom prst="rect">
            <a:avLst/>
          </a:prstGeom>
          <a:solidFill>
            <a:srgbClr val="F7F8FA"/>
          </a:solidFill>
          <a:ln w="12700">
            <a:miter lim="400000"/>
          </a:ln>
        </p:spPr>
        <p:txBody>
          <a:bodyPr lIns="45719" rIns="45719"/>
          <a:lstStyle/>
          <a:p>
            <a:pPr/>
          </a:p>
        </p:txBody>
      </p:sp>
      <p:sp>
        <p:nvSpPr>
          <p:cNvPr id="158" name="Text 45"/>
          <p:cNvSpPr txBox="1"/>
          <p:nvPr/>
        </p:nvSpPr>
        <p:spPr>
          <a:xfrm>
            <a:off x="5074920" y="4005199"/>
            <a:ext cx="1005841" cy="23749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100">
                <a:solidFill>
                  <a:srgbClr val="2D2D2D"/>
                </a:solidFill>
                <a:latin typeface="+mn-lt"/>
                <a:ea typeface="+mn-ea"/>
                <a:cs typeface="+mn-cs"/>
                <a:sym typeface="Helvetica"/>
              </a:defRPr>
            </a:lvl1pPr>
          </a:lstStyle>
          <a:p>
            <a:pPr/>
            <a:r>
              <a:t>清掃</a:t>
            </a:r>
          </a:p>
        </p:txBody>
      </p:sp>
      <p:sp>
        <p:nvSpPr>
          <p:cNvPr id="159" name="Text 46"/>
          <p:cNvSpPr txBox="1"/>
          <p:nvPr/>
        </p:nvSpPr>
        <p:spPr>
          <a:xfrm>
            <a:off x="6172200" y="4005199"/>
            <a:ext cx="2103121" cy="23749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100">
                <a:solidFill>
                  <a:srgbClr val="2E7D32"/>
                </a:solidFill>
                <a:latin typeface="+mn-lt"/>
                <a:ea typeface="+mn-ea"/>
                <a:cs typeface="+mn-cs"/>
                <a:sym typeface="Helvetica"/>
              </a:defRPr>
            </a:lvl1pPr>
          </a:lstStyle>
          <a:p>
            <a:pPr/>
            <a:r>
              <a:t>写真付き報告で品質保証</a:t>
            </a:r>
          </a:p>
        </p:txBody>
      </p:sp>
      <p:sp>
        <p:nvSpPr>
          <p:cNvPr id="160" name="Text 47"/>
          <p:cNvSpPr txBox="1"/>
          <p:nvPr/>
        </p:nvSpPr>
        <p:spPr>
          <a:xfrm>
            <a:off x="594360" y="4575883"/>
            <a:ext cx="7955279" cy="28484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200">
                <a:solidFill>
                  <a:srgbClr val="259DA3"/>
                </a:solidFill>
                <a:latin typeface="+mn-lt"/>
                <a:ea typeface="+mn-ea"/>
                <a:cs typeface="+mn-cs"/>
                <a:sym typeface="Helvetica"/>
              </a:defRPr>
            </a:lvl1pPr>
          </a:lstStyle>
          <a:p>
            <a:pPr/>
            <a:r>
              <a:t>オーナー様がやること → 好きな時に、ダッシュボードを確認するだけ。</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2" name="Text 0"/>
          <p:cNvSpPr txBox="1"/>
          <p:nvPr/>
        </p:nvSpPr>
        <p:spPr>
          <a:xfrm>
            <a:off x="457200" y="393446"/>
            <a:ext cx="8229600" cy="40182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2D2D2D"/>
                </a:solidFill>
              </a:defRPr>
            </a:lvl1pPr>
          </a:lstStyle>
          <a:p>
            <a:pPr/>
            <a:r>
              <a:t>事例シミュレーション — ３社比較</a:t>
            </a:r>
          </a:p>
        </p:txBody>
      </p:sp>
      <p:sp>
        <p:nvSpPr>
          <p:cNvPr id="163" name="Text 1"/>
          <p:cNvSpPr txBox="1"/>
          <p:nvPr/>
        </p:nvSpPr>
        <p:spPr>
          <a:xfrm>
            <a:off x="457200" y="911985"/>
            <a:ext cx="8229600" cy="14199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AAAAAA"/>
                </a:solidFill>
              </a:defRPr>
            </a:lvl1pPr>
          </a:lstStyle>
          <a:p>
            <a:pPr/>
            <a:r>
              <a:t>※ 実在の導入事例をもとにした想定シミュレーションです</a:t>
            </a:r>
          </a:p>
        </p:txBody>
      </p:sp>
      <p:graphicFrame>
        <p:nvGraphicFramePr>
          <p:cNvPr id="164" name="Table 0"/>
          <p:cNvGraphicFramePr/>
          <p:nvPr/>
        </p:nvGraphicFramePr>
        <p:xfrm>
          <a:off x="457200" y="1280160"/>
          <a:ext cx="8229600" cy="2276857"/>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920240"/>
                <a:gridCol w="2103120"/>
                <a:gridCol w="2103120"/>
                <a:gridCol w="2103120"/>
              </a:tblGrid>
              <a:tr h="411480">
                <a:tc>
                  <a:txBody>
                    <a:bodyPr/>
                    <a:lstStyle/>
                    <a:p>
                      <a:pPr algn="l">
                        <a:defRPr sz="1800"/>
                      </a:pPr>
                    </a:p>
                  </a:txBody>
                  <a:tcPr marL="45720" marR="45720" marT="45720" marB="45720" anchor="ctr" anchorCtr="0" horzOverflow="overflow">
                    <a:lnL w="6350">
                      <a:solidFill>
                        <a:srgbClr val="DDDDDD"/>
                      </a:solidFill>
                    </a:lnL>
                    <a:lnR w="6350">
                      <a:solidFill>
                        <a:srgbClr val="DDDDDD"/>
                      </a:solidFill>
                    </a:lnR>
                    <a:lnT w="6350">
                      <a:solidFill>
                        <a:srgbClr val="DDDDDD"/>
                      </a:solidFill>
                    </a:lnT>
                    <a:lnB w="6350">
                      <a:solidFill>
                        <a:srgbClr val="DDDDDD"/>
                      </a:solidFill>
                    </a:lnB>
                    <a:solidFill>
                      <a:srgbClr val="3B9EA3"/>
                    </a:solidFill>
                  </a:tcPr>
                </a:tc>
                <a:tc>
                  <a:txBody>
                    <a:bodyPr/>
                    <a:lstStyle/>
                    <a:p>
                      <a:pPr algn="ctr">
                        <a:defRPr b="1" sz="1000">
                          <a:solidFill>
                            <a:srgbClr val="FFFFFF"/>
                          </a:solidFill>
                        </a:defRPr>
                      </a:pPr>
                      <a:r>
                        <a:t>A社</a:t>
                      </a:r>
                    </a:p>
                    <a:p>
                      <a:pPr algn="ctr">
                        <a:defRPr b="1" sz="1000">
                          <a:solidFill>
                            <a:srgbClr val="FFFFFF"/>
                          </a:solidFill>
                        </a:defRPr>
                      </a:pPr>
                      <a:r>
                        <a:t>戸建て1棟 / 京都</a:t>
                      </a:r>
                    </a:p>
                  </a:txBody>
                  <a:tcPr marL="45720" marR="45720" marT="45720" marB="45720" anchor="ctr" anchorCtr="0" horzOverflow="overflow">
                    <a:lnL w="6350">
                      <a:solidFill>
                        <a:srgbClr val="DDDDDD"/>
                      </a:solidFill>
                    </a:lnL>
                    <a:lnR w="6350">
                      <a:solidFill>
                        <a:srgbClr val="DDDDDD"/>
                      </a:solidFill>
                    </a:lnR>
                    <a:lnT w="6350">
                      <a:solidFill>
                        <a:srgbClr val="DDDDDD"/>
                      </a:solidFill>
                    </a:lnT>
                    <a:lnB w="6350">
                      <a:solidFill>
                        <a:srgbClr val="DDDDDD"/>
                      </a:solidFill>
                    </a:lnB>
                    <a:solidFill>
                      <a:srgbClr val="3B9EA3"/>
                    </a:solidFill>
                  </a:tcPr>
                </a:tc>
                <a:tc>
                  <a:txBody>
                    <a:bodyPr/>
                    <a:lstStyle/>
                    <a:p>
                      <a:pPr algn="ctr">
                        <a:defRPr b="1" sz="1000">
                          <a:solidFill>
                            <a:srgbClr val="FFFFFF"/>
                          </a:solidFill>
                        </a:defRPr>
                      </a:pPr>
                      <a:r>
                        <a:t>B社</a:t>
                      </a:r>
                    </a:p>
                    <a:p>
                      <a:pPr algn="ctr">
                        <a:defRPr b="1" sz="1000">
                          <a:solidFill>
                            <a:srgbClr val="FFFFFF"/>
                          </a:solidFill>
                        </a:defRPr>
                      </a:pPr>
                      <a:r>
                        <a:t>ペット可4棟 / 長野県</a:t>
                      </a:r>
                    </a:p>
                  </a:txBody>
                  <a:tcPr marL="45720" marR="45720" marT="45720" marB="45720" anchor="ctr" anchorCtr="0" horzOverflow="overflow">
                    <a:lnL w="6350">
                      <a:solidFill>
                        <a:srgbClr val="DDDDDD"/>
                      </a:solidFill>
                    </a:lnL>
                    <a:lnR w="6350">
                      <a:solidFill>
                        <a:srgbClr val="DDDDDD"/>
                      </a:solidFill>
                    </a:lnR>
                    <a:lnT w="6350">
                      <a:solidFill>
                        <a:srgbClr val="DDDDDD"/>
                      </a:solidFill>
                    </a:lnT>
                    <a:lnB w="6350">
                      <a:solidFill>
                        <a:srgbClr val="DDDDDD"/>
                      </a:solidFill>
                    </a:lnB>
                    <a:solidFill>
                      <a:srgbClr val="3B9EA3"/>
                    </a:solidFill>
                  </a:tcPr>
                </a:tc>
                <a:tc>
                  <a:txBody>
                    <a:bodyPr/>
                    <a:lstStyle/>
                    <a:p>
                      <a:pPr algn="ctr">
                        <a:defRPr b="1" sz="1000">
                          <a:solidFill>
                            <a:srgbClr val="FFFFFF"/>
                          </a:solidFill>
                        </a:defRPr>
                      </a:pPr>
                      <a:r>
                        <a:t>C社</a:t>
                      </a:r>
                    </a:p>
                    <a:p>
                      <a:pPr algn="ctr">
                        <a:defRPr b="1" sz="1000">
                          <a:solidFill>
                            <a:srgbClr val="FFFFFF"/>
                          </a:solidFill>
                        </a:defRPr>
                      </a:pPr>
                      <a:r>
                        <a:t>マンション2室 / 大阪</a:t>
                      </a:r>
                    </a:p>
                  </a:txBody>
                  <a:tcPr marL="45720" marR="45720" marT="45720" marB="45720" anchor="ctr" anchorCtr="0" horzOverflow="overflow">
                    <a:lnL w="6350">
                      <a:solidFill>
                        <a:srgbClr val="DDDDDD"/>
                      </a:solidFill>
                    </a:lnL>
                    <a:lnR w="6350">
                      <a:solidFill>
                        <a:srgbClr val="DDDDDD"/>
                      </a:solidFill>
                    </a:lnR>
                    <a:lnT w="6350">
                      <a:solidFill>
                        <a:srgbClr val="DDDDDD"/>
                      </a:solidFill>
                    </a:lnT>
                    <a:lnB w="6350">
                      <a:solidFill>
                        <a:srgbClr val="DDDDDD"/>
                      </a:solidFill>
                    </a:lnB>
                    <a:solidFill>
                      <a:srgbClr val="3B9EA3"/>
                    </a:solidFill>
                  </a:tcPr>
                </a:tc>
              </a:tr>
              <a:tr h="347472">
                <a:tc>
                  <a:txBody>
                    <a:bodyPr/>
                    <a:lstStyle/>
                    <a:p>
                      <a:pPr algn="l">
                        <a:defRPr sz="1800"/>
                      </a:pPr>
                      <a:r>
                        <a:rPr b="1" sz="900">
                          <a:solidFill>
                            <a:srgbClr val="2D2D2D"/>
                          </a:solidFill>
                        </a:rPr>
                        <a:t>物件タイプ</a:t>
                      </a:r>
                    </a:p>
                  </a:txBody>
                  <a:tcPr marL="45720" marR="45720" marT="45720" marB="45720" anchor="ctr" anchorCtr="0" horzOverflow="overflow">
                    <a:lnL w="6350">
                      <a:solidFill>
                        <a:srgbClr val="DDDDDD"/>
                      </a:solidFill>
                    </a:lnL>
                    <a:lnR w="6350">
                      <a:solidFill>
                        <a:srgbClr val="DDDDDD"/>
                      </a:solidFill>
                    </a:lnR>
                    <a:lnT w="6350">
                      <a:solidFill>
                        <a:srgbClr val="DDDDDD"/>
                      </a:solidFill>
                    </a:lnT>
                    <a:lnB w="6350">
                      <a:solidFill>
                        <a:srgbClr val="DDDDDD"/>
                      </a:solidFill>
                    </a:lnB>
                    <a:solidFill>
                      <a:srgbClr val="F5F5F5"/>
                    </a:solidFill>
                  </a:tcPr>
                </a:tc>
                <a:tc>
                  <a:txBody>
                    <a:bodyPr/>
                    <a:lstStyle/>
                    <a:p>
                      <a:pPr algn="ctr">
                        <a:defRPr sz="1800"/>
                      </a:pPr>
                      <a:r>
                        <a:rPr sz="1000">
                          <a:solidFill>
                            <a:srgbClr val="2D2D2D"/>
                          </a:solidFill>
                        </a:rPr>
                        <a:t>戸建て 1棟</a:t>
                      </a:r>
                    </a:p>
                  </a:txBody>
                  <a:tcPr marL="45720" marR="45720" marT="45720" marB="45720" anchor="ctr" anchorCtr="0" horzOverflow="overflow">
                    <a:lnL w="6350">
                      <a:solidFill>
                        <a:srgbClr val="DDDDDD"/>
                      </a:solidFill>
                    </a:lnL>
                    <a:lnR w="6350">
                      <a:solidFill>
                        <a:srgbClr val="DDDDDD"/>
                      </a:solidFill>
                    </a:lnR>
                    <a:lnT w="6350">
                      <a:solidFill>
                        <a:srgbClr val="DDDDDD"/>
                      </a:solidFill>
                    </a:lnT>
                    <a:lnB w="6350">
                      <a:solidFill>
                        <a:srgbClr val="DDDDDD"/>
                      </a:solidFill>
                    </a:lnB>
                    <a:noFill/>
                  </a:tcPr>
                </a:tc>
                <a:tc>
                  <a:txBody>
                    <a:bodyPr/>
                    <a:lstStyle/>
                    <a:p>
                      <a:pPr algn="ctr">
                        <a:defRPr sz="1800"/>
                      </a:pPr>
                      <a:r>
                        <a:rPr sz="1000">
                          <a:solidFill>
                            <a:srgbClr val="2D2D2D"/>
                          </a:solidFill>
                        </a:rPr>
                        <a:t>トレーラーハウス 4棟</a:t>
                      </a:r>
                    </a:p>
                  </a:txBody>
                  <a:tcPr marL="45720" marR="45720" marT="45720" marB="45720" anchor="ctr" anchorCtr="0" horzOverflow="overflow">
                    <a:lnL w="6350">
                      <a:solidFill>
                        <a:srgbClr val="DDDDDD"/>
                      </a:solidFill>
                    </a:lnL>
                    <a:lnR w="6350">
                      <a:solidFill>
                        <a:srgbClr val="DDDDDD"/>
                      </a:solidFill>
                    </a:lnR>
                    <a:lnT w="6350">
                      <a:solidFill>
                        <a:srgbClr val="DDDDDD"/>
                      </a:solidFill>
                    </a:lnT>
                    <a:lnB w="6350">
                      <a:solidFill>
                        <a:srgbClr val="DDDDDD"/>
                      </a:solidFill>
                    </a:lnB>
                    <a:noFill/>
                  </a:tcPr>
                </a:tc>
                <a:tc>
                  <a:txBody>
                    <a:bodyPr/>
                    <a:lstStyle/>
                    <a:p>
                      <a:pPr algn="ctr">
                        <a:defRPr sz="1800"/>
                      </a:pPr>
                      <a:r>
                        <a:rPr sz="1000">
                          <a:solidFill>
                            <a:srgbClr val="2D2D2D"/>
                          </a:solidFill>
                        </a:rPr>
                        <a:t>マンション 2室</a:t>
                      </a:r>
                    </a:p>
                  </a:txBody>
                  <a:tcPr marL="45720" marR="45720" marT="45720" marB="45720" anchor="ctr" anchorCtr="0" horzOverflow="overflow">
                    <a:lnL w="6350">
                      <a:solidFill>
                        <a:srgbClr val="DDDDDD"/>
                      </a:solidFill>
                    </a:lnL>
                    <a:lnR w="6350">
                      <a:solidFill>
                        <a:srgbClr val="DDDDDD"/>
                      </a:solidFill>
                    </a:lnR>
                    <a:lnT w="6350">
                      <a:solidFill>
                        <a:srgbClr val="DDDDDD"/>
                      </a:solidFill>
                    </a:lnT>
                    <a:lnB w="6350">
                      <a:solidFill>
                        <a:srgbClr val="DDDDDD"/>
                      </a:solidFill>
                    </a:lnB>
                    <a:noFill/>
                  </a:tcPr>
                </a:tc>
              </a:tr>
              <a:tr h="347472">
                <a:tc>
                  <a:txBody>
                    <a:bodyPr/>
                    <a:lstStyle/>
                    <a:p>
                      <a:pPr algn="l">
                        <a:defRPr sz="1800"/>
                      </a:pPr>
                      <a:r>
                        <a:rPr b="1" sz="900">
                          <a:solidFill>
                            <a:srgbClr val="2D2D2D"/>
                          </a:solidFill>
                        </a:rPr>
                        <a:t>月間売上（平均）</a:t>
                      </a:r>
                    </a:p>
                  </a:txBody>
                  <a:tcPr marL="45720" marR="45720" marT="45720" marB="45720" anchor="ctr" anchorCtr="0" horzOverflow="overflow">
                    <a:lnL w="6350">
                      <a:solidFill>
                        <a:srgbClr val="DDDDDD"/>
                      </a:solidFill>
                    </a:lnL>
                    <a:lnR w="6350">
                      <a:solidFill>
                        <a:srgbClr val="DDDDDD"/>
                      </a:solidFill>
                    </a:lnR>
                    <a:lnT w="6350">
                      <a:solidFill>
                        <a:srgbClr val="DDDDDD"/>
                      </a:solidFill>
                    </a:lnT>
                    <a:lnB w="6350">
                      <a:solidFill>
                        <a:srgbClr val="DDDDDD"/>
                      </a:solidFill>
                    </a:lnB>
                    <a:solidFill>
                      <a:srgbClr val="F5F5F5"/>
                    </a:solidFill>
                  </a:tcPr>
                </a:tc>
                <a:tc>
                  <a:txBody>
                    <a:bodyPr/>
                    <a:lstStyle/>
                    <a:p>
                      <a:pPr algn="ctr">
                        <a:defRPr sz="1800"/>
                      </a:pPr>
                      <a:r>
                        <a:rPr sz="1000">
                          <a:solidFill>
                            <a:srgbClr val="2D2D2D"/>
                          </a:solidFill>
                        </a:rPr>
                        <a:t>¥3,000,000</a:t>
                      </a:r>
                    </a:p>
                  </a:txBody>
                  <a:tcPr marL="45720" marR="45720" marT="45720" marB="45720" anchor="ctr" anchorCtr="0" horzOverflow="overflow">
                    <a:lnL w="6350">
                      <a:solidFill>
                        <a:srgbClr val="DDDDDD"/>
                      </a:solidFill>
                    </a:lnL>
                    <a:lnR w="6350">
                      <a:solidFill>
                        <a:srgbClr val="DDDDDD"/>
                      </a:solidFill>
                    </a:lnR>
                    <a:lnT w="6350">
                      <a:solidFill>
                        <a:srgbClr val="DDDDDD"/>
                      </a:solidFill>
                    </a:lnT>
                    <a:lnB w="6350">
                      <a:solidFill>
                        <a:srgbClr val="DDDDDD"/>
                      </a:solidFill>
                    </a:lnB>
                    <a:noFill/>
                  </a:tcPr>
                </a:tc>
                <a:tc>
                  <a:txBody>
                    <a:bodyPr/>
                    <a:lstStyle/>
                    <a:p>
                      <a:pPr algn="ctr">
                        <a:defRPr sz="1800"/>
                      </a:pPr>
                      <a:r>
                        <a:rPr sz="1000">
                          <a:solidFill>
                            <a:srgbClr val="2D2D2D"/>
                          </a:solidFill>
                        </a:rPr>
                        <a:t>¥2,000,000</a:t>
                      </a:r>
                    </a:p>
                  </a:txBody>
                  <a:tcPr marL="45720" marR="45720" marT="45720" marB="45720" anchor="ctr" anchorCtr="0" horzOverflow="overflow">
                    <a:lnL w="6350">
                      <a:solidFill>
                        <a:srgbClr val="DDDDDD"/>
                      </a:solidFill>
                    </a:lnL>
                    <a:lnR w="6350">
                      <a:solidFill>
                        <a:srgbClr val="DDDDDD"/>
                      </a:solidFill>
                    </a:lnR>
                    <a:lnT w="6350">
                      <a:solidFill>
                        <a:srgbClr val="DDDDDD"/>
                      </a:solidFill>
                    </a:lnT>
                    <a:lnB w="6350">
                      <a:solidFill>
                        <a:srgbClr val="DDDDDD"/>
                      </a:solidFill>
                    </a:lnB>
                    <a:noFill/>
                  </a:tcPr>
                </a:tc>
                <a:tc>
                  <a:txBody>
                    <a:bodyPr/>
                    <a:lstStyle/>
                    <a:p>
                      <a:pPr algn="ctr">
                        <a:defRPr sz="1800"/>
                      </a:pPr>
                      <a:r>
                        <a:rPr sz="1000">
                          <a:solidFill>
                            <a:srgbClr val="2D2D2D"/>
                          </a:solidFill>
                        </a:rPr>
                        <a:t>¥380,000</a:t>
                      </a:r>
                    </a:p>
                  </a:txBody>
                  <a:tcPr marL="45720" marR="45720" marT="45720" marB="45720" anchor="ctr" anchorCtr="0" horzOverflow="overflow">
                    <a:lnL w="6350">
                      <a:solidFill>
                        <a:srgbClr val="DDDDDD"/>
                      </a:solidFill>
                    </a:lnL>
                    <a:lnR w="6350">
                      <a:solidFill>
                        <a:srgbClr val="DDDDDD"/>
                      </a:solidFill>
                    </a:lnR>
                    <a:lnT w="6350">
                      <a:solidFill>
                        <a:srgbClr val="DDDDDD"/>
                      </a:solidFill>
                    </a:lnT>
                    <a:lnB w="6350">
                      <a:solidFill>
                        <a:srgbClr val="DDDDDD"/>
                      </a:solidFill>
                    </a:lnB>
                    <a:noFill/>
                  </a:tcPr>
                </a:tc>
              </a:tr>
              <a:tr h="347472">
                <a:tc>
                  <a:txBody>
                    <a:bodyPr/>
                    <a:lstStyle/>
                    <a:p>
                      <a:pPr algn="l">
                        <a:defRPr sz="1800"/>
                      </a:pPr>
                      <a:r>
                        <a:rPr b="1" sz="900">
                          <a:solidFill>
                            <a:srgbClr val="2D2D2D"/>
                          </a:solidFill>
                        </a:rPr>
                        <a:t>他社手数料（20%）</a:t>
                      </a:r>
                    </a:p>
                  </a:txBody>
                  <a:tcPr marL="45720" marR="45720" marT="45720" marB="45720" anchor="ctr" anchorCtr="0" horzOverflow="overflow">
                    <a:lnL w="6350">
                      <a:solidFill>
                        <a:srgbClr val="DDDDDD"/>
                      </a:solidFill>
                    </a:lnL>
                    <a:lnR w="6350">
                      <a:solidFill>
                        <a:srgbClr val="DDDDDD"/>
                      </a:solidFill>
                    </a:lnR>
                    <a:lnT w="6350">
                      <a:solidFill>
                        <a:srgbClr val="DDDDDD"/>
                      </a:solidFill>
                    </a:lnT>
                    <a:lnB w="6350">
                      <a:solidFill>
                        <a:srgbClr val="DDDDDD"/>
                      </a:solidFill>
                    </a:lnB>
                    <a:solidFill>
                      <a:srgbClr val="F5F5F5"/>
                    </a:solidFill>
                  </a:tcPr>
                </a:tc>
                <a:tc>
                  <a:txBody>
                    <a:bodyPr/>
                    <a:lstStyle/>
                    <a:p>
                      <a:pPr algn="ctr">
                        <a:defRPr sz="1800"/>
                      </a:pPr>
                      <a:r>
                        <a:rPr sz="1000">
                          <a:solidFill>
                            <a:srgbClr val="CC3333"/>
                          </a:solidFill>
                        </a:rPr>
                        <a:t>▲ ¥600,000</a:t>
                      </a:r>
                    </a:p>
                  </a:txBody>
                  <a:tcPr marL="45720" marR="45720" marT="45720" marB="45720" anchor="ctr" anchorCtr="0" horzOverflow="overflow">
                    <a:lnL w="6350">
                      <a:solidFill>
                        <a:srgbClr val="DDDDDD"/>
                      </a:solidFill>
                    </a:lnL>
                    <a:lnR w="6350">
                      <a:solidFill>
                        <a:srgbClr val="DDDDDD"/>
                      </a:solidFill>
                    </a:lnR>
                    <a:lnT w="6350">
                      <a:solidFill>
                        <a:srgbClr val="DDDDDD"/>
                      </a:solidFill>
                    </a:lnT>
                    <a:lnB w="6350">
                      <a:solidFill>
                        <a:srgbClr val="DDDDDD"/>
                      </a:solidFill>
                    </a:lnB>
                    <a:noFill/>
                  </a:tcPr>
                </a:tc>
                <a:tc>
                  <a:txBody>
                    <a:bodyPr/>
                    <a:lstStyle/>
                    <a:p>
                      <a:pPr algn="ctr">
                        <a:defRPr sz="1800"/>
                      </a:pPr>
                      <a:r>
                        <a:rPr sz="1000">
                          <a:solidFill>
                            <a:srgbClr val="CC3333"/>
                          </a:solidFill>
                        </a:rPr>
                        <a:t>▲ ¥400,000</a:t>
                      </a:r>
                    </a:p>
                  </a:txBody>
                  <a:tcPr marL="45720" marR="45720" marT="45720" marB="45720" anchor="ctr" anchorCtr="0" horzOverflow="overflow">
                    <a:lnL w="6350">
                      <a:solidFill>
                        <a:srgbClr val="DDDDDD"/>
                      </a:solidFill>
                    </a:lnL>
                    <a:lnR w="6350">
                      <a:solidFill>
                        <a:srgbClr val="DDDDDD"/>
                      </a:solidFill>
                    </a:lnR>
                    <a:lnT w="6350">
                      <a:solidFill>
                        <a:srgbClr val="DDDDDD"/>
                      </a:solidFill>
                    </a:lnT>
                    <a:lnB w="6350">
                      <a:solidFill>
                        <a:srgbClr val="DDDDDD"/>
                      </a:solidFill>
                    </a:lnB>
                    <a:noFill/>
                  </a:tcPr>
                </a:tc>
                <a:tc>
                  <a:txBody>
                    <a:bodyPr/>
                    <a:lstStyle/>
                    <a:p>
                      <a:pPr algn="ctr">
                        <a:defRPr sz="1800"/>
                      </a:pPr>
                      <a:r>
                        <a:rPr sz="1000">
                          <a:solidFill>
                            <a:srgbClr val="CC3333"/>
                          </a:solidFill>
                        </a:rPr>
                        <a:t>▲ ¥76,000</a:t>
                      </a:r>
                    </a:p>
                  </a:txBody>
                  <a:tcPr marL="45720" marR="45720" marT="45720" marB="45720" anchor="ctr" anchorCtr="0" horzOverflow="overflow">
                    <a:lnL w="6350">
                      <a:solidFill>
                        <a:srgbClr val="DDDDDD"/>
                      </a:solidFill>
                    </a:lnL>
                    <a:lnR w="6350">
                      <a:solidFill>
                        <a:srgbClr val="DDDDDD"/>
                      </a:solidFill>
                    </a:lnR>
                    <a:lnT w="6350">
                      <a:solidFill>
                        <a:srgbClr val="DDDDDD"/>
                      </a:solidFill>
                    </a:lnT>
                    <a:lnB w="6350">
                      <a:solidFill>
                        <a:srgbClr val="DDDDDD"/>
                      </a:solidFill>
                    </a:lnB>
                    <a:noFill/>
                  </a:tcPr>
                </a:tc>
              </a:tr>
              <a:tr h="438912">
                <a:tc>
                  <a:txBody>
                    <a:bodyPr/>
                    <a:lstStyle/>
                    <a:p>
                      <a:pPr algn="l">
                        <a:defRPr b="1" sz="900">
                          <a:solidFill>
                            <a:srgbClr val="2D2D2D"/>
                          </a:solidFill>
                        </a:defRPr>
                      </a:pPr>
                      <a:r>
                        <a:t>SEKAI STAY</a:t>
                      </a:r>
                    </a:p>
                    <a:p>
                      <a:pPr algn="l">
                        <a:defRPr b="1" sz="900">
                          <a:solidFill>
                            <a:srgbClr val="2D2D2D"/>
                          </a:solidFill>
                        </a:defRPr>
                      </a:pPr>
                      <a:r>
                        <a:t>（8% + ¥5,000/室）</a:t>
                      </a:r>
                    </a:p>
                  </a:txBody>
                  <a:tcPr marL="45720" marR="45720" marT="45720" marB="45720" anchor="ctr" anchorCtr="0" horzOverflow="overflow">
                    <a:lnL w="6350">
                      <a:solidFill>
                        <a:srgbClr val="DDDDDD"/>
                      </a:solidFill>
                    </a:lnL>
                    <a:lnR w="6350">
                      <a:solidFill>
                        <a:srgbClr val="DDDDDD"/>
                      </a:solidFill>
                    </a:lnR>
                    <a:lnT w="6350">
                      <a:solidFill>
                        <a:srgbClr val="DDDDDD"/>
                      </a:solidFill>
                    </a:lnT>
                    <a:lnB w="6350">
                      <a:solidFill>
                        <a:srgbClr val="DDDDDD"/>
                      </a:solidFill>
                    </a:lnB>
                    <a:solidFill>
                      <a:srgbClr val="F5F5F5"/>
                    </a:solidFill>
                  </a:tcPr>
                </a:tc>
                <a:tc>
                  <a:txBody>
                    <a:bodyPr/>
                    <a:lstStyle/>
                    <a:p>
                      <a:pPr algn="ctr">
                        <a:defRPr sz="1800"/>
                      </a:pPr>
                      <a:r>
                        <a:rPr b="1" sz="1100">
                          <a:solidFill>
                            <a:srgbClr val="3B9EA3"/>
                          </a:solidFill>
                        </a:rPr>
                        <a:t>¥245,000</a:t>
                      </a:r>
                    </a:p>
                  </a:txBody>
                  <a:tcPr marL="45720" marR="45720" marT="45720" marB="45720" anchor="ctr" anchorCtr="0" horzOverflow="overflow">
                    <a:lnL w="6350">
                      <a:solidFill>
                        <a:srgbClr val="DDDDDD"/>
                      </a:solidFill>
                    </a:lnL>
                    <a:lnR w="6350">
                      <a:solidFill>
                        <a:srgbClr val="DDDDDD"/>
                      </a:solidFill>
                    </a:lnR>
                    <a:lnT w="6350">
                      <a:solidFill>
                        <a:srgbClr val="DDDDDD"/>
                      </a:solidFill>
                    </a:lnT>
                    <a:lnB w="6350">
                      <a:solidFill>
                        <a:srgbClr val="DDDDDD"/>
                      </a:solidFill>
                    </a:lnB>
                    <a:noFill/>
                  </a:tcPr>
                </a:tc>
                <a:tc>
                  <a:txBody>
                    <a:bodyPr/>
                    <a:lstStyle/>
                    <a:p>
                      <a:pPr algn="ctr">
                        <a:defRPr sz="1800"/>
                      </a:pPr>
                      <a:r>
                        <a:rPr b="1" sz="1100">
                          <a:solidFill>
                            <a:srgbClr val="3B9EA3"/>
                          </a:solidFill>
                        </a:rPr>
                        <a:t>¥165,000</a:t>
                      </a:r>
                    </a:p>
                  </a:txBody>
                  <a:tcPr marL="45720" marR="45720" marT="45720" marB="45720" anchor="ctr" anchorCtr="0" horzOverflow="overflow">
                    <a:lnL w="6350">
                      <a:solidFill>
                        <a:srgbClr val="DDDDDD"/>
                      </a:solidFill>
                    </a:lnL>
                    <a:lnR w="6350">
                      <a:solidFill>
                        <a:srgbClr val="DDDDDD"/>
                      </a:solidFill>
                    </a:lnR>
                    <a:lnT w="6350">
                      <a:solidFill>
                        <a:srgbClr val="DDDDDD"/>
                      </a:solidFill>
                    </a:lnT>
                    <a:lnB w="6350">
                      <a:solidFill>
                        <a:srgbClr val="DDDDDD"/>
                      </a:solidFill>
                    </a:lnB>
                    <a:noFill/>
                  </a:tcPr>
                </a:tc>
                <a:tc>
                  <a:txBody>
                    <a:bodyPr/>
                    <a:lstStyle/>
                    <a:p>
                      <a:pPr algn="ctr">
                        <a:defRPr sz="1800"/>
                      </a:pPr>
                      <a:r>
                        <a:rPr b="1" sz="1100">
                          <a:solidFill>
                            <a:srgbClr val="3B9EA3"/>
                          </a:solidFill>
                        </a:rPr>
                        <a:t>¥40,400</a:t>
                      </a:r>
                    </a:p>
                  </a:txBody>
                  <a:tcPr marL="45720" marR="45720" marT="45720" marB="45720" anchor="ctr" anchorCtr="0" horzOverflow="overflow">
                    <a:lnL w="6350">
                      <a:solidFill>
                        <a:srgbClr val="DDDDDD"/>
                      </a:solidFill>
                    </a:lnL>
                    <a:lnR w="6350">
                      <a:solidFill>
                        <a:srgbClr val="DDDDDD"/>
                      </a:solidFill>
                    </a:lnR>
                    <a:lnT w="6350">
                      <a:solidFill>
                        <a:srgbClr val="DDDDDD"/>
                      </a:solidFill>
                    </a:lnT>
                    <a:lnB w="6350">
                      <a:solidFill>
                        <a:srgbClr val="DDDDDD"/>
                      </a:solidFill>
                    </a:lnB>
                    <a:noFill/>
                  </a:tcPr>
                </a:tc>
              </a:tr>
              <a:tr h="384048">
                <a:tc>
                  <a:txBody>
                    <a:bodyPr/>
                    <a:lstStyle/>
                    <a:p>
                      <a:pPr algn="l">
                        <a:defRPr sz="1800"/>
                      </a:pPr>
                      <a:r>
                        <a:rPr b="1" sz="900">
                          <a:solidFill>
                            <a:srgbClr val="2D2D2D"/>
                          </a:solidFill>
                        </a:rPr>
                        <a:t>月間削減額</a:t>
                      </a:r>
                    </a:p>
                  </a:txBody>
                  <a:tcPr marL="45720" marR="45720" marT="45720" marB="45720" anchor="ctr" anchorCtr="0" horzOverflow="overflow">
                    <a:lnL w="6350">
                      <a:solidFill>
                        <a:srgbClr val="DDDDDD"/>
                      </a:solidFill>
                    </a:lnL>
                    <a:lnR w="6350">
                      <a:solidFill>
                        <a:srgbClr val="DDDDDD"/>
                      </a:solidFill>
                    </a:lnR>
                    <a:lnT w="6350">
                      <a:solidFill>
                        <a:srgbClr val="DDDDDD"/>
                      </a:solidFill>
                    </a:lnT>
                    <a:lnB w="6350">
                      <a:solidFill>
                        <a:srgbClr val="DDDDDD"/>
                      </a:solidFill>
                    </a:lnB>
                    <a:solidFill>
                      <a:srgbClr val="F5F5F5"/>
                    </a:solidFill>
                  </a:tcPr>
                </a:tc>
                <a:tc>
                  <a:txBody>
                    <a:bodyPr/>
                    <a:lstStyle/>
                    <a:p>
                      <a:pPr algn="ctr">
                        <a:defRPr sz="1800"/>
                      </a:pPr>
                      <a:r>
                        <a:rPr b="1" sz="1100">
                          <a:solidFill>
                            <a:srgbClr val="3B9EA3"/>
                          </a:solidFill>
                        </a:rPr>
                        <a:t>¥355,000</a:t>
                      </a:r>
                    </a:p>
                  </a:txBody>
                  <a:tcPr marL="45720" marR="45720" marT="45720" marB="45720" anchor="ctr" anchorCtr="0" horzOverflow="overflow">
                    <a:lnL w="6350">
                      <a:solidFill>
                        <a:srgbClr val="DDDDDD"/>
                      </a:solidFill>
                    </a:lnL>
                    <a:lnR w="6350">
                      <a:solidFill>
                        <a:srgbClr val="DDDDDD"/>
                      </a:solidFill>
                    </a:lnR>
                    <a:lnT w="6350">
                      <a:solidFill>
                        <a:srgbClr val="DDDDDD"/>
                      </a:solidFill>
                    </a:lnT>
                    <a:lnB w="6350">
                      <a:solidFill>
                        <a:srgbClr val="DDDDDD"/>
                      </a:solidFill>
                    </a:lnB>
                    <a:noFill/>
                  </a:tcPr>
                </a:tc>
                <a:tc>
                  <a:txBody>
                    <a:bodyPr/>
                    <a:lstStyle/>
                    <a:p>
                      <a:pPr algn="ctr">
                        <a:defRPr sz="1800"/>
                      </a:pPr>
                      <a:r>
                        <a:rPr b="1" sz="1100">
                          <a:solidFill>
                            <a:srgbClr val="3B9EA3"/>
                          </a:solidFill>
                        </a:rPr>
                        <a:t>¥240,000</a:t>
                      </a:r>
                    </a:p>
                  </a:txBody>
                  <a:tcPr marL="45720" marR="45720" marT="45720" marB="45720" anchor="ctr" anchorCtr="0" horzOverflow="overflow">
                    <a:lnL w="6350">
                      <a:solidFill>
                        <a:srgbClr val="DDDDDD"/>
                      </a:solidFill>
                    </a:lnL>
                    <a:lnR w="6350">
                      <a:solidFill>
                        <a:srgbClr val="DDDDDD"/>
                      </a:solidFill>
                    </a:lnR>
                    <a:lnT w="6350">
                      <a:solidFill>
                        <a:srgbClr val="DDDDDD"/>
                      </a:solidFill>
                    </a:lnT>
                    <a:lnB w="6350">
                      <a:solidFill>
                        <a:srgbClr val="DDDDDD"/>
                      </a:solidFill>
                    </a:lnB>
                    <a:noFill/>
                  </a:tcPr>
                </a:tc>
                <a:tc>
                  <a:txBody>
                    <a:bodyPr/>
                    <a:lstStyle/>
                    <a:p>
                      <a:pPr algn="ctr">
                        <a:defRPr sz="1800"/>
                      </a:pPr>
                      <a:r>
                        <a:rPr b="1" sz="1100">
                          <a:solidFill>
                            <a:srgbClr val="3B9EA3"/>
                          </a:solidFill>
                        </a:rPr>
                        <a:t>¥35,600</a:t>
                      </a:r>
                    </a:p>
                  </a:txBody>
                  <a:tcPr marL="45720" marR="45720" marT="45720" marB="45720" anchor="ctr" anchorCtr="0" horzOverflow="overflow">
                    <a:lnL w="6350">
                      <a:solidFill>
                        <a:srgbClr val="DDDDDD"/>
                      </a:solidFill>
                    </a:lnL>
                    <a:lnR w="6350">
                      <a:solidFill>
                        <a:srgbClr val="DDDDDD"/>
                      </a:solidFill>
                    </a:lnR>
                    <a:lnT w="6350">
                      <a:solidFill>
                        <a:srgbClr val="DDDDDD"/>
                      </a:solidFill>
                    </a:lnT>
                    <a:lnB w="6350">
                      <a:solidFill>
                        <a:srgbClr val="DDDDDD"/>
                      </a:solidFill>
                    </a:lnB>
                    <a:noFill/>
                  </a:tcPr>
                </a:tc>
              </a:tr>
            </a:tbl>
          </a:graphicData>
        </a:graphic>
      </p:graphicFrame>
      <p:sp>
        <p:nvSpPr>
          <p:cNvPr id="165" name="Shape 2"/>
          <p:cNvSpPr/>
          <p:nvPr/>
        </p:nvSpPr>
        <p:spPr>
          <a:xfrm>
            <a:off x="1188719" y="3794759"/>
            <a:ext cx="2103122" cy="777241"/>
          </a:xfrm>
          <a:prstGeom prst="roundRect">
            <a:avLst>
              <a:gd name="adj" fmla="val 9412"/>
            </a:avLst>
          </a:prstGeom>
          <a:solidFill>
            <a:srgbClr val="3B9EA3"/>
          </a:solidFill>
          <a:ln w="12700">
            <a:miter lim="400000"/>
          </a:ln>
          <a:effectLst>
            <a:outerShdw sx="100000" sy="100000" kx="0" ky="0" algn="b" rotWithShape="0" blurRad="50800" dist="19050" dir="8100000">
              <a:srgbClr val="000000">
                <a:alpha val="8000"/>
              </a:srgbClr>
            </a:outerShdw>
          </a:effectLst>
        </p:spPr>
        <p:txBody>
          <a:bodyPr lIns="45719" rIns="45719"/>
          <a:lstStyle/>
          <a:p>
            <a:pPr/>
          </a:p>
        </p:txBody>
      </p:sp>
      <p:sp>
        <p:nvSpPr>
          <p:cNvPr id="166" name="Text 3"/>
          <p:cNvSpPr txBox="1"/>
          <p:nvPr/>
        </p:nvSpPr>
        <p:spPr>
          <a:xfrm>
            <a:off x="1188719" y="3993642"/>
            <a:ext cx="2103122" cy="258318"/>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b="1">
                <a:solidFill>
                  <a:srgbClr val="FFFFFF"/>
                </a:solidFill>
              </a:defRPr>
            </a:lvl1pPr>
          </a:lstStyle>
          <a:p>
            <a:pPr/>
            <a:r>
              <a:t>年間 426万円</a:t>
            </a:r>
          </a:p>
        </p:txBody>
      </p:sp>
      <p:sp>
        <p:nvSpPr>
          <p:cNvPr id="167" name="Text 4"/>
          <p:cNvSpPr txBox="1"/>
          <p:nvPr/>
        </p:nvSpPr>
        <p:spPr>
          <a:xfrm>
            <a:off x="1188719" y="4315062"/>
            <a:ext cx="21031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900">
                <a:solidFill>
                  <a:srgbClr val="D4EEEF"/>
                </a:solidFill>
              </a:defRPr>
            </a:lvl1pPr>
          </a:lstStyle>
          <a:p>
            <a:pPr/>
            <a:r>
              <a:t>手数料削減</a:t>
            </a:r>
          </a:p>
        </p:txBody>
      </p:sp>
      <p:sp>
        <p:nvSpPr>
          <p:cNvPr id="168" name="Shape 5"/>
          <p:cNvSpPr/>
          <p:nvPr/>
        </p:nvSpPr>
        <p:spPr>
          <a:xfrm>
            <a:off x="3657600" y="3794759"/>
            <a:ext cx="2103121" cy="777241"/>
          </a:xfrm>
          <a:prstGeom prst="roundRect">
            <a:avLst>
              <a:gd name="adj" fmla="val 9412"/>
            </a:avLst>
          </a:prstGeom>
          <a:solidFill>
            <a:srgbClr val="3B9EA3"/>
          </a:solidFill>
          <a:ln w="12700">
            <a:miter lim="400000"/>
          </a:ln>
          <a:effectLst>
            <a:outerShdw sx="100000" sy="100000" kx="0" ky="0" algn="b" rotWithShape="0" blurRad="50800" dist="19050" dir="8100000">
              <a:srgbClr val="000000">
                <a:alpha val="8000"/>
              </a:srgbClr>
            </a:outerShdw>
          </a:effectLst>
        </p:spPr>
        <p:txBody>
          <a:bodyPr lIns="45719" rIns="45719"/>
          <a:lstStyle/>
          <a:p>
            <a:pPr/>
          </a:p>
        </p:txBody>
      </p:sp>
      <p:sp>
        <p:nvSpPr>
          <p:cNvPr id="169" name="Text 6"/>
          <p:cNvSpPr txBox="1"/>
          <p:nvPr/>
        </p:nvSpPr>
        <p:spPr>
          <a:xfrm>
            <a:off x="3657600" y="3993642"/>
            <a:ext cx="2103121" cy="258318"/>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b="1">
                <a:solidFill>
                  <a:srgbClr val="FFFFFF"/>
                </a:solidFill>
              </a:defRPr>
            </a:lvl1pPr>
          </a:lstStyle>
          <a:p>
            <a:pPr/>
            <a:r>
              <a:t>年間 288万円</a:t>
            </a:r>
          </a:p>
        </p:txBody>
      </p:sp>
      <p:sp>
        <p:nvSpPr>
          <p:cNvPr id="170" name="Text 7"/>
          <p:cNvSpPr txBox="1"/>
          <p:nvPr/>
        </p:nvSpPr>
        <p:spPr>
          <a:xfrm>
            <a:off x="3657600" y="4315062"/>
            <a:ext cx="21031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900">
                <a:solidFill>
                  <a:srgbClr val="D4EEEF"/>
                </a:solidFill>
              </a:defRPr>
            </a:lvl1pPr>
          </a:lstStyle>
          <a:p>
            <a:pPr/>
            <a:r>
              <a:t>手数料削減</a:t>
            </a:r>
          </a:p>
        </p:txBody>
      </p:sp>
      <p:sp>
        <p:nvSpPr>
          <p:cNvPr id="171" name="Shape 8"/>
          <p:cNvSpPr/>
          <p:nvPr/>
        </p:nvSpPr>
        <p:spPr>
          <a:xfrm>
            <a:off x="6126479" y="3794759"/>
            <a:ext cx="2103121" cy="777241"/>
          </a:xfrm>
          <a:prstGeom prst="roundRect">
            <a:avLst>
              <a:gd name="adj" fmla="val 9412"/>
            </a:avLst>
          </a:prstGeom>
          <a:solidFill>
            <a:srgbClr val="3B9EA3"/>
          </a:solidFill>
          <a:ln w="12700">
            <a:miter lim="400000"/>
          </a:ln>
          <a:effectLst>
            <a:outerShdw sx="100000" sy="100000" kx="0" ky="0" algn="b" rotWithShape="0" blurRad="50800" dist="19050" dir="8100000">
              <a:srgbClr val="000000">
                <a:alpha val="8000"/>
              </a:srgbClr>
            </a:outerShdw>
          </a:effectLst>
        </p:spPr>
        <p:txBody>
          <a:bodyPr lIns="45719" rIns="45719"/>
          <a:lstStyle/>
          <a:p>
            <a:pPr/>
          </a:p>
        </p:txBody>
      </p:sp>
      <p:sp>
        <p:nvSpPr>
          <p:cNvPr id="172" name="Text 9"/>
          <p:cNvSpPr txBox="1"/>
          <p:nvPr/>
        </p:nvSpPr>
        <p:spPr>
          <a:xfrm>
            <a:off x="6126479" y="3993642"/>
            <a:ext cx="2103121" cy="258318"/>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a:defRPr b="1">
                <a:solidFill>
                  <a:srgbClr val="FFFFFF"/>
                </a:solidFill>
              </a:defRPr>
            </a:lvl1pPr>
          </a:lstStyle>
          <a:p>
            <a:pPr/>
            <a:r>
              <a:t>年間 43万円</a:t>
            </a:r>
          </a:p>
        </p:txBody>
      </p:sp>
      <p:sp>
        <p:nvSpPr>
          <p:cNvPr id="173" name="Text 10"/>
          <p:cNvSpPr txBox="1"/>
          <p:nvPr/>
        </p:nvSpPr>
        <p:spPr>
          <a:xfrm>
            <a:off x="6126479" y="4315062"/>
            <a:ext cx="21031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900">
                <a:solidFill>
                  <a:srgbClr val="D4EEEF"/>
                </a:solidFill>
              </a:defRPr>
            </a:lvl1pPr>
          </a:lstStyle>
          <a:p>
            <a:pPr/>
            <a:r>
              <a:t>手数料削減</a:t>
            </a:r>
          </a:p>
        </p:txBody>
      </p:sp>
      <p:sp>
        <p:nvSpPr>
          <p:cNvPr id="174" name="Text 11"/>
          <p:cNvSpPr txBox="1"/>
          <p:nvPr/>
        </p:nvSpPr>
        <p:spPr>
          <a:xfrm>
            <a:off x="365759" y="4851399"/>
            <a:ext cx="36576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700">
                <a:solidFill>
                  <a:srgbClr val="AAAAAA"/>
                </a:solidFill>
              </a:defRPr>
            </a:lvl1pPr>
          </a:lstStyle>
          <a:p>
            <a:pPr/>
            <a:r>
              <a:t>SEKAI STAY  |  CONFIDENTIAL</a:t>
            </a:r>
          </a:p>
        </p:txBody>
      </p:sp>
      <p:sp>
        <p:nvSpPr>
          <p:cNvPr id="175" name="Text 12"/>
          <p:cNvSpPr txBox="1"/>
          <p:nvPr/>
        </p:nvSpPr>
        <p:spPr>
          <a:xfrm>
            <a:off x="7772400" y="4851399"/>
            <a:ext cx="9144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700">
                <a:solidFill>
                  <a:srgbClr val="AAAAAA"/>
                </a:solidFill>
              </a:defRPr>
            </a:lvl1pPr>
          </a:lstStyle>
          <a:p>
            <a:pPr/>
            <a:r>
              <a:t>15 / 6</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7" name="Shape 4"/>
          <p:cNvSpPr/>
          <p:nvPr/>
        </p:nvSpPr>
        <p:spPr>
          <a:xfrm>
            <a:off x="548640" y="1097280"/>
            <a:ext cx="1371601" cy="365761"/>
          </a:xfrm>
          <a:prstGeom prst="rect">
            <a:avLst/>
          </a:prstGeom>
          <a:solidFill>
            <a:srgbClr val="259DA3"/>
          </a:solidFill>
          <a:ln w="12700">
            <a:miter lim="400000"/>
          </a:ln>
        </p:spPr>
        <p:txBody>
          <a:bodyPr lIns="45719" rIns="45719"/>
          <a:lstStyle/>
          <a:p>
            <a:pPr/>
          </a:p>
        </p:txBody>
      </p:sp>
      <p:sp>
        <p:nvSpPr>
          <p:cNvPr id="178" name="Shape 4"/>
          <p:cNvSpPr/>
          <p:nvPr/>
        </p:nvSpPr>
        <p:spPr>
          <a:xfrm>
            <a:off x="2240279" y="1097280"/>
            <a:ext cx="1371602" cy="365761"/>
          </a:xfrm>
          <a:prstGeom prst="rect">
            <a:avLst/>
          </a:prstGeom>
          <a:solidFill>
            <a:srgbClr val="259DA3"/>
          </a:solidFill>
          <a:ln w="12700">
            <a:miter lim="400000"/>
          </a:ln>
        </p:spPr>
        <p:txBody>
          <a:bodyPr lIns="45719" rIns="45719"/>
          <a:lstStyle/>
          <a:p>
            <a:pPr/>
          </a:p>
        </p:txBody>
      </p:sp>
      <p:sp>
        <p:nvSpPr>
          <p:cNvPr id="179" name="Text 0"/>
          <p:cNvSpPr txBox="1"/>
          <p:nvPr/>
        </p:nvSpPr>
        <p:spPr>
          <a:xfrm>
            <a:off x="8092439" y="4828540"/>
            <a:ext cx="548641"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9AA0A6"/>
                </a:solidFill>
                <a:latin typeface="+mn-lt"/>
                <a:ea typeface="+mn-ea"/>
                <a:cs typeface="+mn-cs"/>
                <a:sym typeface="Helvetica"/>
              </a:defRPr>
            </a:lvl1pPr>
          </a:lstStyle>
          <a:p>
            <a:pPr/>
            <a:r>
              <a:t>5 / 9</a:t>
            </a:r>
          </a:p>
        </p:txBody>
      </p:sp>
      <p:sp>
        <p:nvSpPr>
          <p:cNvPr id="180" name="Text 1"/>
          <p:cNvSpPr txBox="1"/>
          <p:nvPr/>
        </p:nvSpPr>
        <p:spPr>
          <a:xfrm>
            <a:off x="502919" y="4828540"/>
            <a:ext cx="2651762"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9AA0A6"/>
                </a:solidFill>
                <a:latin typeface="+mn-lt"/>
                <a:ea typeface="+mn-ea"/>
                <a:cs typeface="+mn-cs"/>
                <a:sym typeface="Helvetica"/>
              </a:defRPr>
            </a:lvl1pPr>
          </a:lstStyle>
          <a:p>
            <a:pPr/>
            <a:r>
              <a:t>SEKAI STAY  |  CONFIDENTIAL</a:t>
            </a:r>
          </a:p>
        </p:txBody>
      </p:sp>
      <p:sp>
        <p:nvSpPr>
          <p:cNvPr id="181" name="Shape 2"/>
          <p:cNvSpPr/>
          <p:nvPr/>
        </p:nvSpPr>
        <p:spPr>
          <a:xfrm>
            <a:off x="548640" y="411480"/>
            <a:ext cx="1097281" cy="1"/>
          </a:xfrm>
          <a:prstGeom prst="line">
            <a:avLst/>
          </a:prstGeom>
          <a:ln w="38100">
            <a:solidFill>
              <a:srgbClr val="259DA3"/>
            </a:solidFill>
          </a:ln>
        </p:spPr>
        <p:txBody>
          <a:bodyPr lIns="45719" rIns="45719"/>
          <a:lstStyle/>
          <a:p>
            <a:pPr/>
          </a:p>
        </p:txBody>
      </p:sp>
      <p:sp>
        <p:nvSpPr>
          <p:cNvPr id="182" name="Text 3"/>
          <p:cNvSpPr txBox="1"/>
          <p:nvPr/>
        </p:nvSpPr>
        <p:spPr>
          <a:xfrm>
            <a:off x="594359" y="505968"/>
            <a:ext cx="7223761" cy="3962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400">
                <a:solidFill>
                  <a:srgbClr val="2D2D2D"/>
                </a:solidFill>
                <a:latin typeface="+mn-lt"/>
                <a:ea typeface="+mn-ea"/>
                <a:cs typeface="+mn-cs"/>
                <a:sym typeface="Helvetica"/>
              </a:defRPr>
            </a:lvl1pPr>
          </a:lstStyle>
          <a:p>
            <a:pPr/>
            <a:r>
              <a:t>フルスタック運用の全体図</a:t>
            </a:r>
          </a:p>
        </p:txBody>
      </p:sp>
      <p:sp>
        <p:nvSpPr>
          <p:cNvPr id="183" name="Text 5"/>
          <p:cNvSpPr txBox="1"/>
          <p:nvPr/>
        </p:nvSpPr>
        <p:spPr>
          <a:xfrm>
            <a:off x="594359" y="1161415"/>
            <a:ext cx="1463042" cy="23749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mn-lt"/>
                <a:ea typeface="+mn-ea"/>
                <a:cs typeface="+mn-cs"/>
                <a:sym typeface="Helvetica"/>
              </a:defRPr>
            </a:lvl1pPr>
          </a:lstStyle>
          <a:p>
            <a:pPr/>
            <a:r>
              <a:t>集客</a:t>
            </a:r>
          </a:p>
        </p:txBody>
      </p:sp>
      <p:sp>
        <p:nvSpPr>
          <p:cNvPr id="184" name="Text 8"/>
          <p:cNvSpPr txBox="1"/>
          <p:nvPr/>
        </p:nvSpPr>
        <p:spPr>
          <a:xfrm>
            <a:off x="2286000" y="1161415"/>
            <a:ext cx="1463041" cy="23749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mn-lt"/>
                <a:ea typeface="+mn-ea"/>
                <a:cs typeface="+mn-cs"/>
                <a:sym typeface="Helvetica"/>
              </a:defRPr>
            </a:lvl1pPr>
          </a:lstStyle>
          <a:p>
            <a:pPr/>
            <a:r>
              <a:t>予約管理</a:t>
            </a:r>
          </a:p>
        </p:txBody>
      </p:sp>
      <p:sp>
        <p:nvSpPr>
          <p:cNvPr id="185" name="Shape 10"/>
          <p:cNvSpPr/>
          <p:nvPr/>
        </p:nvSpPr>
        <p:spPr>
          <a:xfrm>
            <a:off x="3931920" y="1097280"/>
            <a:ext cx="1371601" cy="365761"/>
          </a:xfrm>
          <a:prstGeom prst="rect">
            <a:avLst/>
          </a:prstGeom>
          <a:solidFill>
            <a:srgbClr val="259DA3"/>
          </a:solidFill>
          <a:ln w="12700">
            <a:miter lim="400000"/>
          </a:ln>
        </p:spPr>
        <p:txBody>
          <a:bodyPr lIns="45719" rIns="45719"/>
          <a:lstStyle/>
          <a:p>
            <a:pPr/>
          </a:p>
        </p:txBody>
      </p:sp>
      <p:sp>
        <p:nvSpPr>
          <p:cNvPr id="186" name="Text 11"/>
          <p:cNvSpPr txBox="1"/>
          <p:nvPr/>
        </p:nvSpPr>
        <p:spPr>
          <a:xfrm>
            <a:off x="3977640" y="1161415"/>
            <a:ext cx="1463041" cy="23749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mn-lt"/>
                <a:ea typeface="+mn-ea"/>
                <a:cs typeface="+mn-cs"/>
                <a:sym typeface="Helvetica"/>
              </a:defRPr>
            </a:lvl1pPr>
          </a:lstStyle>
          <a:p>
            <a:pPr/>
            <a:r>
              <a:t>ゲスト対応</a:t>
            </a:r>
          </a:p>
        </p:txBody>
      </p:sp>
      <p:sp>
        <p:nvSpPr>
          <p:cNvPr id="187" name="Shape 13"/>
          <p:cNvSpPr/>
          <p:nvPr/>
        </p:nvSpPr>
        <p:spPr>
          <a:xfrm>
            <a:off x="5623559" y="1097280"/>
            <a:ext cx="1371602" cy="365761"/>
          </a:xfrm>
          <a:prstGeom prst="rect">
            <a:avLst/>
          </a:prstGeom>
          <a:solidFill>
            <a:srgbClr val="259DA3"/>
          </a:solidFill>
          <a:ln w="12700">
            <a:miter lim="400000"/>
          </a:ln>
        </p:spPr>
        <p:txBody>
          <a:bodyPr lIns="45719" rIns="45719"/>
          <a:lstStyle/>
          <a:p>
            <a:pPr/>
          </a:p>
        </p:txBody>
      </p:sp>
      <p:sp>
        <p:nvSpPr>
          <p:cNvPr id="188" name="Text 14"/>
          <p:cNvSpPr txBox="1"/>
          <p:nvPr/>
        </p:nvSpPr>
        <p:spPr>
          <a:xfrm>
            <a:off x="5669279" y="1161415"/>
            <a:ext cx="1463041" cy="23749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mn-lt"/>
                <a:ea typeface="+mn-ea"/>
                <a:cs typeface="+mn-cs"/>
                <a:sym typeface="Helvetica"/>
              </a:defRPr>
            </a:lvl1pPr>
          </a:lstStyle>
          <a:p>
            <a:pPr/>
            <a:r>
              <a:t>清掃・運用</a:t>
            </a:r>
          </a:p>
        </p:txBody>
      </p:sp>
      <p:sp>
        <p:nvSpPr>
          <p:cNvPr id="189" name="Shape 16"/>
          <p:cNvSpPr/>
          <p:nvPr/>
        </p:nvSpPr>
        <p:spPr>
          <a:xfrm>
            <a:off x="7315200" y="1097280"/>
            <a:ext cx="1554481" cy="365761"/>
          </a:xfrm>
          <a:prstGeom prst="rect">
            <a:avLst/>
          </a:prstGeom>
          <a:solidFill>
            <a:srgbClr val="259DA3"/>
          </a:solidFill>
          <a:ln w="12700">
            <a:miter lim="400000"/>
          </a:ln>
        </p:spPr>
        <p:txBody>
          <a:bodyPr lIns="45719" rIns="45719"/>
          <a:lstStyle/>
          <a:p>
            <a:pPr/>
          </a:p>
        </p:txBody>
      </p:sp>
      <p:sp>
        <p:nvSpPr>
          <p:cNvPr id="190" name="Text 17"/>
          <p:cNvSpPr txBox="1"/>
          <p:nvPr/>
        </p:nvSpPr>
        <p:spPr>
          <a:xfrm>
            <a:off x="7360919" y="1161415"/>
            <a:ext cx="1463041" cy="23749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FFFFFF"/>
                </a:solidFill>
                <a:latin typeface="+mn-lt"/>
                <a:ea typeface="+mn-ea"/>
                <a:cs typeface="+mn-cs"/>
                <a:sym typeface="Helvetica"/>
              </a:defRPr>
            </a:lvl1pPr>
          </a:lstStyle>
          <a:p>
            <a:pPr/>
            <a:r>
              <a:t>収益最適化</a:t>
            </a:r>
          </a:p>
        </p:txBody>
      </p:sp>
      <p:sp>
        <p:nvSpPr>
          <p:cNvPr id="191" name="Shape 18"/>
          <p:cNvSpPr/>
          <p:nvPr/>
        </p:nvSpPr>
        <p:spPr>
          <a:xfrm>
            <a:off x="548640" y="1600200"/>
            <a:ext cx="1554481" cy="914400"/>
          </a:xfrm>
          <a:prstGeom prst="rect">
            <a:avLst/>
          </a:prstGeom>
          <a:solidFill>
            <a:srgbClr val="E5F4F5"/>
          </a:solidFill>
          <a:ln w="12700">
            <a:miter lim="400000"/>
          </a:ln>
          <a:effectLst>
            <a:outerShdw sx="100000" sy="100000" kx="0" ky="0" algn="b" rotWithShape="0" blurRad="50800" dist="19050" dir="8100000">
              <a:srgbClr val="000000">
                <a:alpha val="6000"/>
              </a:srgbClr>
            </a:outerShdw>
          </a:effectLst>
        </p:spPr>
        <p:txBody>
          <a:bodyPr lIns="45719" rIns="45719"/>
          <a:lstStyle/>
          <a:p>
            <a:pPr/>
          </a:p>
        </p:txBody>
      </p:sp>
      <p:sp>
        <p:nvSpPr>
          <p:cNvPr id="192" name="Text 19"/>
          <p:cNvSpPr txBox="1"/>
          <p:nvPr/>
        </p:nvSpPr>
        <p:spPr>
          <a:xfrm>
            <a:off x="640079" y="1604264"/>
            <a:ext cx="1371602" cy="1930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800">
                <a:solidFill>
                  <a:srgbClr val="259DA3"/>
                </a:solidFill>
                <a:latin typeface="+mn-lt"/>
                <a:ea typeface="+mn-ea"/>
                <a:cs typeface="+mn-cs"/>
                <a:sym typeface="Helvetica"/>
              </a:defRPr>
            </a:lvl1pPr>
          </a:lstStyle>
          <a:p>
            <a:pPr/>
            <a:r>
              <a:t>独自システム</a:t>
            </a:r>
          </a:p>
        </p:txBody>
      </p:sp>
      <p:sp>
        <p:nvSpPr>
          <p:cNvPr id="193" name="Text 20"/>
          <p:cNvSpPr txBox="1"/>
          <p:nvPr/>
        </p:nvSpPr>
        <p:spPr>
          <a:xfrm>
            <a:off x="640079" y="1863089"/>
            <a:ext cx="1371602" cy="48006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lnSpc>
                <a:spcPct val="130000"/>
              </a:lnSpc>
              <a:defRPr sz="1000">
                <a:solidFill>
                  <a:srgbClr val="2D2D2D"/>
                </a:solidFill>
                <a:latin typeface="+mn-lt"/>
                <a:ea typeface="+mn-ea"/>
                <a:cs typeface="+mn-cs"/>
                <a:sym typeface="Helvetica"/>
              </a:defRPr>
            </a:pPr>
            <a:r>
              <a:t>OTA自動掲載</a:t>
            </a:r>
          </a:p>
          <a:p>
            <a:pPr algn="ctr">
              <a:lnSpc>
                <a:spcPct val="130000"/>
              </a:lnSpc>
              <a:defRPr sz="1000">
                <a:solidFill>
                  <a:srgbClr val="2D2D2D"/>
                </a:solidFill>
                <a:latin typeface="+mn-lt"/>
                <a:ea typeface="+mn-ea"/>
                <a:cs typeface="+mn-cs"/>
                <a:sym typeface="Helvetica"/>
              </a:defRPr>
            </a:pPr>
            <a:r>
              <a:t>最適化</a:t>
            </a:r>
          </a:p>
        </p:txBody>
      </p:sp>
      <p:sp>
        <p:nvSpPr>
          <p:cNvPr id="194" name="Shape 21"/>
          <p:cNvSpPr/>
          <p:nvPr/>
        </p:nvSpPr>
        <p:spPr>
          <a:xfrm>
            <a:off x="2240279" y="1600200"/>
            <a:ext cx="1554481" cy="914400"/>
          </a:xfrm>
          <a:prstGeom prst="rect">
            <a:avLst/>
          </a:prstGeom>
          <a:solidFill>
            <a:srgbClr val="E5F4F5"/>
          </a:solidFill>
          <a:ln w="12700">
            <a:miter lim="400000"/>
          </a:ln>
          <a:effectLst>
            <a:outerShdw sx="100000" sy="100000" kx="0" ky="0" algn="b" rotWithShape="0" blurRad="50800" dist="19050" dir="8100000">
              <a:srgbClr val="000000">
                <a:alpha val="6000"/>
              </a:srgbClr>
            </a:outerShdw>
          </a:effectLst>
        </p:spPr>
        <p:txBody>
          <a:bodyPr lIns="45719" rIns="45719"/>
          <a:lstStyle/>
          <a:p>
            <a:pPr/>
          </a:p>
        </p:txBody>
      </p:sp>
      <p:sp>
        <p:nvSpPr>
          <p:cNvPr id="195" name="Text 22"/>
          <p:cNvSpPr txBox="1"/>
          <p:nvPr/>
        </p:nvSpPr>
        <p:spPr>
          <a:xfrm>
            <a:off x="2331719" y="1879599"/>
            <a:ext cx="1371601" cy="447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lnSpc>
                <a:spcPct val="130000"/>
              </a:lnSpc>
              <a:defRPr sz="1000">
                <a:solidFill>
                  <a:srgbClr val="2D2D2D"/>
                </a:solidFill>
                <a:latin typeface="+mn-lt"/>
                <a:ea typeface="+mn-ea"/>
                <a:cs typeface="+mn-cs"/>
                <a:sym typeface="Helvetica"/>
              </a:defRPr>
            </a:pPr>
            <a:r>
              <a:t>予約一元管理</a:t>
            </a:r>
          </a:p>
          <a:p>
            <a:pPr algn="ctr">
              <a:lnSpc>
                <a:spcPct val="130000"/>
              </a:lnSpc>
              <a:defRPr sz="1000">
                <a:solidFill>
                  <a:srgbClr val="2D2D2D"/>
                </a:solidFill>
                <a:latin typeface="+mn-lt"/>
                <a:ea typeface="+mn-ea"/>
                <a:cs typeface="+mn-cs"/>
                <a:sym typeface="Helvetica"/>
              </a:defRPr>
            </a:pPr>
            <a:r>
              <a:t>カレンダー同期</a:t>
            </a:r>
          </a:p>
        </p:txBody>
      </p:sp>
      <p:sp>
        <p:nvSpPr>
          <p:cNvPr id="196" name="Shape 23"/>
          <p:cNvSpPr/>
          <p:nvPr/>
        </p:nvSpPr>
        <p:spPr>
          <a:xfrm>
            <a:off x="3931920" y="1600200"/>
            <a:ext cx="1554481" cy="914400"/>
          </a:xfrm>
          <a:prstGeom prst="rect">
            <a:avLst/>
          </a:prstGeom>
          <a:solidFill>
            <a:srgbClr val="E5F4F5"/>
          </a:solidFill>
          <a:ln w="12700">
            <a:miter lim="400000"/>
          </a:ln>
          <a:effectLst>
            <a:outerShdw sx="100000" sy="100000" kx="0" ky="0" algn="b" rotWithShape="0" blurRad="50800" dist="19050" dir="8100000">
              <a:srgbClr val="000000">
                <a:alpha val="6000"/>
              </a:srgbClr>
            </a:outerShdw>
          </a:effectLst>
        </p:spPr>
        <p:txBody>
          <a:bodyPr lIns="45719" rIns="45719"/>
          <a:lstStyle/>
          <a:p>
            <a:pPr/>
          </a:p>
        </p:txBody>
      </p:sp>
      <p:sp>
        <p:nvSpPr>
          <p:cNvPr id="197" name="Text 24"/>
          <p:cNvSpPr txBox="1"/>
          <p:nvPr/>
        </p:nvSpPr>
        <p:spPr>
          <a:xfrm>
            <a:off x="4023360" y="1879599"/>
            <a:ext cx="1371601" cy="447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lnSpc>
                <a:spcPct val="130000"/>
              </a:lnSpc>
              <a:defRPr sz="1000">
                <a:solidFill>
                  <a:srgbClr val="2D2D2D"/>
                </a:solidFill>
                <a:latin typeface="+mn-lt"/>
                <a:ea typeface="+mn-ea"/>
                <a:cs typeface="+mn-cs"/>
                <a:sym typeface="Helvetica"/>
              </a:defRPr>
            </a:pPr>
            <a:r>
              <a:t>多言語チャット</a:t>
            </a:r>
          </a:p>
          <a:p>
            <a:pPr algn="ctr">
              <a:lnSpc>
                <a:spcPct val="130000"/>
              </a:lnSpc>
              <a:defRPr sz="1000">
                <a:solidFill>
                  <a:srgbClr val="2D2D2D"/>
                </a:solidFill>
                <a:latin typeface="+mn-lt"/>
                <a:ea typeface="+mn-ea"/>
                <a:cs typeface="+mn-cs"/>
                <a:sym typeface="Helvetica"/>
              </a:defRPr>
            </a:pPr>
            <a:r>
              <a:t>自動応答</a:t>
            </a:r>
          </a:p>
        </p:txBody>
      </p:sp>
      <p:sp>
        <p:nvSpPr>
          <p:cNvPr id="198" name="Shape 25"/>
          <p:cNvSpPr/>
          <p:nvPr/>
        </p:nvSpPr>
        <p:spPr>
          <a:xfrm>
            <a:off x="5623559" y="1600200"/>
            <a:ext cx="1554481" cy="914400"/>
          </a:xfrm>
          <a:prstGeom prst="rect">
            <a:avLst/>
          </a:prstGeom>
          <a:solidFill>
            <a:srgbClr val="E5F4F5"/>
          </a:solidFill>
          <a:ln w="12700">
            <a:miter lim="400000"/>
          </a:ln>
          <a:effectLst>
            <a:outerShdw sx="100000" sy="100000" kx="0" ky="0" algn="b" rotWithShape="0" blurRad="50800" dist="19050" dir="8100000">
              <a:srgbClr val="000000">
                <a:alpha val="6000"/>
              </a:srgbClr>
            </a:outerShdw>
          </a:effectLst>
        </p:spPr>
        <p:txBody>
          <a:bodyPr lIns="45719" rIns="45719"/>
          <a:lstStyle/>
          <a:p>
            <a:pPr/>
          </a:p>
        </p:txBody>
      </p:sp>
      <p:sp>
        <p:nvSpPr>
          <p:cNvPr id="199" name="Text 26"/>
          <p:cNvSpPr txBox="1"/>
          <p:nvPr/>
        </p:nvSpPr>
        <p:spPr>
          <a:xfrm>
            <a:off x="5715000" y="1879599"/>
            <a:ext cx="1371601" cy="447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lnSpc>
                <a:spcPct val="130000"/>
              </a:lnSpc>
              <a:defRPr sz="1000">
                <a:solidFill>
                  <a:srgbClr val="2D2D2D"/>
                </a:solidFill>
                <a:latin typeface="+mn-lt"/>
                <a:ea typeface="+mn-ea"/>
                <a:cs typeface="+mn-cs"/>
                <a:sym typeface="Helvetica"/>
              </a:defRPr>
            </a:pPr>
            <a:r>
              <a:t>清掃スケジュール</a:t>
            </a:r>
          </a:p>
          <a:p>
            <a:pPr algn="ctr">
              <a:lnSpc>
                <a:spcPct val="130000"/>
              </a:lnSpc>
              <a:defRPr sz="1000">
                <a:solidFill>
                  <a:srgbClr val="2D2D2D"/>
                </a:solidFill>
                <a:latin typeface="+mn-lt"/>
                <a:ea typeface="+mn-ea"/>
                <a:cs typeface="+mn-cs"/>
                <a:sym typeface="Helvetica"/>
              </a:defRPr>
            </a:pPr>
            <a:r>
              <a:t>自動手配</a:t>
            </a:r>
          </a:p>
        </p:txBody>
      </p:sp>
      <p:sp>
        <p:nvSpPr>
          <p:cNvPr id="200" name="Shape 27"/>
          <p:cNvSpPr/>
          <p:nvPr/>
        </p:nvSpPr>
        <p:spPr>
          <a:xfrm>
            <a:off x="7315200" y="1600200"/>
            <a:ext cx="1554481" cy="914400"/>
          </a:xfrm>
          <a:prstGeom prst="rect">
            <a:avLst/>
          </a:prstGeom>
          <a:solidFill>
            <a:srgbClr val="E5F4F5"/>
          </a:solidFill>
          <a:ln w="12700">
            <a:miter lim="400000"/>
          </a:ln>
          <a:effectLst>
            <a:outerShdw sx="100000" sy="100000" kx="0" ky="0" algn="b" rotWithShape="0" blurRad="50800" dist="19050" dir="8100000">
              <a:srgbClr val="000000">
                <a:alpha val="6000"/>
              </a:srgbClr>
            </a:outerShdw>
          </a:effectLst>
        </p:spPr>
        <p:txBody>
          <a:bodyPr lIns="45719" rIns="45719"/>
          <a:lstStyle/>
          <a:p>
            <a:pPr/>
          </a:p>
        </p:txBody>
      </p:sp>
      <p:sp>
        <p:nvSpPr>
          <p:cNvPr id="201" name="Text 28"/>
          <p:cNvSpPr txBox="1"/>
          <p:nvPr/>
        </p:nvSpPr>
        <p:spPr>
          <a:xfrm>
            <a:off x="7406639" y="1879599"/>
            <a:ext cx="1371601" cy="447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lnSpc>
                <a:spcPct val="130000"/>
              </a:lnSpc>
              <a:defRPr sz="1000">
                <a:solidFill>
                  <a:srgbClr val="2D2D2D"/>
                </a:solidFill>
                <a:latin typeface="+mn-lt"/>
                <a:ea typeface="+mn-ea"/>
                <a:cs typeface="+mn-cs"/>
                <a:sym typeface="Helvetica"/>
              </a:defRPr>
            </a:pPr>
            <a:r>
              <a:t>ダイナミック</a:t>
            </a:r>
          </a:p>
          <a:p>
            <a:pPr algn="ctr">
              <a:lnSpc>
                <a:spcPct val="130000"/>
              </a:lnSpc>
              <a:defRPr sz="1000">
                <a:solidFill>
                  <a:srgbClr val="2D2D2D"/>
                </a:solidFill>
                <a:latin typeface="+mn-lt"/>
                <a:ea typeface="+mn-ea"/>
                <a:cs typeface="+mn-cs"/>
                <a:sym typeface="Helvetica"/>
              </a:defRPr>
            </a:pPr>
            <a:r>
              <a:t>プライシング</a:t>
            </a:r>
          </a:p>
        </p:txBody>
      </p:sp>
      <p:sp>
        <p:nvSpPr>
          <p:cNvPr id="202" name="Shape 29"/>
          <p:cNvSpPr/>
          <p:nvPr/>
        </p:nvSpPr>
        <p:spPr>
          <a:xfrm>
            <a:off x="548640" y="2651760"/>
            <a:ext cx="1554481" cy="914401"/>
          </a:xfrm>
          <a:prstGeom prst="rect">
            <a:avLst/>
          </a:prstGeom>
          <a:solidFill>
            <a:srgbClr val="F7F8FA"/>
          </a:solidFill>
          <a:ln w="12700">
            <a:miter lim="400000"/>
          </a:ln>
          <a:effectLst>
            <a:outerShdw sx="100000" sy="100000" kx="0" ky="0" algn="b" rotWithShape="0" blurRad="50800" dist="19050" dir="8100000">
              <a:srgbClr val="000000">
                <a:alpha val="6000"/>
              </a:srgbClr>
            </a:outerShdw>
          </a:effectLst>
        </p:spPr>
        <p:txBody>
          <a:bodyPr lIns="45719" rIns="45719"/>
          <a:lstStyle/>
          <a:p>
            <a:pPr/>
          </a:p>
        </p:txBody>
      </p:sp>
      <p:sp>
        <p:nvSpPr>
          <p:cNvPr id="203" name="Text 30"/>
          <p:cNvSpPr txBox="1"/>
          <p:nvPr/>
        </p:nvSpPr>
        <p:spPr>
          <a:xfrm>
            <a:off x="640079" y="2655824"/>
            <a:ext cx="1371602" cy="1930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800">
                <a:solidFill>
                  <a:srgbClr val="259DA3"/>
                </a:solidFill>
                <a:latin typeface="+mn-lt"/>
                <a:ea typeface="+mn-ea"/>
                <a:cs typeface="+mn-cs"/>
                <a:sym typeface="Helvetica"/>
              </a:defRPr>
            </a:lvl1pPr>
          </a:lstStyle>
          <a:p>
            <a:pPr/>
            <a:r>
              <a:t>専任チーム</a:t>
            </a:r>
          </a:p>
        </p:txBody>
      </p:sp>
      <p:sp>
        <p:nvSpPr>
          <p:cNvPr id="204" name="Text 31"/>
          <p:cNvSpPr txBox="1"/>
          <p:nvPr/>
        </p:nvSpPr>
        <p:spPr>
          <a:xfrm>
            <a:off x="640079" y="2931160"/>
            <a:ext cx="1371602" cy="4470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lnSpc>
                <a:spcPct val="130000"/>
              </a:lnSpc>
              <a:defRPr sz="1000">
                <a:solidFill>
                  <a:srgbClr val="2D2D2D"/>
                </a:solidFill>
                <a:latin typeface="+mn-lt"/>
                <a:ea typeface="+mn-ea"/>
                <a:cs typeface="+mn-cs"/>
                <a:sym typeface="Helvetica"/>
              </a:defRPr>
            </a:pPr>
            <a:r>
              <a:t>写真撮影</a:t>
            </a:r>
          </a:p>
          <a:p>
            <a:pPr algn="ctr">
              <a:lnSpc>
                <a:spcPct val="130000"/>
              </a:lnSpc>
              <a:defRPr sz="1000">
                <a:solidFill>
                  <a:srgbClr val="2D2D2D"/>
                </a:solidFill>
                <a:latin typeface="+mn-lt"/>
                <a:ea typeface="+mn-ea"/>
                <a:cs typeface="+mn-cs"/>
                <a:sym typeface="Helvetica"/>
              </a:defRPr>
            </a:pPr>
            <a:r>
              <a:t>リスティング作成</a:t>
            </a:r>
          </a:p>
        </p:txBody>
      </p:sp>
      <p:sp>
        <p:nvSpPr>
          <p:cNvPr id="205" name="Shape 32"/>
          <p:cNvSpPr/>
          <p:nvPr/>
        </p:nvSpPr>
        <p:spPr>
          <a:xfrm>
            <a:off x="2240279" y="2651760"/>
            <a:ext cx="1554481" cy="914401"/>
          </a:xfrm>
          <a:prstGeom prst="rect">
            <a:avLst/>
          </a:prstGeom>
          <a:solidFill>
            <a:srgbClr val="F7F8FA"/>
          </a:solidFill>
          <a:ln w="12700">
            <a:miter lim="400000"/>
          </a:ln>
          <a:effectLst>
            <a:outerShdw sx="100000" sy="100000" kx="0" ky="0" algn="b" rotWithShape="0" blurRad="50800" dist="19050" dir="8100000">
              <a:srgbClr val="000000">
                <a:alpha val="6000"/>
              </a:srgbClr>
            </a:outerShdw>
          </a:effectLst>
        </p:spPr>
        <p:txBody>
          <a:bodyPr lIns="45719" rIns="45719"/>
          <a:lstStyle/>
          <a:p>
            <a:pPr/>
          </a:p>
        </p:txBody>
      </p:sp>
      <p:sp>
        <p:nvSpPr>
          <p:cNvPr id="206" name="Text 33"/>
          <p:cNvSpPr txBox="1"/>
          <p:nvPr/>
        </p:nvSpPr>
        <p:spPr>
          <a:xfrm>
            <a:off x="2331719" y="2931160"/>
            <a:ext cx="1371601" cy="4470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lnSpc>
                <a:spcPct val="130000"/>
              </a:lnSpc>
              <a:defRPr sz="1000">
                <a:solidFill>
                  <a:srgbClr val="2D2D2D"/>
                </a:solidFill>
                <a:latin typeface="+mn-lt"/>
                <a:ea typeface="+mn-ea"/>
                <a:cs typeface="+mn-cs"/>
                <a:sym typeface="Helvetica"/>
              </a:defRPr>
            </a:pPr>
            <a:r>
              <a:t>ダブルブッキング</a:t>
            </a:r>
          </a:p>
          <a:p>
            <a:pPr algn="ctr">
              <a:lnSpc>
                <a:spcPct val="130000"/>
              </a:lnSpc>
              <a:defRPr sz="1000">
                <a:solidFill>
                  <a:srgbClr val="2D2D2D"/>
                </a:solidFill>
                <a:latin typeface="+mn-lt"/>
                <a:ea typeface="+mn-ea"/>
                <a:cs typeface="+mn-cs"/>
                <a:sym typeface="Helvetica"/>
              </a:defRPr>
            </a:pPr>
            <a:r>
              <a:t>防止・調整</a:t>
            </a:r>
          </a:p>
        </p:txBody>
      </p:sp>
      <p:sp>
        <p:nvSpPr>
          <p:cNvPr id="207" name="Shape 34"/>
          <p:cNvSpPr/>
          <p:nvPr/>
        </p:nvSpPr>
        <p:spPr>
          <a:xfrm>
            <a:off x="3931920" y="2651760"/>
            <a:ext cx="1554481" cy="914401"/>
          </a:xfrm>
          <a:prstGeom prst="rect">
            <a:avLst/>
          </a:prstGeom>
          <a:solidFill>
            <a:srgbClr val="F7F8FA"/>
          </a:solidFill>
          <a:ln w="12700">
            <a:miter lim="400000"/>
          </a:ln>
          <a:effectLst>
            <a:outerShdw sx="100000" sy="100000" kx="0" ky="0" algn="b" rotWithShape="0" blurRad="50800" dist="19050" dir="8100000">
              <a:srgbClr val="000000">
                <a:alpha val="6000"/>
              </a:srgbClr>
            </a:outerShdw>
          </a:effectLst>
        </p:spPr>
        <p:txBody>
          <a:bodyPr lIns="45719" rIns="45719"/>
          <a:lstStyle/>
          <a:p>
            <a:pPr/>
          </a:p>
        </p:txBody>
      </p:sp>
      <p:sp>
        <p:nvSpPr>
          <p:cNvPr id="208" name="Text 35"/>
          <p:cNvSpPr txBox="1"/>
          <p:nvPr/>
        </p:nvSpPr>
        <p:spPr>
          <a:xfrm>
            <a:off x="4023360" y="2914649"/>
            <a:ext cx="1371601" cy="48006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lnSpc>
                <a:spcPct val="130000"/>
              </a:lnSpc>
              <a:defRPr sz="1000">
                <a:solidFill>
                  <a:srgbClr val="2D2D2D"/>
                </a:solidFill>
                <a:latin typeface="+mn-lt"/>
                <a:ea typeface="+mn-ea"/>
                <a:cs typeface="+mn-cs"/>
                <a:sym typeface="Helvetica"/>
              </a:defRPr>
            </a:pPr>
            <a:r>
              <a:t>24h有人対応</a:t>
            </a:r>
          </a:p>
          <a:p>
            <a:pPr algn="ctr">
              <a:lnSpc>
                <a:spcPct val="130000"/>
              </a:lnSpc>
              <a:defRPr sz="1000">
                <a:solidFill>
                  <a:srgbClr val="2D2D2D"/>
                </a:solidFill>
                <a:latin typeface="+mn-lt"/>
                <a:ea typeface="+mn-ea"/>
                <a:cs typeface="+mn-cs"/>
                <a:sym typeface="Helvetica"/>
              </a:defRPr>
            </a:pPr>
            <a:r>
              <a:t>トラブル解決</a:t>
            </a:r>
          </a:p>
        </p:txBody>
      </p:sp>
      <p:sp>
        <p:nvSpPr>
          <p:cNvPr id="209" name="Shape 36"/>
          <p:cNvSpPr/>
          <p:nvPr/>
        </p:nvSpPr>
        <p:spPr>
          <a:xfrm>
            <a:off x="5623559" y="2651760"/>
            <a:ext cx="1554481" cy="914401"/>
          </a:xfrm>
          <a:prstGeom prst="rect">
            <a:avLst/>
          </a:prstGeom>
          <a:solidFill>
            <a:srgbClr val="F7F8FA"/>
          </a:solidFill>
          <a:ln w="12700">
            <a:miter lim="400000"/>
          </a:ln>
          <a:effectLst>
            <a:outerShdw sx="100000" sy="100000" kx="0" ky="0" algn="b" rotWithShape="0" blurRad="50800" dist="19050" dir="8100000">
              <a:srgbClr val="000000">
                <a:alpha val="6000"/>
              </a:srgbClr>
            </a:outerShdw>
          </a:effectLst>
        </p:spPr>
        <p:txBody>
          <a:bodyPr lIns="45719" rIns="45719"/>
          <a:lstStyle/>
          <a:p>
            <a:pPr/>
          </a:p>
        </p:txBody>
      </p:sp>
      <p:sp>
        <p:nvSpPr>
          <p:cNvPr id="210" name="Text 37"/>
          <p:cNvSpPr txBox="1"/>
          <p:nvPr/>
        </p:nvSpPr>
        <p:spPr>
          <a:xfrm>
            <a:off x="5715000" y="2931160"/>
            <a:ext cx="1371601" cy="4470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lnSpc>
                <a:spcPct val="130000"/>
              </a:lnSpc>
              <a:defRPr sz="1000">
                <a:solidFill>
                  <a:srgbClr val="2D2D2D"/>
                </a:solidFill>
                <a:latin typeface="+mn-lt"/>
                <a:ea typeface="+mn-ea"/>
                <a:cs typeface="+mn-cs"/>
                <a:sym typeface="Helvetica"/>
              </a:defRPr>
            </a:pPr>
            <a:r>
              <a:t>品質チェック</a:t>
            </a:r>
          </a:p>
          <a:p>
            <a:pPr algn="ctr">
              <a:lnSpc>
                <a:spcPct val="130000"/>
              </a:lnSpc>
              <a:defRPr sz="1000">
                <a:solidFill>
                  <a:srgbClr val="2D2D2D"/>
                </a:solidFill>
                <a:latin typeface="+mn-lt"/>
                <a:ea typeface="+mn-ea"/>
                <a:cs typeface="+mn-cs"/>
                <a:sym typeface="Helvetica"/>
              </a:defRPr>
            </a:pPr>
            <a:r>
              <a:t>写真付き報告</a:t>
            </a:r>
          </a:p>
        </p:txBody>
      </p:sp>
      <p:sp>
        <p:nvSpPr>
          <p:cNvPr id="211" name="Shape 38"/>
          <p:cNvSpPr/>
          <p:nvPr/>
        </p:nvSpPr>
        <p:spPr>
          <a:xfrm>
            <a:off x="7315200" y="2651760"/>
            <a:ext cx="1554481" cy="914401"/>
          </a:xfrm>
          <a:prstGeom prst="rect">
            <a:avLst/>
          </a:prstGeom>
          <a:solidFill>
            <a:srgbClr val="F7F8FA"/>
          </a:solidFill>
          <a:ln w="12700">
            <a:miter lim="400000"/>
          </a:ln>
          <a:effectLst>
            <a:outerShdw sx="100000" sy="100000" kx="0" ky="0" algn="b" rotWithShape="0" blurRad="50800" dist="19050" dir="8100000">
              <a:srgbClr val="000000">
                <a:alpha val="6000"/>
              </a:srgbClr>
            </a:outerShdw>
          </a:effectLst>
        </p:spPr>
        <p:txBody>
          <a:bodyPr lIns="45719" rIns="45719"/>
          <a:lstStyle/>
          <a:p>
            <a:pPr/>
          </a:p>
        </p:txBody>
      </p:sp>
      <p:sp>
        <p:nvSpPr>
          <p:cNvPr id="212" name="Text 39"/>
          <p:cNvSpPr txBox="1"/>
          <p:nvPr/>
        </p:nvSpPr>
        <p:spPr>
          <a:xfrm>
            <a:off x="7406639" y="2931160"/>
            <a:ext cx="1371601" cy="4470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lnSpc>
                <a:spcPct val="130000"/>
              </a:lnSpc>
              <a:defRPr sz="1000">
                <a:solidFill>
                  <a:srgbClr val="2D2D2D"/>
                </a:solidFill>
                <a:latin typeface="+mn-lt"/>
                <a:ea typeface="+mn-ea"/>
                <a:cs typeface="+mn-cs"/>
                <a:sym typeface="Helvetica"/>
              </a:defRPr>
            </a:pPr>
            <a:r>
              <a:t>月次レポート</a:t>
            </a:r>
          </a:p>
          <a:p>
            <a:pPr algn="ctr">
              <a:lnSpc>
                <a:spcPct val="130000"/>
              </a:lnSpc>
              <a:defRPr sz="1000">
                <a:solidFill>
                  <a:srgbClr val="2D2D2D"/>
                </a:solidFill>
                <a:latin typeface="+mn-lt"/>
                <a:ea typeface="+mn-ea"/>
                <a:cs typeface="+mn-cs"/>
                <a:sym typeface="Helvetica"/>
              </a:defRPr>
            </a:pPr>
            <a:r>
              <a:t>改善提案</a:t>
            </a:r>
          </a:p>
        </p:txBody>
      </p:sp>
      <p:sp>
        <p:nvSpPr>
          <p:cNvPr id="213" name="Shape 40"/>
          <p:cNvSpPr/>
          <p:nvPr/>
        </p:nvSpPr>
        <p:spPr>
          <a:xfrm>
            <a:off x="552771" y="3703320"/>
            <a:ext cx="8312779" cy="914401"/>
          </a:xfrm>
          <a:prstGeom prst="rect">
            <a:avLst/>
          </a:prstGeom>
          <a:solidFill>
            <a:srgbClr val="E3FFF5"/>
          </a:solidFill>
          <a:ln w="12700">
            <a:miter lim="400000"/>
          </a:ln>
        </p:spPr>
        <p:txBody>
          <a:bodyPr lIns="45719" rIns="45719"/>
          <a:lstStyle/>
          <a:p>
            <a:pPr/>
          </a:p>
        </p:txBody>
      </p:sp>
      <p:sp>
        <p:nvSpPr>
          <p:cNvPr id="214" name="Text 41"/>
          <p:cNvSpPr txBox="1"/>
          <p:nvPr/>
        </p:nvSpPr>
        <p:spPr>
          <a:xfrm>
            <a:off x="640079" y="3707384"/>
            <a:ext cx="1371602" cy="193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800">
                <a:solidFill>
                  <a:srgbClr val="259DA3"/>
                </a:solidFill>
                <a:latin typeface="+mn-lt"/>
                <a:ea typeface="+mn-ea"/>
                <a:cs typeface="+mn-cs"/>
                <a:sym typeface="Helvetica"/>
              </a:defRPr>
            </a:lvl1pPr>
          </a:lstStyle>
          <a:p>
            <a:pPr/>
            <a:r>
              <a:t>オーナー様</a:t>
            </a:r>
          </a:p>
        </p:txBody>
      </p:sp>
      <p:sp>
        <p:nvSpPr>
          <p:cNvPr id="215" name="Text 42"/>
          <p:cNvSpPr txBox="1"/>
          <p:nvPr/>
        </p:nvSpPr>
        <p:spPr>
          <a:xfrm>
            <a:off x="2470046" y="3987800"/>
            <a:ext cx="4478229" cy="345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lnSpc>
                <a:spcPct val="130000"/>
              </a:lnSpc>
              <a:defRPr b="1" sz="1700">
                <a:solidFill>
                  <a:srgbClr val="259DA3"/>
                </a:solidFill>
                <a:latin typeface="+mn-lt"/>
                <a:ea typeface="+mn-ea"/>
                <a:cs typeface="+mn-cs"/>
                <a:sym typeface="Helvetica"/>
              </a:defRPr>
            </a:lvl1pPr>
          </a:lstStyle>
          <a:p>
            <a:pPr/>
            <a:r>
              <a:t>何もしなくてOK</a:t>
            </a:r>
          </a:p>
        </p:txBody>
      </p:sp>
      <p:sp>
        <p:nvSpPr>
          <p:cNvPr id="216" name="Text 51"/>
          <p:cNvSpPr txBox="1"/>
          <p:nvPr/>
        </p:nvSpPr>
        <p:spPr>
          <a:xfrm>
            <a:off x="594360" y="4590034"/>
            <a:ext cx="795527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100">
                <a:solidFill>
                  <a:srgbClr val="259DA3"/>
                </a:solidFill>
                <a:latin typeface="+mn-lt"/>
                <a:ea typeface="+mn-ea"/>
                <a:cs typeface="+mn-cs"/>
                <a:sym typeface="Helvetica"/>
              </a:defRPr>
            </a:lvl1pPr>
          </a:lstStyle>
          <a:p>
            <a:pPr/>
            <a:r>
              <a:t>集客から収益最適化まで、すべてのフェーズを独自システム × 専任チームでカバー。オーナー様の負担はゼロ。</a:t>
            </a:r>
          </a:p>
        </p:txBody>
      </p:sp>
      <p:sp>
        <p:nvSpPr>
          <p:cNvPr id="217" name="三角形"/>
          <p:cNvSpPr/>
          <p:nvPr/>
        </p:nvSpPr>
        <p:spPr>
          <a:xfrm rot="5400000">
            <a:off x="3496952" y="1108543"/>
            <a:ext cx="473184" cy="34323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lnTo>
                  <a:pt x="21600" y="21600"/>
                </a:lnTo>
                <a:lnTo>
                  <a:pt x="0" y="21600"/>
                </a:lnTo>
                <a:close/>
              </a:path>
            </a:pathLst>
          </a:custGeom>
          <a:solidFill>
            <a:srgbClr val="259DA3"/>
          </a:solidFill>
          <a:ln w="12700">
            <a:miter lim="400000"/>
          </a:ln>
        </p:spPr>
        <p:txBody>
          <a:bodyPr lIns="45719" rIns="45719" anchor="ctr"/>
          <a:lstStyle/>
          <a:p>
            <a:pPr/>
          </a:p>
        </p:txBody>
      </p:sp>
      <p:sp>
        <p:nvSpPr>
          <p:cNvPr id="218" name="三角形"/>
          <p:cNvSpPr/>
          <p:nvPr/>
        </p:nvSpPr>
        <p:spPr>
          <a:xfrm rot="5400000">
            <a:off x="1813259" y="1108407"/>
            <a:ext cx="473184" cy="3432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lnTo>
                  <a:pt x="21600" y="21600"/>
                </a:lnTo>
                <a:lnTo>
                  <a:pt x="0" y="21600"/>
                </a:lnTo>
                <a:close/>
              </a:path>
            </a:pathLst>
          </a:custGeom>
          <a:solidFill>
            <a:srgbClr val="259DA3"/>
          </a:solidFill>
          <a:ln w="12700">
            <a:miter lim="400000"/>
          </a:ln>
        </p:spPr>
        <p:txBody>
          <a:bodyPr lIns="45719" rIns="45719" anchor="ctr"/>
          <a:lstStyle/>
          <a:p>
            <a:pPr/>
          </a:p>
        </p:txBody>
      </p:sp>
      <p:sp>
        <p:nvSpPr>
          <p:cNvPr id="219" name="三角形"/>
          <p:cNvSpPr/>
          <p:nvPr/>
        </p:nvSpPr>
        <p:spPr>
          <a:xfrm rot="5400000">
            <a:off x="5180645" y="1108407"/>
            <a:ext cx="473184" cy="3432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lnTo>
                  <a:pt x="21600" y="21600"/>
                </a:lnTo>
                <a:lnTo>
                  <a:pt x="0" y="21600"/>
                </a:lnTo>
                <a:close/>
              </a:path>
            </a:pathLst>
          </a:custGeom>
          <a:solidFill>
            <a:srgbClr val="259DA3"/>
          </a:solidFill>
          <a:ln w="12700">
            <a:miter lim="400000"/>
          </a:ln>
        </p:spPr>
        <p:txBody>
          <a:bodyPr lIns="45719" rIns="45719" anchor="ctr"/>
          <a:lstStyle/>
          <a:p>
            <a:pPr/>
          </a:p>
        </p:txBody>
      </p:sp>
      <p:sp>
        <p:nvSpPr>
          <p:cNvPr id="220" name="三角形"/>
          <p:cNvSpPr/>
          <p:nvPr/>
        </p:nvSpPr>
        <p:spPr>
          <a:xfrm rot="5400000">
            <a:off x="6864338" y="1104343"/>
            <a:ext cx="473184" cy="3432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lnTo>
                  <a:pt x="21600" y="21600"/>
                </a:lnTo>
                <a:lnTo>
                  <a:pt x="0" y="21600"/>
                </a:lnTo>
                <a:close/>
              </a:path>
            </a:pathLst>
          </a:custGeom>
          <a:solidFill>
            <a:srgbClr val="259DA3"/>
          </a:solidFill>
          <a:ln w="12700">
            <a:miter lim="400000"/>
          </a:ln>
        </p:spPr>
        <p:txBody>
          <a:bodyPr lIns="45719" rIns="45719" anchor="ctr"/>
          <a:lstStyle/>
          <a:p>
            <a:pP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22" name="スクリーンショット 2026-04-06 13.01.18.png" descr="スクリーンショット 2026-04-06 13.01.18.png"/>
          <p:cNvPicPr>
            <a:picLocks noChangeAspect="1"/>
          </p:cNvPicPr>
          <p:nvPr/>
        </p:nvPicPr>
        <p:blipFill>
          <a:blip r:embed="rId2">
            <a:extLst/>
          </a:blip>
          <a:stretch>
            <a:fillRect/>
          </a:stretch>
        </p:blipFill>
        <p:spPr>
          <a:xfrm>
            <a:off x="3690327" y="1097089"/>
            <a:ext cx="5240232" cy="3536570"/>
          </a:xfrm>
          <a:prstGeom prst="rect">
            <a:avLst/>
          </a:prstGeom>
          <a:ln w="12700">
            <a:miter lim="400000"/>
          </a:ln>
        </p:spPr>
      </p:pic>
      <p:sp>
        <p:nvSpPr>
          <p:cNvPr id="223" name="Shape 2"/>
          <p:cNvSpPr/>
          <p:nvPr/>
        </p:nvSpPr>
        <p:spPr>
          <a:xfrm>
            <a:off x="548640" y="411480"/>
            <a:ext cx="1097281" cy="1"/>
          </a:xfrm>
          <a:prstGeom prst="line">
            <a:avLst/>
          </a:prstGeom>
          <a:ln w="38100">
            <a:solidFill>
              <a:srgbClr val="259DA3"/>
            </a:solidFill>
          </a:ln>
        </p:spPr>
        <p:txBody>
          <a:bodyPr lIns="45719" rIns="45719"/>
          <a:lstStyle/>
          <a:p>
            <a:pPr/>
          </a:p>
        </p:txBody>
      </p:sp>
      <p:sp>
        <p:nvSpPr>
          <p:cNvPr id="224" name="Text 3"/>
          <p:cNvSpPr txBox="1"/>
          <p:nvPr/>
        </p:nvSpPr>
        <p:spPr>
          <a:xfrm>
            <a:off x="594359" y="505968"/>
            <a:ext cx="7223761" cy="3962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400">
                <a:solidFill>
                  <a:srgbClr val="2D2D2D"/>
                </a:solidFill>
                <a:latin typeface="+mn-lt"/>
                <a:ea typeface="+mn-ea"/>
                <a:cs typeface="+mn-cs"/>
                <a:sym typeface="Helvetica"/>
              </a:defRPr>
            </a:lvl1pPr>
          </a:lstStyle>
          <a:p>
            <a:pPr/>
            <a:r>
              <a:t>オーナーダッシュボード</a:t>
            </a:r>
          </a:p>
        </p:txBody>
      </p:sp>
      <p:sp>
        <p:nvSpPr>
          <p:cNvPr id="225" name="Text 1"/>
          <p:cNvSpPr txBox="1"/>
          <p:nvPr/>
        </p:nvSpPr>
        <p:spPr>
          <a:xfrm>
            <a:off x="502919" y="4828540"/>
            <a:ext cx="2651762"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9AA0A6"/>
                </a:solidFill>
                <a:latin typeface="+mn-lt"/>
                <a:ea typeface="+mn-ea"/>
                <a:cs typeface="+mn-cs"/>
                <a:sym typeface="Helvetica"/>
              </a:defRPr>
            </a:lvl1pPr>
          </a:lstStyle>
          <a:p>
            <a:pPr/>
            <a:r>
              <a:t>SEKAI STAY  |  CONFIDENTIAL</a:t>
            </a:r>
          </a:p>
        </p:txBody>
      </p:sp>
      <p:sp>
        <p:nvSpPr>
          <p:cNvPr id="226" name="Shape 19"/>
          <p:cNvSpPr/>
          <p:nvPr/>
        </p:nvSpPr>
        <p:spPr>
          <a:xfrm>
            <a:off x="100622" y="1265174"/>
            <a:ext cx="3552011" cy="3200401"/>
          </a:xfrm>
          <a:prstGeom prst="rect">
            <a:avLst/>
          </a:prstGeom>
          <a:solidFill>
            <a:srgbClr val="FFFFFF">
              <a:alpha val="70246"/>
            </a:srgbClr>
          </a:solidFill>
          <a:ln w="12700">
            <a:miter lim="400000"/>
          </a:ln>
          <a:effectLst>
            <a:outerShdw sx="100000" sy="100000" kx="0" ky="0" algn="b" rotWithShape="0" blurRad="76200" dist="25400" dir="8100000">
              <a:srgbClr val="000000">
                <a:alpha val="8000"/>
              </a:srgbClr>
            </a:outerShdw>
          </a:effectLst>
        </p:spPr>
        <p:txBody>
          <a:bodyPr lIns="45719" rIns="45719"/>
          <a:lstStyle/>
          <a:p>
            <a:pPr/>
          </a:p>
        </p:txBody>
      </p:sp>
      <p:sp>
        <p:nvSpPr>
          <p:cNvPr id="227" name="Text 20"/>
          <p:cNvSpPr txBox="1"/>
          <p:nvPr/>
        </p:nvSpPr>
        <p:spPr>
          <a:xfrm>
            <a:off x="329223" y="1362329"/>
            <a:ext cx="2651761" cy="26289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167B81"/>
                </a:solidFill>
                <a:latin typeface="+mn-lt"/>
                <a:ea typeface="+mn-ea"/>
                <a:cs typeface="+mn-cs"/>
                <a:sym typeface="Helvetica"/>
              </a:defRPr>
            </a:lvl1pPr>
          </a:lstStyle>
          <a:p>
            <a:pPr/>
            <a:r>
              <a:t>全ての現状を一瞬で把握</a:t>
            </a:r>
          </a:p>
        </p:txBody>
      </p:sp>
      <p:sp>
        <p:nvSpPr>
          <p:cNvPr id="228" name="Shape 21"/>
          <p:cNvSpPr/>
          <p:nvPr/>
        </p:nvSpPr>
        <p:spPr>
          <a:xfrm>
            <a:off x="283502" y="1768094"/>
            <a:ext cx="3291842" cy="685801"/>
          </a:xfrm>
          <a:prstGeom prst="rect">
            <a:avLst/>
          </a:prstGeom>
          <a:solidFill>
            <a:srgbClr val="FFF8E1"/>
          </a:solidFill>
          <a:ln w="12700">
            <a:miter lim="400000"/>
          </a:ln>
        </p:spPr>
        <p:txBody>
          <a:bodyPr lIns="45719" rIns="45719"/>
          <a:lstStyle/>
          <a:p>
            <a:pPr/>
          </a:p>
        </p:txBody>
      </p:sp>
      <p:sp>
        <p:nvSpPr>
          <p:cNvPr id="229" name="Text 23"/>
          <p:cNvSpPr txBox="1"/>
          <p:nvPr/>
        </p:nvSpPr>
        <p:spPr>
          <a:xfrm>
            <a:off x="420662" y="1983767"/>
            <a:ext cx="301752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i="1" sz="1400">
                <a:solidFill>
                  <a:srgbClr val="2D2D2D"/>
                </a:solidFill>
                <a:latin typeface="+mn-lt"/>
                <a:ea typeface="+mn-ea"/>
                <a:cs typeface="+mn-cs"/>
                <a:sym typeface="Helvetica"/>
              </a:defRPr>
            </a:lvl1pPr>
          </a:lstStyle>
          <a:p>
            <a:pPr/>
            <a:r>
              <a:t>「いつでもどこでも瞬時にわかる」</a:t>
            </a:r>
          </a:p>
        </p:txBody>
      </p:sp>
      <p:sp>
        <p:nvSpPr>
          <p:cNvPr id="230" name="Text 24"/>
          <p:cNvSpPr txBox="1"/>
          <p:nvPr/>
        </p:nvSpPr>
        <p:spPr>
          <a:xfrm>
            <a:off x="329223" y="2611555"/>
            <a:ext cx="3200401" cy="2333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2D2D2D"/>
                </a:solidFill>
                <a:latin typeface="+mn-lt"/>
                <a:ea typeface="+mn-ea"/>
                <a:cs typeface="+mn-cs"/>
                <a:sym typeface="Helvetica"/>
              </a:defRPr>
            </a:lvl1pPr>
          </a:lstStyle>
          <a:p>
            <a:pPr/>
            <a:r>
              <a:t>✓  月次の収益</a:t>
            </a:r>
          </a:p>
        </p:txBody>
      </p:sp>
      <p:sp>
        <p:nvSpPr>
          <p:cNvPr id="231" name="Text 25"/>
          <p:cNvSpPr txBox="1"/>
          <p:nvPr/>
        </p:nvSpPr>
        <p:spPr>
          <a:xfrm>
            <a:off x="329223" y="2959027"/>
            <a:ext cx="3200401" cy="2333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2D2D2D"/>
                </a:solidFill>
                <a:latin typeface="+mn-lt"/>
                <a:ea typeface="+mn-ea"/>
                <a:cs typeface="+mn-cs"/>
                <a:sym typeface="Helvetica"/>
              </a:defRPr>
            </a:lvl1pPr>
          </a:lstStyle>
          <a:p>
            <a:pPr/>
            <a:r>
              <a:t>✓  稼働率</a:t>
            </a:r>
          </a:p>
        </p:txBody>
      </p:sp>
      <p:sp>
        <p:nvSpPr>
          <p:cNvPr id="232" name="Text 26"/>
          <p:cNvSpPr txBox="1"/>
          <p:nvPr/>
        </p:nvSpPr>
        <p:spPr>
          <a:xfrm>
            <a:off x="329223" y="3306499"/>
            <a:ext cx="3200401" cy="2333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2D2D2D"/>
                </a:solidFill>
                <a:latin typeface="+mn-lt"/>
                <a:ea typeface="+mn-ea"/>
                <a:cs typeface="+mn-cs"/>
                <a:sym typeface="Helvetica"/>
              </a:defRPr>
            </a:lvl1pPr>
          </a:lstStyle>
          <a:p>
            <a:pPr/>
            <a:r>
              <a:t>✓  直近の予約</a:t>
            </a:r>
          </a:p>
        </p:txBody>
      </p:sp>
      <p:sp>
        <p:nvSpPr>
          <p:cNvPr id="233" name="Text 27"/>
          <p:cNvSpPr txBox="1"/>
          <p:nvPr/>
        </p:nvSpPr>
        <p:spPr>
          <a:xfrm>
            <a:off x="329223" y="3653971"/>
            <a:ext cx="3200401" cy="2333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2D2D2D"/>
                </a:solidFill>
                <a:latin typeface="+mn-lt"/>
                <a:ea typeface="+mn-ea"/>
                <a:cs typeface="+mn-cs"/>
                <a:sym typeface="Helvetica"/>
              </a:defRPr>
            </a:lvl1pPr>
          </a:lstStyle>
          <a:p>
            <a:pPr/>
            <a:r>
              <a:t>✓  評価</a:t>
            </a:r>
          </a:p>
        </p:txBody>
      </p:sp>
      <p:sp>
        <p:nvSpPr>
          <p:cNvPr id="234" name="Text 28"/>
          <p:cNvSpPr txBox="1"/>
          <p:nvPr/>
        </p:nvSpPr>
        <p:spPr>
          <a:xfrm>
            <a:off x="329223" y="4001443"/>
            <a:ext cx="3200401" cy="2333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2D2D2D"/>
                </a:solidFill>
                <a:latin typeface="+mn-lt"/>
                <a:ea typeface="+mn-ea"/>
                <a:cs typeface="+mn-cs"/>
                <a:sym typeface="Helvetica"/>
              </a:defRPr>
            </a:lvl1pPr>
          </a:lstStyle>
          <a:p>
            <a:pPr/>
            <a:r>
              <a:t>✓  レビュー数</a:t>
            </a:r>
          </a:p>
        </p:txBody>
      </p:sp>
      <p:sp>
        <p:nvSpPr>
          <p:cNvPr id="235" name="Text 28"/>
          <p:cNvSpPr txBox="1"/>
          <p:nvPr/>
        </p:nvSpPr>
        <p:spPr>
          <a:xfrm>
            <a:off x="329222" y="4347409"/>
            <a:ext cx="3200401" cy="2333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2D2D2D"/>
                </a:solidFill>
                <a:latin typeface="+mn-lt"/>
                <a:ea typeface="+mn-ea"/>
                <a:cs typeface="+mn-cs"/>
                <a:sym typeface="Helvetica"/>
              </a:defRPr>
            </a:lvl1pPr>
          </a:lstStyle>
          <a:p>
            <a:pPr/>
            <a:r>
              <a:t>✓  平均単価</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7" name="Shape 0"/>
          <p:cNvSpPr/>
          <p:nvPr/>
        </p:nvSpPr>
        <p:spPr>
          <a:xfrm>
            <a:off x="457200" y="320040"/>
            <a:ext cx="640081" cy="73153"/>
          </a:xfrm>
          <a:prstGeom prst="rect">
            <a:avLst/>
          </a:prstGeom>
          <a:solidFill>
            <a:srgbClr val="3B9EA3"/>
          </a:solidFill>
          <a:ln w="12700">
            <a:miter lim="400000"/>
          </a:ln>
        </p:spPr>
        <p:txBody>
          <a:bodyPr lIns="45719" rIns="45719"/>
          <a:lstStyle/>
          <a:p>
            <a:pPr/>
          </a:p>
        </p:txBody>
      </p:sp>
      <p:sp>
        <p:nvSpPr>
          <p:cNvPr id="238" name="Text 1"/>
          <p:cNvSpPr txBox="1"/>
          <p:nvPr/>
        </p:nvSpPr>
        <p:spPr>
          <a:xfrm>
            <a:off x="457200" y="553720"/>
            <a:ext cx="8229600" cy="3556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2D2D2D"/>
                </a:solidFill>
              </a:defRPr>
            </a:lvl1pPr>
          </a:lstStyle>
          <a:p>
            <a:pPr/>
            <a:r>
              <a:t>独自の写真加工技術</a:t>
            </a:r>
          </a:p>
        </p:txBody>
      </p:sp>
      <p:sp>
        <p:nvSpPr>
          <p:cNvPr id="239" name="Text 2"/>
          <p:cNvSpPr txBox="1"/>
          <p:nvPr/>
        </p:nvSpPr>
        <p:spPr>
          <a:xfrm>
            <a:off x="457200" y="1015174"/>
            <a:ext cx="8229600" cy="16421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777777"/>
                </a:solidFill>
              </a:defRPr>
            </a:lvl1pPr>
          </a:lstStyle>
          <a:p>
            <a:pPr/>
            <a:r>
              <a:t>誰が撮っても、プロ品質に。OTA掲載写真のクオリティを自動で最適化します。</a:t>
            </a:r>
          </a:p>
        </p:txBody>
      </p:sp>
      <p:sp>
        <p:nvSpPr>
          <p:cNvPr id="240" name="Shape 3"/>
          <p:cNvSpPr/>
          <p:nvPr/>
        </p:nvSpPr>
        <p:spPr>
          <a:xfrm>
            <a:off x="457200" y="1553622"/>
            <a:ext cx="3657600" cy="320041"/>
          </a:xfrm>
          <a:prstGeom prst="rect">
            <a:avLst/>
          </a:prstGeom>
          <a:solidFill>
            <a:srgbClr val="888888"/>
          </a:solidFill>
          <a:ln w="12700">
            <a:miter lim="400000"/>
          </a:ln>
        </p:spPr>
        <p:txBody>
          <a:bodyPr lIns="45719" rIns="45719"/>
          <a:lstStyle/>
          <a:p>
            <a:pPr/>
          </a:p>
        </p:txBody>
      </p:sp>
      <p:sp>
        <p:nvSpPr>
          <p:cNvPr id="241" name="Text 4"/>
          <p:cNvSpPr txBox="1"/>
          <p:nvPr/>
        </p:nvSpPr>
        <p:spPr>
          <a:xfrm>
            <a:off x="502919" y="1600168"/>
            <a:ext cx="3566161" cy="22694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900">
                <a:solidFill>
                  <a:srgbClr val="FFFFFF"/>
                </a:solidFill>
              </a:defRPr>
            </a:lvl1pPr>
          </a:lstStyle>
          <a:p>
            <a:pPr/>
            <a:r>
              <a:t>Before — オーナー様撮影（スマートフォン）</a:t>
            </a:r>
          </a:p>
        </p:txBody>
      </p:sp>
      <p:sp>
        <p:nvSpPr>
          <p:cNvPr id="242" name="Text 5"/>
          <p:cNvSpPr txBox="1"/>
          <p:nvPr/>
        </p:nvSpPr>
        <p:spPr>
          <a:xfrm>
            <a:off x="4251960" y="2506122"/>
            <a:ext cx="640081" cy="472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2600">
                <a:solidFill>
                  <a:srgbClr val="3B9EA3"/>
                </a:solidFill>
              </a:defRPr>
            </a:lvl1pPr>
          </a:lstStyle>
          <a:p>
            <a:pPr/>
            <a:r>
              <a:t>▶</a:t>
            </a:r>
          </a:p>
        </p:txBody>
      </p:sp>
      <p:sp>
        <p:nvSpPr>
          <p:cNvPr id="243" name="Shape 6"/>
          <p:cNvSpPr/>
          <p:nvPr/>
        </p:nvSpPr>
        <p:spPr>
          <a:xfrm>
            <a:off x="5029200" y="1553622"/>
            <a:ext cx="3657600" cy="320041"/>
          </a:xfrm>
          <a:prstGeom prst="rect">
            <a:avLst/>
          </a:prstGeom>
          <a:solidFill>
            <a:srgbClr val="3B9EA3"/>
          </a:solidFill>
          <a:ln w="12700">
            <a:miter lim="400000"/>
          </a:ln>
        </p:spPr>
        <p:txBody>
          <a:bodyPr lIns="45719" rIns="45719"/>
          <a:lstStyle/>
          <a:p>
            <a:pPr/>
          </a:p>
        </p:txBody>
      </p:sp>
      <p:sp>
        <p:nvSpPr>
          <p:cNvPr id="244" name="Text 7"/>
          <p:cNvSpPr txBox="1"/>
          <p:nvPr/>
        </p:nvSpPr>
        <p:spPr>
          <a:xfrm>
            <a:off x="5074920" y="1600168"/>
            <a:ext cx="3566160" cy="22694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900">
                <a:solidFill>
                  <a:srgbClr val="FFFFFF"/>
                </a:solidFill>
              </a:defRPr>
            </a:lvl1pPr>
          </a:lstStyle>
          <a:p>
            <a:pPr/>
            <a:r>
              <a:t>After — SEKAI STAY 加工済み</a:t>
            </a:r>
          </a:p>
        </p:txBody>
      </p:sp>
      <p:pic>
        <p:nvPicPr>
          <p:cNvPr id="245" name="Image 1" descr="Image 1"/>
          <p:cNvPicPr>
            <a:picLocks noChangeAspect="1"/>
          </p:cNvPicPr>
          <p:nvPr/>
        </p:nvPicPr>
        <p:blipFill>
          <a:blip r:embed="rId2">
            <a:extLst/>
          </a:blip>
          <a:stretch>
            <a:fillRect/>
          </a:stretch>
        </p:blipFill>
        <p:spPr>
          <a:xfrm>
            <a:off x="5029200" y="1873662"/>
            <a:ext cx="3657600" cy="1965961"/>
          </a:xfrm>
          <a:prstGeom prst="rect">
            <a:avLst/>
          </a:prstGeom>
          <a:ln w="12700">
            <a:miter lim="400000"/>
          </a:ln>
        </p:spPr>
      </p:pic>
      <p:sp>
        <p:nvSpPr>
          <p:cNvPr id="246" name="Shape 8"/>
          <p:cNvSpPr/>
          <p:nvPr/>
        </p:nvSpPr>
        <p:spPr>
          <a:xfrm>
            <a:off x="374903" y="4140200"/>
            <a:ext cx="274321" cy="274321"/>
          </a:xfrm>
          <a:prstGeom prst="ellipse">
            <a:avLst/>
          </a:prstGeom>
          <a:solidFill>
            <a:srgbClr val="3B9EA3"/>
          </a:solidFill>
          <a:ln w="12700">
            <a:miter lim="400000"/>
          </a:ln>
        </p:spPr>
        <p:txBody>
          <a:bodyPr lIns="45719" rIns="45719"/>
          <a:lstStyle/>
          <a:p>
            <a:pPr/>
          </a:p>
        </p:txBody>
      </p:sp>
      <p:sp>
        <p:nvSpPr>
          <p:cNvPr id="247" name="Text 9"/>
          <p:cNvSpPr txBox="1"/>
          <p:nvPr/>
        </p:nvSpPr>
        <p:spPr>
          <a:xfrm>
            <a:off x="420623" y="4155439"/>
            <a:ext cx="182881" cy="243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FFFFFF"/>
                </a:solidFill>
              </a:defRPr>
            </a:lvl1pPr>
          </a:lstStyle>
          <a:p>
            <a:pPr/>
            <a:r>
              <a:t>✓</a:t>
            </a:r>
          </a:p>
        </p:txBody>
      </p:sp>
      <p:sp>
        <p:nvSpPr>
          <p:cNvPr id="248" name="Text 10"/>
          <p:cNvSpPr txBox="1"/>
          <p:nvPr/>
        </p:nvSpPr>
        <p:spPr>
          <a:xfrm>
            <a:off x="722375" y="4191634"/>
            <a:ext cx="2286001" cy="17145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2D2D2D"/>
                </a:solidFill>
              </a:defRPr>
            </a:lvl1pPr>
          </a:lstStyle>
          <a:p>
            <a:pPr/>
            <a:r>
              <a:t>色温度・明るさを自動補正</a:t>
            </a:r>
          </a:p>
        </p:txBody>
      </p:sp>
      <p:sp>
        <p:nvSpPr>
          <p:cNvPr id="249" name="Shape 11"/>
          <p:cNvSpPr/>
          <p:nvPr/>
        </p:nvSpPr>
        <p:spPr>
          <a:xfrm>
            <a:off x="3255263" y="4140200"/>
            <a:ext cx="274321" cy="274321"/>
          </a:xfrm>
          <a:prstGeom prst="ellipse">
            <a:avLst/>
          </a:prstGeom>
          <a:solidFill>
            <a:srgbClr val="3B9EA3"/>
          </a:solidFill>
          <a:ln w="12700">
            <a:miter lim="400000"/>
          </a:ln>
        </p:spPr>
        <p:txBody>
          <a:bodyPr lIns="45719" rIns="45719"/>
          <a:lstStyle/>
          <a:p>
            <a:pPr/>
          </a:p>
        </p:txBody>
      </p:sp>
      <p:sp>
        <p:nvSpPr>
          <p:cNvPr id="250" name="Text 12"/>
          <p:cNvSpPr txBox="1"/>
          <p:nvPr/>
        </p:nvSpPr>
        <p:spPr>
          <a:xfrm>
            <a:off x="3300983" y="4155439"/>
            <a:ext cx="182881" cy="243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FFFFFF"/>
                </a:solidFill>
              </a:defRPr>
            </a:lvl1pPr>
          </a:lstStyle>
          <a:p>
            <a:pPr/>
            <a:r>
              <a:t>✓</a:t>
            </a:r>
          </a:p>
        </p:txBody>
      </p:sp>
      <p:sp>
        <p:nvSpPr>
          <p:cNvPr id="251" name="Text 13"/>
          <p:cNvSpPr txBox="1"/>
          <p:nvPr/>
        </p:nvSpPr>
        <p:spPr>
          <a:xfrm>
            <a:off x="3602735" y="4191634"/>
            <a:ext cx="2286001" cy="17145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2D2D2D"/>
                </a:solidFill>
              </a:defRPr>
            </a:lvl1pPr>
          </a:lstStyle>
          <a:p>
            <a:pPr/>
            <a:r>
              <a:t>ブランドトーンに統一</a:t>
            </a:r>
          </a:p>
        </p:txBody>
      </p:sp>
      <p:sp>
        <p:nvSpPr>
          <p:cNvPr id="252" name="Shape 14"/>
          <p:cNvSpPr/>
          <p:nvPr/>
        </p:nvSpPr>
        <p:spPr>
          <a:xfrm>
            <a:off x="6135623" y="4140200"/>
            <a:ext cx="274321" cy="274321"/>
          </a:xfrm>
          <a:prstGeom prst="ellipse">
            <a:avLst/>
          </a:prstGeom>
          <a:solidFill>
            <a:srgbClr val="3B9EA3"/>
          </a:solidFill>
          <a:ln w="12700">
            <a:miter lim="400000"/>
          </a:ln>
        </p:spPr>
        <p:txBody>
          <a:bodyPr lIns="45719" rIns="45719"/>
          <a:lstStyle/>
          <a:p>
            <a:pPr/>
          </a:p>
        </p:txBody>
      </p:sp>
      <p:sp>
        <p:nvSpPr>
          <p:cNvPr id="253" name="Text 15"/>
          <p:cNvSpPr txBox="1"/>
          <p:nvPr/>
        </p:nvSpPr>
        <p:spPr>
          <a:xfrm>
            <a:off x="6181344" y="4155439"/>
            <a:ext cx="182881" cy="243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FFFFFF"/>
                </a:solidFill>
              </a:defRPr>
            </a:lvl1pPr>
          </a:lstStyle>
          <a:p>
            <a:pPr/>
            <a:r>
              <a:t>✓</a:t>
            </a:r>
          </a:p>
        </p:txBody>
      </p:sp>
      <p:sp>
        <p:nvSpPr>
          <p:cNvPr id="254" name="Text 16"/>
          <p:cNvSpPr txBox="1"/>
          <p:nvPr/>
        </p:nvSpPr>
        <p:spPr>
          <a:xfrm>
            <a:off x="6483096" y="4180903"/>
            <a:ext cx="2286001" cy="19291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2D2D2D"/>
                </a:solidFill>
              </a:defRPr>
            </a:lvl1pPr>
          </a:lstStyle>
          <a:p>
            <a:pPr/>
            <a:r>
              <a:t>クリック率 +35% 向上実績</a:t>
            </a:r>
          </a:p>
        </p:txBody>
      </p:sp>
      <p:sp>
        <p:nvSpPr>
          <p:cNvPr id="255" name="Text 17"/>
          <p:cNvSpPr txBox="1"/>
          <p:nvPr/>
        </p:nvSpPr>
        <p:spPr>
          <a:xfrm>
            <a:off x="365759" y="4851399"/>
            <a:ext cx="36576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700">
                <a:solidFill>
                  <a:srgbClr val="AAAAAA"/>
                </a:solidFill>
              </a:defRPr>
            </a:lvl1pPr>
          </a:lstStyle>
          <a:p>
            <a:pPr/>
            <a:r>
              <a:t>SEKAI STAY  |  CONFIDENTIAL</a:t>
            </a:r>
          </a:p>
        </p:txBody>
      </p:sp>
      <p:sp>
        <p:nvSpPr>
          <p:cNvPr id="256" name="Text 18"/>
          <p:cNvSpPr txBox="1"/>
          <p:nvPr/>
        </p:nvSpPr>
        <p:spPr>
          <a:xfrm>
            <a:off x="7772400" y="4851399"/>
            <a:ext cx="9144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700">
                <a:solidFill>
                  <a:srgbClr val="AAAAAA"/>
                </a:solidFill>
              </a:defRPr>
            </a:lvl1pPr>
          </a:lstStyle>
          <a:p>
            <a:pPr/>
            <a:r>
              <a:t>15 / 9</a:t>
            </a:r>
          </a:p>
        </p:txBody>
      </p:sp>
      <p:pic>
        <p:nvPicPr>
          <p:cNvPr id="257" name="IMG_5313.JPEG" descr="IMG_5313.JPEG"/>
          <p:cNvPicPr>
            <a:picLocks noChangeAspect="1"/>
          </p:cNvPicPr>
          <p:nvPr/>
        </p:nvPicPr>
        <p:blipFill>
          <a:blip r:embed="rId3">
            <a:extLst/>
          </a:blip>
          <a:srcRect l="0" t="13202" r="2500" b="13202"/>
          <a:stretch>
            <a:fillRect/>
          </a:stretch>
        </p:blipFill>
        <p:spPr>
          <a:xfrm>
            <a:off x="458311" y="1801367"/>
            <a:ext cx="3655326" cy="2069376"/>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9" name="Text 0"/>
          <p:cNvSpPr txBox="1"/>
          <p:nvPr/>
        </p:nvSpPr>
        <p:spPr>
          <a:xfrm>
            <a:off x="8092439" y="4828540"/>
            <a:ext cx="548641"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9AA0A6"/>
                </a:solidFill>
                <a:latin typeface="+mn-lt"/>
                <a:ea typeface="+mn-ea"/>
                <a:cs typeface="+mn-cs"/>
                <a:sym typeface="Helvetica"/>
              </a:defRPr>
            </a:lvl1pPr>
          </a:lstStyle>
          <a:p>
            <a:pPr/>
            <a:r>
              <a:t>6 / 9</a:t>
            </a:r>
          </a:p>
        </p:txBody>
      </p:sp>
      <p:sp>
        <p:nvSpPr>
          <p:cNvPr id="260" name="Text 1"/>
          <p:cNvSpPr txBox="1"/>
          <p:nvPr/>
        </p:nvSpPr>
        <p:spPr>
          <a:xfrm>
            <a:off x="502919" y="4828540"/>
            <a:ext cx="2651762"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9AA0A6"/>
                </a:solidFill>
                <a:latin typeface="+mn-lt"/>
                <a:ea typeface="+mn-ea"/>
                <a:cs typeface="+mn-cs"/>
                <a:sym typeface="Helvetica"/>
              </a:defRPr>
            </a:lvl1pPr>
          </a:lstStyle>
          <a:p>
            <a:pPr/>
            <a:r>
              <a:t>SEKAI STAY  |  CONFIDENTIAL</a:t>
            </a:r>
          </a:p>
        </p:txBody>
      </p:sp>
      <p:sp>
        <p:nvSpPr>
          <p:cNvPr id="261" name="Shape 2"/>
          <p:cNvSpPr/>
          <p:nvPr/>
        </p:nvSpPr>
        <p:spPr>
          <a:xfrm>
            <a:off x="548640" y="411480"/>
            <a:ext cx="1097281" cy="1"/>
          </a:xfrm>
          <a:prstGeom prst="line">
            <a:avLst/>
          </a:prstGeom>
          <a:ln w="38100">
            <a:solidFill>
              <a:srgbClr val="259DA3"/>
            </a:solidFill>
          </a:ln>
        </p:spPr>
        <p:txBody>
          <a:bodyPr lIns="45719" rIns="45719"/>
          <a:lstStyle/>
          <a:p>
            <a:pPr/>
          </a:p>
        </p:txBody>
      </p:sp>
      <p:sp>
        <p:nvSpPr>
          <p:cNvPr id="262" name="Text 3"/>
          <p:cNvSpPr txBox="1"/>
          <p:nvPr/>
        </p:nvSpPr>
        <p:spPr>
          <a:xfrm>
            <a:off x="594359" y="505968"/>
            <a:ext cx="7680961" cy="3962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400">
                <a:solidFill>
                  <a:srgbClr val="2D2D2D"/>
                </a:solidFill>
                <a:latin typeface="+mn-lt"/>
                <a:ea typeface="+mn-ea"/>
                <a:cs typeface="+mn-cs"/>
                <a:sym typeface="Helvetica"/>
              </a:defRPr>
            </a:lvl1pPr>
          </a:lstStyle>
          <a:p>
            <a:pPr/>
            <a:r>
              <a:t>独自の仕組みで速く、人の力で深く。</a:t>
            </a:r>
          </a:p>
        </p:txBody>
      </p:sp>
      <p:sp>
        <p:nvSpPr>
          <p:cNvPr id="263" name="Text 4"/>
          <p:cNvSpPr txBox="1"/>
          <p:nvPr/>
        </p:nvSpPr>
        <p:spPr>
          <a:xfrm>
            <a:off x="594359" y="876807"/>
            <a:ext cx="722376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259DA3"/>
                </a:solidFill>
                <a:latin typeface="+mn-lt"/>
                <a:ea typeface="+mn-ea"/>
                <a:cs typeface="+mn-cs"/>
                <a:sym typeface="Helvetica"/>
              </a:defRPr>
            </a:lvl1pPr>
          </a:lstStyle>
          <a:p>
            <a:pPr/>
            <a:r>
              <a:t>だから8%でも、品質は上がる。</a:t>
            </a:r>
          </a:p>
        </p:txBody>
      </p:sp>
      <p:sp>
        <p:nvSpPr>
          <p:cNvPr id="264" name="Shape 5"/>
          <p:cNvSpPr/>
          <p:nvPr/>
        </p:nvSpPr>
        <p:spPr>
          <a:xfrm>
            <a:off x="548639" y="1325880"/>
            <a:ext cx="3931922" cy="3200401"/>
          </a:xfrm>
          <a:prstGeom prst="rect">
            <a:avLst/>
          </a:prstGeom>
          <a:solidFill>
            <a:srgbClr val="E5F4F5"/>
          </a:solidFill>
          <a:ln w="12700">
            <a:miter lim="400000"/>
          </a:ln>
          <a:effectLst>
            <a:outerShdw sx="100000" sy="100000" kx="0" ky="0" algn="b" rotWithShape="0" blurRad="50800" dist="19050" dir="8100000">
              <a:srgbClr val="000000">
                <a:alpha val="6000"/>
              </a:srgbClr>
            </a:outerShdw>
          </a:effectLst>
        </p:spPr>
        <p:txBody>
          <a:bodyPr lIns="45719" rIns="45719"/>
          <a:lstStyle/>
          <a:p>
            <a:pPr/>
          </a:p>
        </p:txBody>
      </p:sp>
      <p:sp>
        <p:nvSpPr>
          <p:cNvPr id="265" name="Shape 6"/>
          <p:cNvSpPr/>
          <p:nvPr/>
        </p:nvSpPr>
        <p:spPr>
          <a:xfrm>
            <a:off x="548639" y="1325880"/>
            <a:ext cx="3931922" cy="411481"/>
          </a:xfrm>
          <a:prstGeom prst="rect">
            <a:avLst/>
          </a:prstGeom>
          <a:solidFill>
            <a:srgbClr val="259DA3"/>
          </a:solidFill>
          <a:ln w="12700">
            <a:miter lim="400000"/>
          </a:ln>
        </p:spPr>
        <p:txBody>
          <a:bodyPr lIns="45719" rIns="45719"/>
          <a:lstStyle/>
          <a:p>
            <a:pPr/>
          </a:p>
        </p:txBody>
      </p:sp>
      <p:sp>
        <p:nvSpPr>
          <p:cNvPr id="266" name="Text 7"/>
          <p:cNvSpPr txBox="1"/>
          <p:nvPr/>
        </p:nvSpPr>
        <p:spPr>
          <a:xfrm>
            <a:off x="594359" y="1400175"/>
            <a:ext cx="3840481" cy="26289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300">
                <a:solidFill>
                  <a:srgbClr val="FFFFFF"/>
                </a:solidFill>
                <a:latin typeface="+mn-lt"/>
                <a:ea typeface="+mn-ea"/>
                <a:cs typeface="+mn-cs"/>
                <a:sym typeface="Helvetica"/>
              </a:defRPr>
            </a:lvl1pPr>
          </a:lstStyle>
          <a:p>
            <a:pPr/>
            <a:r>
              <a:t>独自の仕組みが担う領域</a:t>
            </a:r>
          </a:p>
        </p:txBody>
      </p:sp>
      <p:sp>
        <p:nvSpPr>
          <p:cNvPr id="267" name="Text 8"/>
          <p:cNvSpPr txBox="1"/>
          <p:nvPr/>
        </p:nvSpPr>
        <p:spPr>
          <a:xfrm>
            <a:off x="777239" y="1774250"/>
            <a:ext cx="3474720" cy="24626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000">
                <a:solidFill>
                  <a:srgbClr val="259DA3"/>
                </a:solidFill>
                <a:latin typeface="+mn-lt"/>
                <a:ea typeface="+mn-ea"/>
                <a:cs typeface="+mn-cs"/>
                <a:sym typeface="Helvetica"/>
              </a:defRPr>
            </a:lvl1pPr>
          </a:lstStyle>
          <a:p>
            <a:pPr/>
            <a:r>
              <a:t>→ 速く、正確に、24時間稼働</a:t>
            </a:r>
          </a:p>
        </p:txBody>
      </p:sp>
      <p:sp>
        <p:nvSpPr>
          <p:cNvPr id="268" name="Shape 9"/>
          <p:cNvSpPr/>
          <p:nvPr/>
        </p:nvSpPr>
        <p:spPr>
          <a:xfrm>
            <a:off x="731519" y="2103120"/>
            <a:ext cx="3566161" cy="347473"/>
          </a:xfrm>
          <a:prstGeom prst="rect">
            <a:avLst/>
          </a:prstGeom>
          <a:solidFill>
            <a:srgbClr val="FFFFFF"/>
          </a:solidFill>
          <a:ln w="12700">
            <a:miter lim="400000"/>
          </a:ln>
        </p:spPr>
        <p:txBody>
          <a:bodyPr lIns="45719" rIns="45719"/>
          <a:lstStyle/>
          <a:p>
            <a:pPr/>
          </a:p>
        </p:txBody>
      </p:sp>
      <p:sp>
        <p:nvSpPr>
          <p:cNvPr id="269" name="Text 10"/>
          <p:cNvSpPr txBox="1"/>
          <p:nvPr/>
        </p:nvSpPr>
        <p:spPr>
          <a:xfrm>
            <a:off x="868680" y="2147255"/>
            <a:ext cx="3291840" cy="2592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2D2D2D"/>
                </a:solidFill>
                <a:latin typeface="+mn-lt"/>
                <a:ea typeface="+mn-ea"/>
                <a:cs typeface="+mn-cs"/>
                <a:sym typeface="Helvetica"/>
              </a:defRPr>
            </a:lvl1pPr>
          </a:lstStyle>
          <a:p>
            <a:pPr/>
            <a:r>
              <a:t>✓  全OTAへの自動掲載・同期</a:t>
            </a:r>
          </a:p>
        </p:txBody>
      </p:sp>
      <p:sp>
        <p:nvSpPr>
          <p:cNvPr id="270" name="Shape 11"/>
          <p:cNvSpPr/>
          <p:nvPr/>
        </p:nvSpPr>
        <p:spPr>
          <a:xfrm>
            <a:off x="731519" y="2514600"/>
            <a:ext cx="3566161" cy="347473"/>
          </a:xfrm>
          <a:prstGeom prst="rect">
            <a:avLst/>
          </a:prstGeom>
          <a:solidFill>
            <a:srgbClr val="FFFFFF"/>
          </a:solidFill>
          <a:ln w="12700">
            <a:miter lim="400000"/>
          </a:ln>
        </p:spPr>
        <p:txBody>
          <a:bodyPr lIns="45719" rIns="45719"/>
          <a:lstStyle/>
          <a:p>
            <a:pPr/>
          </a:p>
        </p:txBody>
      </p:sp>
      <p:sp>
        <p:nvSpPr>
          <p:cNvPr id="271" name="Text 12"/>
          <p:cNvSpPr txBox="1"/>
          <p:nvPr/>
        </p:nvSpPr>
        <p:spPr>
          <a:xfrm>
            <a:off x="868680" y="2558735"/>
            <a:ext cx="3291840" cy="2592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2D2D2D"/>
                </a:solidFill>
                <a:latin typeface="+mn-lt"/>
                <a:ea typeface="+mn-ea"/>
                <a:cs typeface="+mn-cs"/>
                <a:sym typeface="Helvetica"/>
              </a:defRPr>
            </a:lvl1pPr>
          </a:lstStyle>
          <a:p>
            <a:pPr/>
            <a:r>
              <a:t>✓  データに基づく価格最適化（毎日更新）</a:t>
            </a:r>
          </a:p>
        </p:txBody>
      </p:sp>
      <p:sp>
        <p:nvSpPr>
          <p:cNvPr id="272" name="Shape 13"/>
          <p:cNvSpPr/>
          <p:nvPr/>
        </p:nvSpPr>
        <p:spPr>
          <a:xfrm>
            <a:off x="731519" y="2926079"/>
            <a:ext cx="3566161" cy="347473"/>
          </a:xfrm>
          <a:prstGeom prst="rect">
            <a:avLst/>
          </a:prstGeom>
          <a:solidFill>
            <a:srgbClr val="FFFFFF"/>
          </a:solidFill>
          <a:ln w="12700">
            <a:miter lim="400000"/>
          </a:ln>
        </p:spPr>
        <p:txBody>
          <a:bodyPr lIns="45719" rIns="45719"/>
          <a:lstStyle/>
          <a:p>
            <a:pPr/>
          </a:p>
        </p:txBody>
      </p:sp>
      <p:sp>
        <p:nvSpPr>
          <p:cNvPr id="273" name="Text 14"/>
          <p:cNvSpPr txBox="1"/>
          <p:nvPr/>
        </p:nvSpPr>
        <p:spPr>
          <a:xfrm>
            <a:off x="868680" y="2970215"/>
            <a:ext cx="3291840" cy="2592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2D2D2D"/>
                </a:solidFill>
                <a:latin typeface="+mn-lt"/>
                <a:ea typeface="+mn-ea"/>
                <a:cs typeface="+mn-cs"/>
                <a:sym typeface="Helvetica"/>
              </a:defRPr>
            </a:lvl1pPr>
          </a:lstStyle>
          <a:p>
            <a:pPr/>
            <a:r>
              <a:t>✓  レビュー管理・評価モニタリング</a:t>
            </a:r>
          </a:p>
        </p:txBody>
      </p:sp>
      <p:sp>
        <p:nvSpPr>
          <p:cNvPr id="274" name="Shape 15"/>
          <p:cNvSpPr/>
          <p:nvPr/>
        </p:nvSpPr>
        <p:spPr>
          <a:xfrm>
            <a:off x="731519" y="3337559"/>
            <a:ext cx="3566161" cy="347473"/>
          </a:xfrm>
          <a:prstGeom prst="rect">
            <a:avLst/>
          </a:prstGeom>
          <a:solidFill>
            <a:srgbClr val="FFFFFF"/>
          </a:solidFill>
          <a:ln w="12700">
            <a:miter lim="400000"/>
          </a:ln>
        </p:spPr>
        <p:txBody>
          <a:bodyPr lIns="45719" rIns="45719"/>
          <a:lstStyle/>
          <a:p>
            <a:pPr/>
          </a:p>
        </p:txBody>
      </p:sp>
      <p:sp>
        <p:nvSpPr>
          <p:cNvPr id="275" name="Text 16"/>
          <p:cNvSpPr txBox="1"/>
          <p:nvPr/>
        </p:nvSpPr>
        <p:spPr>
          <a:xfrm>
            <a:off x="868680" y="3381695"/>
            <a:ext cx="3291840" cy="2592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2D2D2D"/>
                </a:solidFill>
                <a:latin typeface="+mn-lt"/>
                <a:ea typeface="+mn-ea"/>
                <a:cs typeface="+mn-cs"/>
                <a:sym typeface="Helvetica"/>
              </a:defRPr>
            </a:lvl1pPr>
          </a:lstStyle>
          <a:p>
            <a:pPr/>
            <a:r>
              <a:t>✓  ゲストチャットの初期対応</a:t>
            </a:r>
          </a:p>
        </p:txBody>
      </p:sp>
      <p:sp>
        <p:nvSpPr>
          <p:cNvPr id="276" name="Shape 17"/>
          <p:cNvSpPr/>
          <p:nvPr/>
        </p:nvSpPr>
        <p:spPr>
          <a:xfrm>
            <a:off x="731519" y="3749040"/>
            <a:ext cx="3566161" cy="347473"/>
          </a:xfrm>
          <a:prstGeom prst="rect">
            <a:avLst/>
          </a:prstGeom>
          <a:solidFill>
            <a:srgbClr val="FFFFFF"/>
          </a:solidFill>
          <a:ln w="12700">
            <a:miter lim="400000"/>
          </a:ln>
        </p:spPr>
        <p:txBody>
          <a:bodyPr lIns="45719" rIns="45719"/>
          <a:lstStyle/>
          <a:p>
            <a:pPr/>
          </a:p>
        </p:txBody>
      </p:sp>
      <p:sp>
        <p:nvSpPr>
          <p:cNvPr id="277" name="Text 18"/>
          <p:cNvSpPr txBox="1"/>
          <p:nvPr/>
        </p:nvSpPr>
        <p:spPr>
          <a:xfrm>
            <a:off x="868680" y="3793175"/>
            <a:ext cx="3291840" cy="2592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2D2D2D"/>
                </a:solidFill>
                <a:latin typeface="+mn-lt"/>
                <a:ea typeface="+mn-ea"/>
                <a:cs typeface="+mn-cs"/>
                <a:sym typeface="Helvetica"/>
              </a:defRPr>
            </a:lvl1pPr>
          </a:lstStyle>
          <a:p>
            <a:pPr/>
            <a:r>
              <a:t>✓  オーナーダッシュボード・リアルタイム集計</a:t>
            </a:r>
          </a:p>
        </p:txBody>
      </p:sp>
      <p:sp>
        <p:nvSpPr>
          <p:cNvPr id="278" name="Shape 19"/>
          <p:cNvSpPr/>
          <p:nvPr/>
        </p:nvSpPr>
        <p:spPr>
          <a:xfrm>
            <a:off x="4663440" y="1325880"/>
            <a:ext cx="3931921" cy="3200401"/>
          </a:xfrm>
          <a:prstGeom prst="rect">
            <a:avLst/>
          </a:prstGeom>
          <a:solidFill>
            <a:srgbClr val="F7F8FA"/>
          </a:solidFill>
          <a:ln w="12700">
            <a:miter lim="400000"/>
          </a:ln>
          <a:effectLst>
            <a:outerShdw sx="100000" sy="100000" kx="0" ky="0" algn="b" rotWithShape="0" blurRad="50800" dist="19050" dir="8100000">
              <a:srgbClr val="000000">
                <a:alpha val="6000"/>
              </a:srgbClr>
            </a:outerShdw>
          </a:effectLst>
        </p:spPr>
        <p:txBody>
          <a:bodyPr lIns="45719" rIns="45719"/>
          <a:lstStyle/>
          <a:p>
            <a:pPr/>
          </a:p>
        </p:txBody>
      </p:sp>
      <p:sp>
        <p:nvSpPr>
          <p:cNvPr id="279" name="Shape 20"/>
          <p:cNvSpPr/>
          <p:nvPr/>
        </p:nvSpPr>
        <p:spPr>
          <a:xfrm>
            <a:off x="4663440" y="1325880"/>
            <a:ext cx="3931921" cy="411481"/>
          </a:xfrm>
          <a:prstGeom prst="rect">
            <a:avLst/>
          </a:prstGeom>
          <a:solidFill>
            <a:srgbClr val="5F6368"/>
          </a:solidFill>
          <a:ln w="12700">
            <a:miter lim="400000"/>
          </a:ln>
        </p:spPr>
        <p:txBody>
          <a:bodyPr lIns="45719" rIns="45719"/>
          <a:lstStyle/>
          <a:p>
            <a:pPr/>
          </a:p>
        </p:txBody>
      </p:sp>
      <p:sp>
        <p:nvSpPr>
          <p:cNvPr id="280" name="Text 21"/>
          <p:cNvSpPr txBox="1"/>
          <p:nvPr/>
        </p:nvSpPr>
        <p:spPr>
          <a:xfrm>
            <a:off x="4709160" y="1400175"/>
            <a:ext cx="3840481" cy="26289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300">
                <a:solidFill>
                  <a:srgbClr val="FFFFFF"/>
                </a:solidFill>
                <a:latin typeface="+mn-lt"/>
                <a:ea typeface="+mn-ea"/>
                <a:cs typeface="+mn-cs"/>
                <a:sym typeface="Helvetica"/>
              </a:defRPr>
            </a:lvl1pPr>
          </a:lstStyle>
          <a:p>
            <a:pPr/>
            <a:r>
              <a:t>専任チームが担う領域</a:t>
            </a:r>
          </a:p>
        </p:txBody>
      </p:sp>
      <p:sp>
        <p:nvSpPr>
          <p:cNvPr id="281" name="Text 22"/>
          <p:cNvSpPr txBox="1"/>
          <p:nvPr/>
        </p:nvSpPr>
        <p:spPr>
          <a:xfrm>
            <a:off x="4892040" y="1774250"/>
            <a:ext cx="3474720" cy="24626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000">
                <a:solidFill>
                  <a:srgbClr val="5F6368"/>
                </a:solidFill>
                <a:latin typeface="+mn-lt"/>
                <a:ea typeface="+mn-ea"/>
                <a:cs typeface="+mn-cs"/>
                <a:sym typeface="Helvetica"/>
              </a:defRPr>
            </a:lvl1pPr>
          </a:lstStyle>
          <a:p>
            <a:pPr/>
            <a:r>
              <a:t>→ 深く、柔軟に、信頼を築く</a:t>
            </a:r>
          </a:p>
        </p:txBody>
      </p:sp>
      <p:sp>
        <p:nvSpPr>
          <p:cNvPr id="282" name="Shape 23"/>
          <p:cNvSpPr/>
          <p:nvPr/>
        </p:nvSpPr>
        <p:spPr>
          <a:xfrm>
            <a:off x="4846320" y="2103120"/>
            <a:ext cx="3566160" cy="347473"/>
          </a:xfrm>
          <a:prstGeom prst="rect">
            <a:avLst/>
          </a:prstGeom>
          <a:solidFill>
            <a:srgbClr val="FFFFFF"/>
          </a:solidFill>
          <a:ln w="12700">
            <a:miter lim="400000"/>
          </a:ln>
        </p:spPr>
        <p:txBody>
          <a:bodyPr lIns="45719" rIns="45719"/>
          <a:lstStyle/>
          <a:p>
            <a:pPr/>
          </a:p>
        </p:txBody>
      </p:sp>
      <p:sp>
        <p:nvSpPr>
          <p:cNvPr id="283" name="Text 24"/>
          <p:cNvSpPr txBox="1"/>
          <p:nvPr/>
        </p:nvSpPr>
        <p:spPr>
          <a:xfrm>
            <a:off x="4983479" y="2147255"/>
            <a:ext cx="3291841" cy="2592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2D2D2D"/>
                </a:solidFill>
                <a:latin typeface="+mn-lt"/>
                <a:ea typeface="+mn-ea"/>
                <a:cs typeface="+mn-cs"/>
                <a:sym typeface="Helvetica"/>
              </a:defRPr>
            </a:lvl1pPr>
          </a:lstStyle>
          <a:p>
            <a:pPr/>
            <a:r>
              <a:t>✓  清掃手配・写真付き品質チェック</a:t>
            </a:r>
          </a:p>
        </p:txBody>
      </p:sp>
      <p:sp>
        <p:nvSpPr>
          <p:cNvPr id="284" name="Shape 25"/>
          <p:cNvSpPr/>
          <p:nvPr/>
        </p:nvSpPr>
        <p:spPr>
          <a:xfrm>
            <a:off x="4846320" y="2514600"/>
            <a:ext cx="3566160" cy="347473"/>
          </a:xfrm>
          <a:prstGeom prst="rect">
            <a:avLst/>
          </a:prstGeom>
          <a:solidFill>
            <a:srgbClr val="FFFFFF"/>
          </a:solidFill>
          <a:ln w="12700">
            <a:miter lim="400000"/>
          </a:ln>
        </p:spPr>
        <p:txBody>
          <a:bodyPr lIns="45719" rIns="45719"/>
          <a:lstStyle/>
          <a:p>
            <a:pPr/>
          </a:p>
        </p:txBody>
      </p:sp>
      <p:sp>
        <p:nvSpPr>
          <p:cNvPr id="285" name="Text 26"/>
          <p:cNvSpPr txBox="1"/>
          <p:nvPr/>
        </p:nvSpPr>
        <p:spPr>
          <a:xfrm>
            <a:off x="4983479" y="2558735"/>
            <a:ext cx="3291841" cy="2592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2D2D2D"/>
                </a:solidFill>
                <a:latin typeface="+mn-lt"/>
                <a:ea typeface="+mn-ea"/>
                <a:cs typeface="+mn-cs"/>
                <a:sym typeface="Helvetica"/>
              </a:defRPr>
            </a:lvl1pPr>
          </a:lstStyle>
          <a:p>
            <a:pPr/>
            <a:r>
              <a:t>✓  24h有人ゲスト対応（トラブル・緊急）</a:t>
            </a:r>
          </a:p>
        </p:txBody>
      </p:sp>
      <p:sp>
        <p:nvSpPr>
          <p:cNvPr id="286" name="Shape 27"/>
          <p:cNvSpPr/>
          <p:nvPr/>
        </p:nvSpPr>
        <p:spPr>
          <a:xfrm>
            <a:off x="4846320" y="2926079"/>
            <a:ext cx="3566160" cy="347473"/>
          </a:xfrm>
          <a:prstGeom prst="rect">
            <a:avLst/>
          </a:prstGeom>
          <a:solidFill>
            <a:srgbClr val="FFFFFF"/>
          </a:solidFill>
          <a:ln w="12700">
            <a:miter lim="400000"/>
          </a:ln>
        </p:spPr>
        <p:txBody>
          <a:bodyPr lIns="45719" rIns="45719"/>
          <a:lstStyle/>
          <a:p>
            <a:pPr/>
          </a:p>
        </p:txBody>
      </p:sp>
      <p:sp>
        <p:nvSpPr>
          <p:cNvPr id="287" name="Text 28"/>
          <p:cNvSpPr txBox="1"/>
          <p:nvPr/>
        </p:nvSpPr>
        <p:spPr>
          <a:xfrm>
            <a:off x="4983479" y="2970215"/>
            <a:ext cx="3291841" cy="2592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2D2D2D"/>
                </a:solidFill>
                <a:latin typeface="+mn-lt"/>
                <a:ea typeface="+mn-ea"/>
                <a:cs typeface="+mn-cs"/>
                <a:sym typeface="Helvetica"/>
              </a:defRPr>
            </a:lvl1pPr>
          </a:lstStyle>
          <a:p>
            <a:pPr/>
            <a:r>
              <a:t>✓  法務サポート（届出・規制対応）</a:t>
            </a:r>
          </a:p>
        </p:txBody>
      </p:sp>
      <p:sp>
        <p:nvSpPr>
          <p:cNvPr id="288" name="Shape 29"/>
          <p:cNvSpPr/>
          <p:nvPr/>
        </p:nvSpPr>
        <p:spPr>
          <a:xfrm>
            <a:off x="4846320" y="3337559"/>
            <a:ext cx="3566160" cy="347473"/>
          </a:xfrm>
          <a:prstGeom prst="rect">
            <a:avLst/>
          </a:prstGeom>
          <a:solidFill>
            <a:srgbClr val="FFFFFF"/>
          </a:solidFill>
          <a:ln w="12700">
            <a:miter lim="400000"/>
          </a:ln>
        </p:spPr>
        <p:txBody>
          <a:bodyPr lIns="45719" rIns="45719"/>
          <a:lstStyle/>
          <a:p>
            <a:pPr/>
          </a:p>
        </p:txBody>
      </p:sp>
      <p:sp>
        <p:nvSpPr>
          <p:cNvPr id="289" name="Text 30"/>
          <p:cNvSpPr txBox="1"/>
          <p:nvPr/>
        </p:nvSpPr>
        <p:spPr>
          <a:xfrm>
            <a:off x="4983479" y="3381695"/>
            <a:ext cx="3291841" cy="2592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2D2D2D"/>
                </a:solidFill>
                <a:latin typeface="+mn-lt"/>
                <a:ea typeface="+mn-ea"/>
                <a:cs typeface="+mn-cs"/>
                <a:sym typeface="Helvetica"/>
              </a:defRPr>
            </a:lvl1pPr>
          </a:lstStyle>
          <a:p>
            <a:pPr/>
            <a:r>
              <a:t>✓  カスタマーサクセス（月次改善提案）</a:t>
            </a:r>
          </a:p>
        </p:txBody>
      </p:sp>
      <p:sp>
        <p:nvSpPr>
          <p:cNvPr id="290" name="Shape 31"/>
          <p:cNvSpPr/>
          <p:nvPr/>
        </p:nvSpPr>
        <p:spPr>
          <a:xfrm>
            <a:off x="4846320" y="3749040"/>
            <a:ext cx="3566160" cy="347473"/>
          </a:xfrm>
          <a:prstGeom prst="rect">
            <a:avLst/>
          </a:prstGeom>
          <a:solidFill>
            <a:srgbClr val="FFFFFF"/>
          </a:solidFill>
          <a:ln w="12700">
            <a:miter lim="400000"/>
          </a:ln>
        </p:spPr>
        <p:txBody>
          <a:bodyPr lIns="45719" rIns="45719"/>
          <a:lstStyle/>
          <a:p>
            <a:pPr/>
          </a:p>
        </p:txBody>
      </p:sp>
      <p:sp>
        <p:nvSpPr>
          <p:cNvPr id="291" name="Text 32"/>
          <p:cNvSpPr txBox="1"/>
          <p:nvPr/>
        </p:nvSpPr>
        <p:spPr>
          <a:xfrm>
            <a:off x="4983479" y="3793175"/>
            <a:ext cx="3291841" cy="2592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2D2D2D"/>
                </a:solidFill>
                <a:latin typeface="+mn-lt"/>
                <a:ea typeface="+mn-ea"/>
                <a:cs typeface="+mn-cs"/>
                <a:sym typeface="Helvetica"/>
              </a:defRPr>
            </a:lvl1pPr>
          </a:lstStyle>
          <a:p>
            <a:pPr/>
            <a:r>
              <a:t>✓  イレギュラー対応（近隣・設備故障）</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3" name="Text 0"/>
          <p:cNvSpPr txBox="1"/>
          <p:nvPr/>
        </p:nvSpPr>
        <p:spPr>
          <a:xfrm>
            <a:off x="8092439" y="4828540"/>
            <a:ext cx="548641"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9AA0A6"/>
                </a:solidFill>
                <a:latin typeface="+mn-lt"/>
                <a:ea typeface="+mn-ea"/>
                <a:cs typeface="+mn-cs"/>
                <a:sym typeface="Helvetica"/>
              </a:defRPr>
            </a:lvl1pPr>
          </a:lstStyle>
          <a:p>
            <a:pPr/>
            <a:r>
              <a:t>7 / 9</a:t>
            </a:r>
          </a:p>
        </p:txBody>
      </p:sp>
      <p:sp>
        <p:nvSpPr>
          <p:cNvPr id="294" name="Text 1"/>
          <p:cNvSpPr txBox="1"/>
          <p:nvPr/>
        </p:nvSpPr>
        <p:spPr>
          <a:xfrm>
            <a:off x="502919" y="4828540"/>
            <a:ext cx="2651762"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9AA0A6"/>
                </a:solidFill>
                <a:latin typeface="+mn-lt"/>
                <a:ea typeface="+mn-ea"/>
                <a:cs typeface="+mn-cs"/>
                <a:sym typeface="Helvetica"/>
              </a:defRPr>
            </a:lvl1pPr>
          </a:lstStyle>
          <a:p>
            <a:pPr/>
            <a:r>
              <a:t>SEKAI STAY  |  CONFIDENTIAL</a:t>
            </a:r>
          </a:p>
        </p:txBody>
      </p:sp>
      <p:sp>
        <p:nvSpPr>
          <p:cNvPr id="295" name="Shape 2"/>
          <p:cNvSpPr/>
          <p:nvPr/>
        </p:nvSpPr>
        <p:spPr>
          <a:xfrm>
            <a:off x="548640" y="411480"/>
            <a:ext cx="1097281" cy="1"/>
          </a:xfrm>
          <a:prstGeom prst="line">
            <a:avLst/>
          </a:prstGeom>
          <a:ln w="38100">
            <a:solidFill>
              <a:srgbClr val="259DA3"/>
            </a:solidFill>
          </a:ln>
        </p:spPr>
        <p:txBody>
          <a:bodyPr lIns="45719" rIns="45719"/>
          <a:lstStyle/>
          <a:p>
            <a:pPr/>
          </a:p>
        </p:txBody>
      </p:sp>
      <p:sp>
        <p:nvSpPr>
          <p:cNvPr id="296" name="Text 3"/>
          <p:cNvSpPr txBox="1"/>
          <p:nvPr/>
        </p:nvSpPr>
        <p:spPr>
          <a:xfrm>
            <a:off x="594359" y="505968"/>
            <a:ext cx="3566161" cy="3962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400">
                <a:solidFill>
                  <a:srgbClr val="2D2D2D"/>
                </a:solidFill>
                <a:latin typeface="+mn-lt"/>
                <a:ea typeface="+mn-ea"/>
                <a:cs typeface="+mn-cs"/>
                <a:sym typeface="Helvetica"/>
              </a:defRPr>
            </a:lvl1pPr>
          </a:lstStyle>
          <a:p>
            <a:pPr/>
            <a:r>
              <a:t>導入実績</a:t>
            </a:r>
          </a:p>
        </p:txBody>
      </p:sp>
      <p:sp>
        <p:nvSpPr>
          <p:cNvPr id="297" name="Text 4"/>
          <p:cNvSpPr txBox="1"/>
          <p:nvPr/>
        </p:nvSpPr>
        <p:spPr>
          <a:xfrm>
            <a:off x="594359" y="892683"/>
            <a:ext cx="7223761" cy="26289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5F6368"/>
                </a:solidFill>
                <a:latin typeface="+mn-lt"/>
                <a:ea typeface="+mn-ea"/>
                <a:cs typeface="+mn-cs"/>
                <a:sym typeface="Helvetica"/>
              </a:defRPr>
            </a:lvl1pPr>
          </a:lstStyle>
          <a:p>
            <a:pPr/>
            <a:r>
              <a:t>数字が、実力を証明する。</a:t>
            </a:r>
          </a:p>
        </p:txBody>
      </p:sp>
      <p:sp>
        <p:nvSpPr>
          <p:cNvPr id="298" name="Shape 5"/>
          <p:cNvSpPr/>
          <p:nvPr/>
        </p:nvSpPr>
        <p:spPr>
          <a:xfrm>
            <a:off x="548640" y="1280160"/>
            <a:ext cx="1920240" cy="1005840"/>
          </a:xfrm>
          <a:prstGeom prst="rect">
            <a:avLst/>
          </a:prstGeom>
          <a:solidFill>
            <a:srgbClr val="E5F4F5"/>
          </a:solidFill>
          <a:ln w="12700">
            <a:miter lim="400000"/>
          </a:ln>
          <a:effectLst>
            <a:outerShdw sx="100000" sy="100000" kx="0" ky="0" algn="b" rotWithShape="0" blurRad="50800" dist="19050" dir="8100000">
              <a:srgbClr val="000000">
                <a:alpha val="6000"/>
              </a:srgbClr>
            </a:outerShdw>
          </a:effectLst>
        </p:spPr>
        <p:txBody>
          <a:bodyPr lIns="45719" rIns="45719"/>
          <a:lstStyle/>
          <a:p>
            <a:pPr/>
          </a:p>
        </p:txBody>
      </p:sp>
      <p:sp>
        <p:nvSpPr>
          <p:cNvPr id="299" name="Text 6"/>
          <p:cNvSpPr txBox="1"/>
          <p:nvPr/>
        </p:nvSpPr>
        <p:spPr>
          <a:xfrm>
            <a:off x="594360" y="1315719"/>
            <a:ext cx="1828801" cy="523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2800">
                <a:solidFill>
                  <a:srgbClr val="259DA3"/>
                </a:solidFill>
                <a:latin typeface="+mn-lt"/>
                <a:ea typeface="+mn-ea"/>
                <a:cs typeface="+mn-cs"/>
                <a:sym typeface="Helvetica"/>
              </a:defRPr>
            </a:lvl1pPr>
          </a:lstStyle>
          <a:p>
            <a:pPr/>
            <a:r>
              <a:t>5年</a:t>
            </a:r>
          </a:p>
        </p:txBody>
      </p:sp>
      <p:sp>
        <p:nvSpPr>
          <p:cNvPr id="300" name="Text 7"/>
          <p:cNvSpPr txBox="1"/>
          <p:nvPr/>
        </p:nvSpPr>
        <p:spPr>
          <a:xfrm>
            <a:off x="594360" y="1902460"/>
            <a:ext cx="1828801"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5F6368"/>
                </a:solidFill>
                <a:latin typeface="+mn-lt"/>
                <a:ea typeface="+mn-ea"/>
                <a:cs typeface="+mn-cs"/>
                <a:sym typeface="Helvetica"/>
              </a:defRPr>
            </a:lvl1pPr>
          </a:lstStyle>
          <a:p>
            <a:pPr/>
            <a:r>
              <a:t>スタッフ平均運営歴</a:t>
            </a:r>
          </a:p>
        </p:txBody>
      </p:sp>
      <p:sp>
        <p:nvSpPr>
          <p:cNvPr id="301" name="Shape 8"/>
          <p:cNvSpPr/>
          <p:nvPr/>
        </p:nvSpPr>
        <p:spPr>
          <a:xfrm>
            <a:off x="2697479" y="1280160"/>
            <a:ext cx="1920241" cy="1005840"/>
          </a:xfrm>
          <a:prstGeom prst="rect">
            <a:avLst/>
          </a:prstGeom>
          <a:solidFill>
            <a:srgbClr val="E5F4F5"/>
          </a:solidFill>
          <a:ln w="12700">
            <a:miter lim="400000"/>
          </a:ln>
          <a:effectLst>
            <a:outerShdw sx="100000" sy="100000" kx="0" ky="0" algn="b" rotWithShape="0" blurRad="50800" dist="19050" dir="8100000">
              <a:srgbClr val="000000">
                <a:alpha val="6000"/>
              </a:srgbClr>
            </a:outerShdw>
          </a:effectLst>
        </p:spPr>
        <p:txBody>
          <a:bodyPr lIns="45719" rIns="45719"/>
          <a:lstStyle/>
          <a:p>
            <a:pPr/>
          </a:p>
        </p:txBody>
      </p:sp>
      <p:sp>
        <p:nvSpPr>
          <p:cNvPr id="302" name="Text 9"/>
          <p:cNvSpPr txBox="1"/>
          <p:nvPr/>
        </p:nvSpPr>
        <p:spPr>
          <a:xfrm>
            <a:off x="2743200" y="1315719"/>
            <a:ext cx="1828800" cy="523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2800">
                <a:solidFill>
                  <a:srgbClr val="259DA3"/>
                </a:solidFill>
                <a:latin typeface="+mn-lt"/>
                <a:ea typeface="+mn-ea"/>
                <a:cs typeface="+mn-cs"/>
                <a:sym typeface="Helvetica"/>
              </a:defRPr>
            </a:lvl1pPr>
          </a:lstStyle>
          <a:p>
            <a:pPr/>
            <a:r>
              <a:t>4.9</a:t>
            </a:r>
          </a:p>
        </p:txBody>
      </p:sp>
      <p:sp>
        <p:nvSpPr>
          <p:cNvPr id="303" name="Text 10"/>
          <p:cNvSpPr txBox="1"/>
          <p:nvPr/>
        </p:nvSpPr>
        <p:spPr>
          <a:xfrm>
            <a:off x="2743200" y="1902460"/>
            <a:ext cx="1828800"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5F6368"/>
                </a:solidFill>
                <a:latin typeface="+mn-lt"/>
                <a:ea typeface="+mn-ea"/>
                <a:cs typeface="+mn-cs"/>
                <a:sym typeface="Helvetica"/>
              </a:defRPr>
            </a:lvl1pPr>
          </a:lstStyle>
          <a:p>
            <a:pPr/>
            <a:r>
              <a:t>ゲスト満足度</a:t>
            </a:r>
          </a:p>
        </p:txBody>
      </p:sp>
      <p:sp>
        <p:nvSpPr>
          <p:cNvPr id="304" name="Shape 11"/>
          <p:cNvSpPr/>
          <p:nvPr/>
        </p:nvSpPr>
        <p:spPr>
          <a:xfrm>
            <a:off x="4846320" y="1280160"/>
            <a:ext cx="1920241" cy="1005840"/>
          </a:xfrm>
          <a:prstGeom prst="rect">
            <a:avLst/>
          </a:prstGeom>
          <a:solidFill>
            <a:srgbClr val="E5F4F5"/>
          </a:solidFill>
          <a:ln w="12700">
            <a:miter lim="400000"/>
          </a:ln>
          <a:effectLst>
            <a:outerShdw sx="100000" sy="100000" kx="0" ky="0" algn="b" rotWithShape="0" blurRad="50800" dist="19050" dir="8100000">
              <a:srgbClr val="000000">
                <a:alpha val="6000"/>
              </a:srgbClr>
            </a:outerShdw>
          </a:effectLst>
        </p:spPr>
        <p:txBody>
          <a:bodyPr lIns="45719" rIns="45719"/>
          <a:lstStyle/>
          <a:p>
            <a:pPr/>
          </a:p>
        </p:txBody>
      </p:sp>
      <p:sp>
        <p:nvSpPr>
          <p:cNvPr id="305" name="Text 12"/>
          <p:cNvSpPr txBox="1"/>
          <p:nvPr/>
        </p:nvSpPr>
        <p:spPr>
          <a:xfrm>
            <a:off x="4892040" y="1315719"/>
            <a:ext cx="1828801" cy="523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2800">
                <a:solidFill>
                  <a:srgbClr val="259DA3"/>
                </a:solidFill>
                <a:latin typeface="+mn-lt"/>
                <a:ea typeface="+mn-ea"/>
                <a:cs typeface="+mn-cs"/>
                <a:sym typeface="Helvetica"/>
              </a:defRPr>
            </a:lvl1pPr>
          </a:lstStyle>
          <a:p>
            <a:pPr/>
            <a:r>
              <a:t>76%</a:t>
            </a:r>
          </a:p>
        </p:txBody>
      </p:sp>
      <p:sp>
        <p:nvSpPr>
          <p:cNvPr id="306" name="Text 13"/>
          <p:cNvSpPr txBox="1"/>
          <p:nvPr/>
        </p:nvSpPr>
        <p:spPr>
          <a:xfrm>
            <a:off x="4892040" y="1902460"/>
            <a:ext cx="1828801"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5F6368"/>
                </a:solidFill>
                <a:latin typeface="+mn-lt"/>
                <a:ea typeface="+mn-ea"/>
                <a:cs typeface="+mn-cs"/>
                <a:sym typeface="Helvetica"/>
              </a:defRPr>
            </a:lvl1pPr>
          </a:lstStyle>
          <a:p>
            <a:pPr/>
            <a:r>
              <a:t>平均稼働率</a:t>
            </a:r>
          </a:p>
        </p:txBody>
      </p:sp>
      <p:sp>
        <p:nvSpPr>
          <p:cNvPr id="307" name="Shape 14"/>
          <p:cNvSpPr/>
          <p:nvPr/>
        </p:nvSpPr>
        <p:spPr>
          <a:xfrm>
            <a:off x="6995159" y="1280160"/>
            <a:ext cx="1920241" cy="1005840"/>
          </a:xfrm>
          <a:prstGeom prst="rect">
            <a:avLst/>
          </a:prstGeom>
          <a:solidFill>
            <a:srgbClr val="E5F4F5"/>
          </a:solidFill>
          <a:ln w="12700">
            <a:miter lim="400000"/>
          </a:ln>
          <a:effectLst>
            <a:outerShdw sx="100000" sy="100000" kx="0" ky="0" algn="b" rotWithShape="0" blurRad="50800" dist="19050" dir="8100000">
              <a:srgbClr val="000000">
                <a:alpha val="6000"/>
              </a:srgbClr>
            </a:outerShdw>
          </a:effectLst>
        </p:spPr>
        <p:txBody>
          <a:bodyPr lIns="45719" rIns="45719"/>
          <a:lstStyle/>
          <a:p>
            <a:pPr/>
          </a:p>
        </p:txBody>
      </p:sp>
      <p:sp>
        <p:nvSpPr>
          <p:cNvPr id="308" name="Text 15"/>
          <p:cNvSpPr txBox="1"/>
          <p:nvPr/>
        </p:nvSpPr>
        <p:spPr>
          <a:xfrm>
            <a:off x="7040879" y="1315719"/>
            <a:ext cx="1828801" cy="523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2800">
                <a:solidFill>
                  <a:srgbClr val="259DA3"/>
                </a:solidFill>
                <a:latin typeface="+mn-lt"/>
                <a:ea typeface="+mn-ea"/>
                <a:cs typeface="+mn-cs"/>
                <a:sym typeface="Helvetica"/>
              </a:defRPr>
            </a:lvl1pPr>
          </a:lstStyle>
          <a:p>
            <a:pPr/>
            <a:r>
              <a:t>100%</a:t>
            </a:r>
          </a:p>
        </p:txBody>
      </p:sp>
      <p:sp>
        <p:nvSpPr>
          <p:cNvPr id="309" name="Text 16"/>
          <p:cNvSpPr txBox="1"/>
          <p:nvPr/>
        </p:nvSpPr>
        <p:spPr>
          <a:xfrm>
            <a:off x="7040879" y="1902460"/>
            <a:ext cx="1828801"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5F6368"/>
                </a:solidFill>
                <a:latin typeface="+mn-lt"/>
                <a:ea typeface="+mn-ea"/>
                <a:cs typeface="+mn-cs"/>
                <a:sym typeface="Helvetica"/>
              </a:defRPr>
            </a:lvl1pPr>
          </a:lstStyle>
          <a:p>
            <a:pPr/>
            <a:r>
              <a:t>オーナー継続率</a:t>
            </a:r>
          </a:p>
        </p:txBody>
      </p:sp>
      <p:sp>
        <p:nvSpPr>
          <p:cNvPr id="310" name="Shape 17"/>
          <p:cNvSpPr/>
          <p:nvPr/>
        </p:nvSpPr>
        <p:spPr>
          <a:xfrm>
            <a:off x="548639" y="2514600"/>
            <a:ext cx="4023361" cy="2103121"/>
          </a:xfrm>
          <a:prstGeom prst="rect">
            <a:avLst/>
          </a:prstGeom>
          <a:solidFill>
            <a:srgbClr val="F7F8FA"/>
          </a:solidFill>
          <a:ln w="12700">
            <a:miter lim="400000"/>
          </a:ln>
          <a:effectLst>
            <a:outerShdw sx="100000" sy="100000" kx="0" ky="0" algn="b" rotWithShape="0" blurRad="50800" dist="19050" dir="8100000">
              <a:srgbClr val="000000">
                <a:alpha val="6000"/>
              </a:srgbClr>
            </a:outerShdw>
          </a:effectLst>
        </p:spPr>
        <p:txBody>
          <a:bodyPr lIns="45719" rIns="45719"/>
          <a:lstStyle/>
          <a:p>
            <a:pPr/>
          </a:p>
        </p:txBody>
      </p:sp>
      <p:sp>
        <p:nvSpPr>
          <p:cNvPr id="311" name="Shape 18"/>
          <p:cNvSpPr/>
          <p:nvPr/>
        </p:nvSpPr>
        <p:spPr>
          <a:xfrm>
            <a:off x="548640" y="2514600"/>
            <a:ext cx="54865" cy="2103121"/>
          </a:xfrm>
          <a:prstGeom prst="rect">
            <a:avLst/>
          </a:prstGeom>
          <a:solidFill>
            <a:srgbClr val="259DA3"/>
          </a:solidFill>
          <a:ln w="12700">
            <a:miter lim="400000"/>
          </a:ln>
        </p:spPr>
        <p:txBody>
          <a:bodyPr lIns="45719" rIns="45719"/>
          <a:lstStyle/>
          <a:p>
            <a:pPr/>
          </a:p>
        </p:txBody>
      </p:sp>
      <p:sp>
        <p:nvSpPr>
          <p:cNvPr id="312" name="Shape 19"/>
          <p:cNvSpPr/>
          <p:nvPr/>
        </p:nvSpPr>
        <p:spPr>
          <a:xfrm>
            <a:off x="679785" y="3177539"/>
            <a:ext cx="1645921" cy="640081"/>
          </a:xfrm>
          <a:prstGeom prst="rect">
            <a:avLst/>
          </a:prstGeom>
          <a:solidFill>
            <a:srgbClr val="E5F4F5"/>
          </a:solidFill>
          <a:ln w="12700">
            <a:miter lim="400000"/>
          </a:ln>
        </p:spPr>
        <p:txBody>
          <a:bodyPr lIns="45719" rIns="45719"/>
          <a:lstStyle/>
          <a:p>
            <a:pPr/>
          </a:p>
        </p:txBody>
      </p:sp>
      <p:sp>
        <p:nvSpPr>
          <p:cNvPr id="313" name="Text 20"/>
          <p:cNvSpPr txBox="1"/>
          <p:nvPr/>
        </p:nvSpPr>
        <p:spPr>
          <a:xfrm>
            <a:off x="725505" y="3174999"/>
            <a:ext cx="1554481"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a:solidFill>
                  <a:srgbClr val="E65100"/>
                </a:solidFill>
                <a:latin typeface="+mn-lt"/>
                <a:ea typeface="+mn-ea"/>
                <a:cs typeface="+mn-cs"/>
                <a:sym typeface="Helvetica"/>
              </a:defRPr>
            </a:lvl1pPr>
          </a:lstStyle>
          <a:p>
            <a:pPr/>
            <a:r>
              <a:t>年間288万円</a:t>
            </a:r>
          </a:p>
        </p:txBody>
      </p:sp>
      <p:sp>
        <p:nvSpPr>
          <p:cNvPr id="314" name="Text 21"/>
          <p:cNvSpPr txBox="1"/>
          <p:nvPr/>
        </p:nvSpPr>
        <p:spPr>
          <a:xfrm>
            <a:off x="725505" y="3548379"/>
            <a:ext cx="1554481"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5F6368"/>
                </a:solidFill>
                <a:latin typeface="+mn-lt"/>
                <a:ea typeface="+mn-ea"/>
                <a:cs typeface="+mn-cs"/>
                <a:sym typeface="Helvetica"/>
              </a:defRPr>
            </a:lvl1pPr>
          </a:lstStyle>
          <a:p>
            <a:pPr/>
            <a:r>
              <a:t>手数料削減</a:t>
            </a:r>
          </a:p>
        </p:txBody>
      </p:sp>
      <p:sp>
        <p:nvSpPr>
          <p:cNvPr id="315" name="Text 22"/>
          <p:cNvSpPr txBox="1"/>
          <p:nvPr/>
        </p:nvSpPr>
        <p:spPr>
          <a:xfrm>
            <a:off x="2401987" y="2724149"/>
            <a:ext cx="2029969" cy="12192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nSpc>
                <a:spcPct val="140000"/>
              </a:lnSpc>
              <a:defRPr sz="1000">
                <a:solidFill>
                  <a:srgbClr val="2D2D2D"/>
                </a:solidFill>
                <a:latin typeface="+mn-lt"/>
                <a:ea typeface="+mn-ea"/>
                <a:cs typeface="+mn-cs"/>
                <a:sym typeface="Helvetica"/>
              </a:defRPr>
            </a:pPr>
            <a:r>
              <a:t>15%が当たり前だと思っていた。</a:t>
            </a:r>
          </a:p>
          <a:p>
            <a:pPr>
              <a:lnSpc>
                <a:spcPct val="140000"/>
              </a:lnSpc>
              <a:defRPr sz="1000">
                <a:solidFill>
                  <a:srgbClr val="2D2D2D"/>
                </a:solidFill>
                <a:latin typeface="+mn-lt"/>
                <a:ea typeface="+mn-ea"/>
                <a:cs typeface="+mn-cs"/>
                <a:sym typeface="Helvetica"/>
              </a:defRPr>
            </a:pPr>
            <a:r>
              <a:t>管理画面で全部見える化されてるし対応も早い。</a:t>
            </a:r>
          </a:p>
          <a:p>
            <a:pPr>
              <a:lnSpc>
                <a:spcPct val="140000"/>
              </a:lnSpc>
              <a:defRPr sz="1000">
                <a:solidFill>
                  <a:srgbClr val="2D2D2D"/>
                </a:solidFill>
                <a:latin typeface="+mn-lt"/>
                <a:ea typeface="+mn-ea"/>
                <a:cs typeface="+mn-cs"/>
                <a:sym typeface="Helvetica"/>
              </a:defRPr>
            </a:pPr>
            <a:r>
              <a:t>「なんで今まであんなに払ってたんだ」が正直な感想。</a:t>
            </a:r>
          </a:p>
        </p:txBody>
      </p:sp>
      <p:sp>
        <p:nvSpPr>
          <p:cNvPr id="316" name="Text 23"/>
          <p:cNvSpPr txBox="1"/>
          <p:nvPr/>
        </p:nvSpPr>
        <p:spPr>
          <a:xfrm>
            <a:off x="822959" y="4230624"/>
            <a:ext cx="3474720" cy="243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solidFill>
                  <a:srgbClr val="9AA0A6"/>
                </a:solidFill>
                <a:latin typeface="+mn-lt"/>
                <a:ea typeface="+mn-ea"/>
                <a:cs typeface="+mn-cs"/>
                <a:sym typeface="Helvetica"/>
              </a:defRPr>
            </a:lvl1pPr>
          </a:lstStyle>
          <a:p>
            <a:pPr/>
            <a:r>
              <a:t>T様（36歳）  |  戸建て1棟 / 京都府</a:t>
            </a:r>
          </a:p>
        </p:txBody>
      </p:sp>
      <p:sp>
        <p:nvSpPr>
          <p:cNvPr id="317" name="Shape 24"/>
          <p:cNvSpPr/>
          <p:nvPr/>
        </p:nvSpPr>
        <p:spPr>
          <a:xfrm>
            <a:off x="4754879" y="2514600"/>
            <a:ext cx="3840481" cy="2103121"/>
          </a:xfrm>
          <a:prstGeom prst="rect">
            <a:avLst/>
          </a:prstGeom>
          <a:solidFill>
            <a:srgbClr val="F7F8FA"/>
          </a:solidFill>
          <a:ln w="12700">
            <a:miter lim="400000"/>
          </a:ln>
          <a:effectLst>
            <a:outerShdw sx="100000" sy="100000" kx="0" ky="0" algn="b" rotWithShape="0" blurRad="50800" dist="19050" dir="8100000">
              <a:srgbClr val="000000">
                <a:alpha val="6000"/>
              </a:srgbClr>
            </a:outerShdw>
          </a:effectLst>
        </p:spPr>
        <p:txBody>
          <a:bodyPr lIns="45719" rIns="45719"/>
          <a:lstStyle/>
          <a:p>
            <a:pPr/>
          </a:p>
        </p:txBody>
      </p:sp>
      <p:sp>
        <p:nvSpPr>
          <p:cNvPr id="318" name="Shape 25"/>
          <p:cNvSpPr/>
          <p:nvPr/>
        </p:nvSpPr>
        <p:spPr>
          <a:xfrm>
            <a:off x="4754879" y="2514600"/>
            <a:ext cx="54865" cy="2103121"/>
          </a:xfrm>
          <a:prstGeom prst="rect">
            <a:avLst/>
          </a:prstGeom>
          <a:solidFill>
            <a:srgbClr val="259DA3"/>
          </a:solidFill>
          <a:ln w="12700">
            <a:miter lim="400000"/>
          </a:ln>
        </p:spPr>
        <p:txBody>
          <a:bodyPr lIns="45719" rIns="45719"/>
          <a:lstStyle/>
          <a:p>
            <a:pPr/>
          </a:p>
        </p:txBody>
      </p:sp>
      <p:sp>
        <p:nvSpPr>
          <p:cNvPr id="319" name="Shape 26"/>
          <p:cNvSpPr/>
          <p:nvPr/>
        </p:nvSpPr>
        <p:spPr>
          <a:xfrm>
            <a:off x="4892039" y="3176269"/>
            <a:ext cx="1645921" cy="640081"/>
          </a:xfrm>
          <a:prstGeom prst="rect">
            <a:avLst/>
          </a:prstGeom>
          <a:solidFill>
            <a:srgbClr val="E5F4F5"/>
          </a:solidFill>
          <a:ln w="12700">
            <a:miter lim="400000"/>
          </a:ln>
        </p:spPr>
        <p:txBody>
          <a:bodyPr lIns="45719" rIns="45719"/>
          <a:lstStyle/>
          <a:p>
            <a:pPr/>
          </a:p>
        </p:txBody>
      </p:sp>
      <p:sp>
        <p:nvSpPr>
          <p:cNvPr id="320" name="Text 27"/>
          <p:cNvSpPr txBox="1"/>
          <p:nvPr/>
        </p:nvSpPr>
        <p:spPr>
          <a:xfrm>
            <a:off x="4937759" y="3173729"/>
            <a:ext cx="1554481"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a:solidFill>
                  <a:srgbClr val="259DA3"/>
                </a:solidFill>
                <a:latin typeface="+mn-lt"/>
                <a:ea typeface="+mn-ea"/>
                <a:cs typeface="+mn-cs"/>
                <a:sym typeface="Helvetica"/>
              </a:defRPr>
            </a:lvl1pPr>
          </a:lstStyle>
          <a:p>
            <a:pPr/>
            <a:r>
              <a:t>稼働率 2倍</a:t>
            </a:r>
          </a:p>
        </p:txBody>
      </p:sp>
      <p:sp>
        <p:nvSpPr>
          <p:cNvPr id="321" name="Text 28"/>
          <p:cNvSpPr txBox="1"/>
          <p:nvPr/>
        </p:nvSpPr>
        <p:spPr>
          <a:xfrm>
            <a:off x="4937759" y="3533200"/>
            <a:ext cx="1554481" cy="24626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5F6368"/>
                </a:solidFill>
                <a:latin typeface="+mn-lt"/>
                <a:ea typeface="+mn-ea"/>
                <a:cs typeface="+mn-cs"/>
                <a:sym typeface="Helvetica"/>
              </a:defRPr>
            </a:lvl1pPr>
          </a:lstStyle>
          <a:p>
            <a:pPr/>
            <a:r>
              <a:t>38% → 76%</a:t>
            </a:r>
          </a:p>
        </p:txBody>
      </p:sp>
      <p:sp>
        <p:nvSpPr>
          <p:cNvPr id="322" name="Text 29"/>
          <p:cNvSpPr txBox="1"/>
          <p:nvPr/>
        </p:nvSpPr>
        <p:spPr>
          <a:xfrm>
            <a:off x="6620255" y="2827019"/>
            <a:ext cx="1938529" cy="14605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nSpc>
                <a:spcPct val="140000"/>
              </a:lnSpc>
              <a:defRPr sz="1000">
                <a:solidFill>
                  <a:srgbClr val="2D2D2D"/>
                </a:solidFill>
                <a:latin typeface="+mn-lt"/>
                <a:ea typeface="+mn-ea"/>
                <a:cs typeface="+mn-cs"/>
                <a:sym typeface="Helvetica"/>
              </a:defRPr>
            </a:pPr>
            <a:r>
              <a:t>任せてからは掲載が見違えた。</a:t>
            </a:r>
          </a:p>
          <a:p>
            <a:pPr>
              <a:lnSpc>
                <a:spcPct val="140000"/>
              </a:lnSpc>
              <a:defRPr sz="1000">
                <a:solidFill>
                  <a:srgbClr val="2D2D2D"/>
                </a:solidFill>
                <a:latin typeface="+mn-lt"/>
                <a:ea typeface="+mn-ea"/>
                <a:cs typeface="+mn-cs"/>
                <a:sym typeface="Helvetica"/>
              </a:defRPr>
            </a:pPr>
            <a:r>
              <a:t>写真のトンマナを変えただけで予約が入り始めたのは衝撃的でした。</a:t>
            </a:r>
          </a:p>
          <a:p>
            <a:pPr>
              <a:lnSpc>
                <a:spcPct val="140000"/>
              </a:lnSpc>
              <a:defRPr sz="1000">
                <a:solidFill>
                  <a:srgbClr val="2D2D2D"/>
                </a:solidFill>
                <a:latin typeface="+mn-lt"/>
                <a:ea typeface="+mn-ea"/>
                <a:cs typeface="+mn-cs"/>
                <a:sym typeface="Helvetica"/>
              </a:defRPr>
            </a:pPr>
            <a:r>
              <a:t>PRをしてくれた結果、民泊の権威的な賞も受賞してくれた。</a:t>
            </a:r>
          </a:p>
        </p:txBody>
      </p:sp>
      <p:sp>
        <p:nvSpPr>
          <p:cNvPr id="323" name="Text 30"/>
          <p:cNvSpPr txBox="1"/>
          <p:nvPr/>
        </p:nvSpPr>
        <p:spPr>
          <a:xfrm>
            <a:off x="5129784" y="4314189"/>
            <a:ext cx="3291840" cy="243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solidFill>
                  <a:srgbClr val="9AA0A6"/>
                </a:solidFill>
                <a:latin typeface="+mn-lt"/>
                <a:ea typeface="+mn-ea"/>
                <a:cs typeface="+mn-cs"/>
                <a:sym typeface="Helvetica"/>
              </a:defRPr>
            </a:lvl1pPr>
          </a:lstStyle>
          <a:p>
            <a:pPr/>
            <a:r>
              <a:t>S様（54歳）  |  戸建て4棟 / 長野県</a:t>
            </a:r>
          </a:p>
        </p:txBody>
      </p:sp>
      <p:sp>
        <p:nvSpPr>
          <p:cNvPr id="324" name="Shape 31"/>
          <p:cNvSpPr/>
          <p:nvPr/>
        </p:nvSpPr>
        <p:spPr>
          <a:xfrm>
            <a:off x="7232904" y="2343150"/>
            <a:ext cx="1645921" cy="457200"/>
          </a:xfrm>
          <a:prstGeom prst="rect">
            <a:avLst/>
          </a:prstGeom>
          <a:solidFill>
            <a:srgbClr val="FFF8E1"/>
          </a:solidFill>
          <a:ln w="12700">
            <a:miter lim="400000"/>
          </a:ln>
        </p:spPr>
        <p:txBody>
          <a:bodyPr lIns="45719" rIns="45719"/>
          <a:lstStyle/>
          <a:p>
            <a:pPr/>
          </a:p>
        </p:txBody>
      </p:sp>
      <p:sp>
        <p:nvSpPr>
          <p:cNvPr id="325" name="Text 32"/>
          <p:cNvSpPr txBox="1"/>
          <p:nvPr/>
        </p:nvSpPr>
        <p:spPr>
          <a:xfrm>
            <a:off x="7232904" y="2398013"/>
            <a:ext cx="1554481"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lnSpc>
                <a:spcPct val="120000"/>
              </a:lnSpc>
              <a:defRPr b="1" sz="800">
                <a:solidFill>
                  <a:srgbClr val="E65100"/>
                </a:solidFill>
                <a:latin typeface="+mn-lt"/>
                <a:ea typeface="+mn-ea"/>
                <a:cs typeface="+mn-cs"/>
                <a:sym typeface="Helvetica"/>
              </a:defRPr>
            </a:pPr>
            <a:r>
              <a:t>BEST OF SAUNA</a:t>
            </a:r>
          </a:p>
          <a:p>
            <a:pPr algn="ctr">
              <a:lnSpc>
                <a:spcPct val="120000"/>
              </a:lnSpc>
              <a:defRPr b="1" sz="800">
                <a:solidFill>
                  <a:srgbClr val="E65100"/>
                </a:solidFill>
                <a:latin typeface="+mn-lt"/>
                <a:ea typeface="+mn-ea"/>
                <a:cs typeface="+mn-cs"/>
                <a:sym typeface="Helvetica"/>
              </a:defRPr>
            </a:pPr>
            <a:r>
              <a:t>STAY 2026 金賞</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27" name="1 2.PNG" descr="1 2.PNG"/>
          <p:cNvPicPr>
            <a:picLocks noChangeAspect="1"/>
          </p:cNvPicPr>
          <p:nvPr/>
        </p:nvPicPr>
        <p:blipFill>
          <a:blip r:embed="rId2">
            <a:extLst/>
          </a:blip>
          <a:stretch>
            <a:fillRect/>
          </a:stretch>
        </p:blipFill>
        <p:spPr>
          <a:xfrm>
            <a:off x="-30278" y="-512437"/>
            <a:ext cx="9204556" cy="6136370"/>
          </a:xfrm>
          <a:prstGeom prst="rect">
            <a:avLst/>
          </a:prstGeom>
          <a:ln w="12700">
            <a:miter lim="400000"/>
          </a:ln>
        </p:spPr>
      </p:pic>
      <p:sp>
        <p:nvSpPr>
          <p:cNvPr id="328" name="Shape 0"/>
          <p:cNvSpPr/>
          <p:nvPr/>
        </p:nvSpPr>
        <p:spPr>
          <a:xfrm>
            <a:off x="548640" y="438912"/>
            <a:ext cx="1097281" cy="1"/>
          </a:xfrm>
          <a:prstGeom prst="line">
            <a:avLst/>
          </a:prstGeom>
          <a:ln w="38100">
            <a:solidFill>
              <a:srgbClr val="259DA3"/>
            </a:solidFill>
          </a:ln>
        </p:spPr>
        <p:txBody>
          <a:bodyPr lIns="45719" rIns="45719"/>
          <a:lstStyle/>
          <a:p>
            <a:pPr/>
          </a:p>
        </p:txBody>
      </p:sp>
      <p:sp>
        <p:nvSpPr>
          <p:cNvPr id="329" name="Text 1"/>
          <p:cNvSpPr txBox="1"/>
          <p:nvPr/>
        </p:nvSpPr>
        <p:spPr>
          <a:xfrm>
            <a:off x="594359" y="520699"/>
            <a:ext cx="7223761" cy="421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200">
                <a:solidFill>
                  <a:srgbClr val="2D2D2D"/>
                </a:solidFill>
                <a:latin typeface="+mn-lt"/>
                <a:ea typeface="+mn-ea"/>
                <a:cs typeface="+mn-cs"/>
                <a:sym typeface="Helvetica"/>
              </a:defRPr>
            </a:lvl1pPr>
          </a:lstStyle>
          <a:p>
            <a:pPr/>
            <a:r>
              <a:t>事例紹介 ①  A社</a:t>
            </a:r>
          </a:p>
        </p:txBody>
      </p:sp>
      <p:sp>
        <p:nvSpPr>
          <p:cNvPr id="330" name="Text 2"/>
          <p:cNvSpPr txBox="1"/>
          <p:nvPr/>
        </p:nvSpPr>
        <p:spPr>
          <a:xfrm>
            <a:off x="8092439" y="4805679"/>
            <a:ext cx="640081"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9AA0A6"/>
                </a:solidFill>
                <a:latin typeface="+mn-lt"/>
                <a:ea typeface="+mn-ea"/>
                <a:cs typeface="+mn-cs"/>
                <a:sym typeface="Helvetica"/>
              </a:defRPr>
            </a:lvl1pPr>
          </a:lstStyle>
          <a:p>
            <a:pPr/>
            <a:r>
              <a:t>6 / 10</a:t>
            </a:r>
          </a:p>
        </p:txBody>
      </p:sp>
      <p:sp>
        <p:nvSpPr>
          <p:cNvPr id="331" name="Text 3"/>
          <p:cNvSpPr txBox="1"/>
          <p:nvPr/>
        </p:nvSpPr>
        <p:spPr>
          <a:xfrm>
            <a:off x="502919" y="4818379"/>
            <a:ext cx="2651762" cy="193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700">
                <a:solidFill>
                  <a:srgbClr val="9AA0A6"/>
                </a:solidFill>
                <a:latin typeface="+mn-lt"/>
                <a:ea typeface="+mn-ea"/>
                <a:cs typeface="+mn-cs"/>
                <a:sym typeface="Helvetica"/>
              </a:defRPr>
            </a:lvl1pPr>
          </a:lstStyle>
          <a:p>
            <a:pPr/>
            <a:r>
              <a:t>SEKAI STAY  |  CONFIDENTIAL</a:t>
            </a:r>
          </a:p>
        </p:txBody>
      </p:sp>
      <p:sp>
        <p:nvSpPr>
          <p:cNvPr id="332" name="Text 4"/>
          <p:cNvSpPr txBox="1"/>
          <p:nvPr/>
        </p:nvSpPr>
        <p:spPr>
          <a:xfrm>
            <a:off x="594360" y="923290"/>
            <a:ext cx="795527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FFFFFF"/>
                </a:solidFill>
                <a:latin typeface="+mn-lt"/>
                <a:ea typeface="+mn-ea"/>
                <a:cs typeface="+mn-cs"/>
                <a:sym typeface="Helvetica"/>
              </a:defRPr>
            </a:lvl1pPr>
          </a:lstStyle>
          <a:p>
            <a:pPr/>
            <a:r>
              <a:t>一棟貸しヴィラ  |  フィンランド式サウナ付き</a:t>
            </a:r>
          </a:p>
        </p:txBody>
      </p:sp>
      <p:sp>
        <p:nvSpPr>
          <p:cNvPr id="333" name="Shape 5"/>
          <p:cNvSpPr/>
          <p:nvPr/>
        </p:nvSpPr>
        <p:spPr>
          <a:xfrm>
            <a:off x="548639" y="1325880"/>
            <a:ext cx="4206242" cy="3200401"/>
          </a:xfrm>
          <a:prstGeom prst="rect">
            <a:avLst/>
          </a:prstGeom>
          <a:solidFill>
            <a:srgbClr val="F7F8FA">
              <a:alpha val="69850"/>
            </a:srgbClr>
          </a:solidFill>
          <a:ln w="12700">
            <a:miter lim="400000"/>
          </a:ln>
          <a:effectLst>
            <a:outerShdw sx="100000" sy="100000" kx="0" ky="0" algn="b" rotWithShape="0" blurRad="76200" dist="25400" dir="8100000">
              <a:srgbClr val="000000">
                <a:alpha val="8000"/>
              </a:srgbClr>
            </a:outerShdw>
          </a:effectLst>
        </p:spPr>
        <p:txBody>
          <a:bodyPr lIns="45719" rIns="45719"/>
          <a:lstStyle/>
          <a:p>
            <a:pPr/>
          </a:p>
        </p:txBody>
      </p:sp>
      <p:sp>
        <p:nvSpPr>
          <p:cNvPr id="334" name="Text 6"/>
          <p:cNvSpPr txBox="1"/>
          <p:nvPr/>
        </p:nvSpPr>
        <p:spPr>
          <a:xfrm>
            <a:off x="777239" y="1423035"/>
            <a:ext cx="1737361" cy="26289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167B81"/>
                </a:solidFill>
                <a:latin typeface="+mn-lt"/>
                <a:ea typeface="+mn-ea"/>
                <a:cs typeface="+mn-cs"/>
                <a:sym typeface="Helvetica"/>
              </a:defRPr>
            </a:lvl1pPr>
          </a:lstStyle>
          <a:p>
            <a:pPr/>
            <a:r>
              <a:t>運用実績</a:t>
            </a:r>
          </a:p>
        </p:txBody>
      </p:sp>
      <p:sp>
        <p:nvSpPr>
          <p:cNvPr id="335" name="Shape 7"/>
          <p:cNvSpPr/>
          <p:nvPr/>
        </p:nvSpPr>
        <p:spPr>
          <a:xfrm>
            <a:off x="822959" y="1855216"/>
            <a:ext cx="3657601" cy="447138"/>
          </a:xfrm>
          <a:prstGeom prst="rect">
            <a:avLst/>
          </a:prstGeom>
          <a:solidFill>
            <a:srgbClr val="FFFFFF"/>
          </a:solidFill>
          <a:ln w="12700">
            <a:miter lim="400000"/>
          </a:ln>
        </p:spPr>
        <p:txBody>
          <a:bodyPr lIns="45719" rIns="45719"/>
          <a:lstStyle/>
          <a:p>
            <a:pPr/>
          </a:p>
        </p:txBody>
      </p:sp>
      <p:sp>
        <p:nvSpPr>
          <p:cNvPr id="336" name="Text 9"/>
          <p:cNvSpPr txBox="1"/>
          <p:nvPr/>
        </p:nvSpPr>
        <p:spPr>
          <a:xfrm>
            <a:off x="1040674" y="2024360"/>
            <a:ext cx="2525487" cy="295835"/>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lvl1pPr>
              <a:defRPr b="1" sz="1600">
                <a:solidFill>
                  <a:srgbClr val="167B81"/>
                </a:solidFill>
                <a:latin typeface="+mn-lt"/>
                <a:ea typeface="+mn-ea"/>
                <a:cs typeface="+mn-cs"/>
                <a:sym typeface="Helvetica"/>
              </a:defRPr>
            </a:lvl1pPr>
          </a:lstStyle>
          <a:p>
            <a:pPr/>
            <a:r>
              <a:t>60%→72.5%</a:t>
            </a:r>
          </a:p>
        </p:txBody>
      </p:sp>
      <p:sp>
        <p:nvSpPr>
          <p:cNvPr id="337" name="Shape 10"/>
          <p:cNvSpPr/>
          <p:nvPr/>
        </p:nvSpPr>
        <p:spPr>
          <a:xfrm>
            <a:off x="822959" y="2383652"/>
            <a:ext cx="3657601" cy="447139"/>
          </a:xfrm>
          <a:prstGeom prst="rect">
            <a:avLst/>
          </a:prstGeom>
          <a:solidFill>
            <a:srgbClr val="FFFFFF"/>
          </a:solidFill>
          <a:ln w="12700">
            <a:miter lim="400000"/>
          </a:ln>
        </p:spPr>
        <p:txBody>
          <a:bodyPr lIns="45719" rIns="45719"/>
          <a:lstStyle/>
          <a:p>
            <a:pPr/>
          </a:p>
        </p:txBody>
      </p:sp>
      <p:sp>
        <p:nvSpPr>
          <p:cNvPr id="338" name="Text 12"/>
          <p:cNvSpPr txBox="1"/>
          <p:nvPr/>
        </p:nvSpPr>
        <p:spPr>
          <a:xfrm>
            <a:off x="1040674" y="2552797"/>
            <a:ext cx="2525487" cy="295835"/>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lvl1pPr>
              <a:defRPr b="1" sz="1600">
                <a:solidFill>
                  <a:srgbClr val="167B81"/>
                </a:solidFill>
                <a:latin typeface="+mn-lt"/>
                <a:ea typeface="+mn-ea"/>
                <a:cs typeface="+mn-cs"/>
                <a:sym typeface="Helvetica"/>
              </a:defRPr>
            </a:lvl1pPr>
          </a:lstStyle>
          <a:p>
            <a:pPr/>
            <a:r>
              <a:t>4.9 / 5.0</a:t>
            </a:r>
          </a:p>
        </p:txBody>
      </p:sp>
      <p:sp>
        <p:nvSpPr>
          <p:cNvPr id="339" name="Shape 13"/>
          <p:cNvSpPr/>
          <p:nvPr/>
        </p:nvSpPr>
        <p:spPr>
          <a:xfrm>
            <a:off x="822959" y="2912088"/>
            <a:ext cx="3657601" cy="447139"/>
          </a:xfrm>
          <a:prstGeom prst="rect">
            <a:avLst/>
          </a:prstGeom>
          <a:solidFill>
            <a:srgbClr val="FFFFFF"/>
          </a:solidFill>
          <a:ln w="12700">
            <a:miter lim="400000"/>
          </a:ln>
        </p:spPr>
        <p:txBody>
          <a:bodyPr lIns="45719" rIns="45719"/>
          <a:lstStyle/>
          <a:p>
            <a:pPr/>
          </a:p>
        </p:txBody>
      </p:sp>
      <p:sp>
        <p:nvSpPr>
          <p:cNvPr id="340" name="Text 14"/>
          <p:cNvSpPr txBox="1"/>
          <p:nvPr/>
        </p:nvSpPr>
        <p:spPr>
          <a:xfrm>
            <a:off x="1040674" y="2921573"/>
            <a:ext cx="2090058" cy="216796"/>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lvl1pPr>
              <a:defRPr sz="1000">
                <a:solidFill>
                  <a:srgbClr val="5F6368"/>
                </a:solidFill>
                <a:latin typeface="+mn-lt"/>
                <a:ea typeface="+mn-ea"/>
                <a:cs typeface="+mn-cs"/>
                <a:sym typeface="Helvetica"/>
              </a:defRPr>
            </a:lvl1pPr>
          </a:lstStyle>
          <a:p>
            <a:pPr/>
            <a:r>
              <a:t>Instagram フォロワー</a:t>
            </a:r>
          </a:p>
        </p:txBody>
      </p:sp>
      <p:sp>
        <p:nvSpPr>
          <p:cNvPr id="341" name="Text 15"/>
          <p:cNvSpPr txBox="1"/>
          <p:nvPr/>
        </p:nvSpPr>
        <p:spPr>
          <a:xfrm>
            <a:off x="1040674" y="3081233"/>
            <a:ext cx="2525487" cy="295835"/>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lvl1pPr>
              <a:defRPr b="1" sz="1600">
                <a:solidFill>
                  <a:srgbClr val="167B81"/>
                </a:solidFill>
                <a:latin typeface="+mn-lt"/>
                <a:ea typeface="+mn-ea"/>
                <a:cs typeface="+mn-cs"/>
                <a:sym typeface="Helvetica"/>
              </a:defRPr>
            </a:lvl1pPr>
          </a:lstStyle>
          <a:p>
            <a:pPr/>
            <a:r>
              <a:t>3,500人</a:t>
            </a:r>
          </a:p>
        </p:txBody>
      </p:sp>
      <p:sp>
        <p:nvSpPr>
          <p:cNvPr id="342" name="Shape 16"/>
          <p:cNvSpPr/>
          <p:nvPr/>
        </p:nvSpPr>
        <p:spPr>
          <a:xfrm>
            <a:off x="822959" y="3440525"/>
            <a:ext cx="3657601" cy="447138"/>
          </a:xfrm>
          <a:prstGeom prst="rect">
            <a:avLst/>
          </a:prstGeom>
          <a:solidFill>
            <a:srgbClr val="FFFFFF"/>
          </a:solidFill>
          <a:ln w="12700">
            <a:miter lim="400000"/>
          </a:ln>
        </p:spPr>
        <p:txBody>
          <a:bodyPr lIns="45719" rIns="45719"/>
          <a:lstStyle/>
          <a:p>
            <a:pPr/>
          </a:p>
        </p:txBody>
      </p:sp>
      <p:sp>
        <p:nvSpPr>
          <p:cNvPr id="343" name="Text 17"/>
          <p:cNvSpPr txBox="1"/>
          <p:nvPr/>
        </p:nvSpPr>
        <p:spPr>
          <a:xfrm>
            <a:off x="1040156" y="2393523"/>
            <a:ext cx="2091093"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lvl1pPr>
              <a:defRPr sz="1000">
                <a:solidFill>
                  <a:srgbClr val="5F6368"/>
                </a:solidFill>
                <a:latin typeface="+mn-lt"/>
                <a:ea typeface="+mn-ea"/>
                <a:cs typeface="+mn-cs"/>
                <a:sym typeface="Helvetica"/>
              </a:defRPr>
            </a:lvl1pPr>
          </a:lstStyle>
          <a:p>
            <a:pPr/>
            <a:r>
              <a:t>物件評価(平均)</a:t>
            </a:r>
          </a:p>
        </p:txBody>
      </p:sp>
      <p:sp>
        <p:nvSpPr>
          <p:cNvPr id="344" name="Shape 19"/>
          <p:cNvSpPr/>
          <p:nvPr/>
        </p:nvSpPr>
        <p:spPr>
          <a:xfrm>
            <a:off x="4937759" y="1325880"/>
            <a:ext cx="3657601" cy="3200401"/>
          </a:xfrm>
          <a:prstGeom prst="rect">
            <a:avLst/>
          </a:prstGeom>
          <a:solidFill>
            <a:srgbClr val="FFFFFF">
              <a:alpha val="70246"/>
            </a:srgbClr>
          </a:solidFill>
          <a:ln w="12700">
            <a:miter lim="400000"/>
          </a:ln>
          <a:effectLst>
            <a:outerShdw sx="100000" sy="100000" kx="0" ky="0" algn="b" rotWithShape="0" blurRad="76200" dist="25400" dir="8100000">
              <a:srgbClr val="000000">
                <a:alpha val="8000"/>
              </a:srgbClr>
            </a:outerShdw>
          </a:effectLst>
        </p:spPr>
        <p:txBody>
          <a:bodyPr lIns="45719" rIns="45719"/>
          <a:lstStyle/>
          <a:p>
            <a:pPr/>
          </a:p>
        </p:txBody>
      </p:sp>
      <p:sp>
        <p:nvSpPr>
          <p:cNvPr id="345" name="Text 20"/>
          <p:cNvSpPr txBox="1"/>
          <p:nvPr/>
        </p:nvSpPr>
        <p:spPr>
          <a:xfrm>
            <a:off x="5166360" y="1423035"/>
            <a:ext cx="2651761" cy="26289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167B81"/>
                </a:solidFill>
                <a:latin typeface="+mn-lt"/>
                <a:ea typeface="+mn-ea"/>
                <a:cs typeface="+mn-cs"/>
                <a:sym typeface="Helvetica"/>
              </a:defRPr>
            </a:lvl1pPr>
          </a:lstStyle>
          <a:p>
            <a:pPr/>
            <a:r>
              <a:t>成果・受賞</a:t>
            </a:r>
          </a:p>
        </p:txBody>
      </p:sp>
      <p:sp>
        <p:nvSpPr>
          <p:cNvPr id="346" name="Shape 21"/>
          <p:cNvSpPr/>
          <p:nvPr/>
        </p:nvSpPr>
        <p:spPr>
          <a:xfrm>
            <a:off x="5120640" y="1828800"/>
            <a:ext cx="3291841" cy="685800"/>
          </a:xfrm>
          <a:prstGeom prst="rect">
            <a:avLst/>
          </a:prstGeom>
          <a:solidFill>
            <a:srgbClr val="FFF8E1"/>
          </a:solidFill>
          <a:ln w="12700">
            <a:miter lim="400000"/>
          </a:ln>
        </p:spPr>
        <p:txBody>
          <a:bodyPr lIns="45719" rIns="45719"/>
          <a:lstStyle/>
          <a:p>
            <a:pPr/>
          </a:p>
        </p:txBody>
      </p:sp>
      <p:sp>
        <p:nvSpPr>
          <p:cNvPr id="347" name="Text 22"/>
          <p:cNvSpPr txBox="1"/>
          <p:nvPr/>
        </p:nvSpPr>
        <p:spPr>
          <a:xfrm>
            <a:off x="5257800" y="1838960"/>
            <a:ext cx="3017521" cy="345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solidFill>
                  <a:srgbClr val="D4A853"/>
                </a:solidFill>
                <a:latin typeface="+mn-lt"/>
                <a:ea typeface="+mn-ea"/>
                <a:cs typeface="+mn-cs"/>
                <a:sym typeface="Helvetica"/>
              </a:defRPr>
            </a:lvl1pPr>
          </a:lstStyle>
          <a:p>
            <a:pPr/>
            <a:r>
              <a:t>🏆  BEST OF SAUNA STAY 2026</a:t>
            </a:r>
          </a:p>
        </p:txBody>
      </p:sp>
      <p:sp>
        <p:nvSpPr>
          <p:cNvPr id="348" name="Text 23"/>
          <p:cNvSpPr txBox="1"/>
          <p:nvPr/>
        </p:nvSpPr>
        <p:spPr>
          <a:xfrm>
            <a:off x="5257800" y="2157730"/>
            <a:ext cx="3017521"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2D2D2D"/>
                </a:solidFill>
                <a:latin typeface="+mn-lt"/>
                <a:ea typeface="+mn-ea"/>
                <a:cs typeface="+mn-cs"/>
                <a:sym typeface="Helvetica"/>
              </a:defRPr>
            </a:lvl1pPr>
          </a:lstStyle>
          <a:p>
            <a:pPr/>
            <a:r>
              <a:t>サウナ施設部門  金賞受賞</a:t>
            </a:r>
          </a:p>
        </p:txBody>
      </p:sp>
      <p:sp>
        <p:nvSpPr>
          <p:cNvPr id="349" name="Text 24"/>
          <p:cNvSpPr txBox="1"/>
          <p:nvPr/>
        </p:nvSpPr>
        <p:spPr>
          <a:xfrm>
            <a:off x="5166360" y="2672261"/>
            <a:ext cx="3200401" cy="2333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2D2D2D"/>
                </a:solidFill>
                <a:latin typeface="+mn-lt"/>
                <a:ea typeface="+mn-ea"/>
                <a:cs typeface="+mn-cs"/>
                <a:sym typeface="Helvetica"/>
              </a:defRPr>
            </a:lvl1pPr>
          </a:lstStyle>
          <a:p>
            <a:pPr/>
            <a:r>
              <a:t>✓  各OTA（Airbnb・Booking.com等）へ最適化掲載</a:t>
            </a:r>
          </a:p>
        </p:txBody>
      </p:sp>
      <p:sp>
        <p:nvSpPr>
          <p:cNvPr id="350" name="Text 25"/>
          <p:cNvSpPr txBox="1"/>
          <p:nvPr/>
        </p:nvSpPr>
        <p:spPr>
          <a:xfrm>
            <a:off x="5166360" y="3019733"/>
            <a:ext cx="3200401" cy="2333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2D2D2D"/>
                </a:solidFill>
                <a:latin typeface="+mn-lt"/>
                <a:ea typeface="+mn-ea"/>
                <a:cs typeface="+mn-cs"/>
                <a:sym typeface="Helvetica"/>
              </a:defRPr>
            </a:lvl1pPr>
          </a:lstStyle>
          <a:p>
            <a:pPr/>
            <a:r>
              <a:t>✓  Instagramで3,500人のファンを獲得</a:t>
            </a:r>
          </a:p>
        </p:txBody>
      </p:sp>
      <p:sp>
        <p:nvSpPr>
          <p:cNvPr id="351" name="Text 26"/>
          <p:cNvSpPr txBox="1"/>
          <p:nvPr/>
        </p:nvSpPr>
        <p:spPr>
          <a:xfrm>
            <a:off x="5166360" y="3367205"/>
            <a:ext cx="3200401" cy="2333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2D2D2D"/>
                </a:solidFill>
                <a:latin typeface="+mn-lt"/>
                <a:ea typeface="+mn-ea"/>
                <a:cs typeface="+mn-cs"/>
                <a:sym typeface="Helvetica"/>
              </a:defRPr>
            </a:lvl1pPr>
          </a:lstStyle>
          <a:p>
            <a:pPr/>
            <a:r>
              <a:t>✓  直接予約への流入増加を実現</a:t>
            </a:r>
          </a:p>
        </p:txBody>
      </p:sp>
      <p:sp>
        <p:nvSpPr>
          <p:cNvPr id="352" name="Text 27"/>
          <p:cNvSpPr txBox="1"/>
          <p:nvPr/>
        </p:nvSpPr>
        <p:spPr>
          <a:xfrm>
            <a:off x="5166360" y="3714677"/>
            <a:ext cx="3200401" cy="2333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2D2D2D"/>
                </a:solidFill>
                <a:latin typeface="+mn-lt"/>
                <a:ea typeface="+mn-ea"/>
                <a:cs typeface="+mn-cs"/>
                <a:sym typeface="Helvetica"/>
              </a:defRPr>
            </a:lvl1pPr>
          </a:lstStyle>
          <a:p>
            <a:pPr/>
            <a:r>
              <a:t>✓  評価4.9を維持しながら価格引き上げに成功</a:t>
            </a:r>
          </a:p>
        </p:txBody>
      </p:sp>
      <p:sp>
        <p:nvSpPr>
          <p:cNvPr id="353" name="Text 28"/>
          <p:cNvSpPr txBox="1"/>
          <p:nvPr/>
        </p:nvSpPr>
        <p:spPr>
          <a:xfrm>
            <a:off x="5166360" y="4062149"/>
            <a:ext cx="3200401" cy="2333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2D2D2D"/>
                </a:solidFill>
                <a:latin typeface="+mn-lt"/>
                <a:ea typeface="+mn-ea"/>
                <a:cs typeface="+mn-cs"/>
                <a:sym typeface="Helvetica"/>
              </a:defRPr>
            </a:lvl1pPr>
          </a:lstStyle>
          <a:p>
            <a:pPr/>
            <a:r>
              <a:t>✓  全写真の入れ替え</a:t>
            </a:r>
          </a:p>
        </p:txBody>
      </p:sp>
      <p:sp>
        <p:nvSpPr>
          <p:cNvPr id="354" name="Shape 29"/>
          <p:cNvSpPr/>
          <p:nvPr/>
        </p:nvSpPr>
        <p:spPr>
          <a:xfrm>
            <a:off x="548640" y="4617720"/>
            <a:ext cx="8046719" cy="27433"/>
          </a:xfrm>
          <a:prstGeom prst="rect">
            <a:avLst/>
          </a:prstGeom>
          <a:solidFill>
            <a:srgbClr val="259DA3"/>
          </a:solidFill>
          <a:ln w="12700">
            <a:miter lim="400000"/>
          </a:ln>
        </p:spPr>
        <p:txBody>
          <a:bodyPr lIns="45719" rIns="45719"/>
          <a:lstStyle/>
          <a:p>
            <a:pPr/>
          </a:p>
        </p:txBody>
      </p:sp>
      <p:sp>
        <p:nvSpPr>
          <p:cNvPr id="355" name="Text 30"/>
          <p:cNvSpPr txBox="1"/>
          <p:nvPr/>
        </p:nvSpPr>
        <p:spPr>
          <a:xfrm>
            <a:off x="594360" y="4645660"/>
            <a:ext cx="7955279"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9AA0A6"/>
                </a:solidFill>
                <a:latin typeface="+mn-lt"/>
                <a:ea typeface="+mn-ea"/>
                <a:cs typeface="+mn-cs"/>
                <a:sym typeface="Helvetica"/>
              </a:defRPr>
            </a:lvl1pPr>
          </a:lstStyle>
          <a:p>
            <a:pPr/>
            <a:r>
              <a:t>4ベッドルーム / テラス・BBQ・カラオケ完備 / チェックイン15:00 チェックアウト11:00</a:t>
            </a:r>
          </a:p>
        </p:txBody>
      </p:sp>
      <p:sp>
        <p:nvSpPr>
          <p:cNvPr id="356" name="Shape 16"/>
          <p:cNvSpPr/>
          <p:nvPr/>
        </p:nvSpPr>
        <p:spPr>
          <a:xfrm>
            <a:off x="822054" y="3960604"/>
            <a:ext cx="3659412" cy="459630"/>
          </a:xfrm>
          <a:prstGeom prst="rect">
            <a:avLst/>
          </a:prstGeom>
          <a:solidFill>
            <a:srgbClr val="FFFFFF"/>
          </a:solidFill>
          <a:ln w="12700">
            <a:miter lim="400000"/>
          </a:ln>
        </p:spPr>
        <p:txBody>
          <a:bodyPr lIns="45719" rIns="45719"/>
          <a:lstStyle/>
          <a:p>
            <a:pPr/>
          </a:p>
        </p:txBody>
      </p:sp>
      <p:sp>
        <p:nvSpPr>
          <p:cNvPr id="357" name="Text 17"/>
          <p:cNvSpPr txBox="1"/>
          <p:nvPr/>
        </p:nvSpPr>
        <p:spPr>
          <a:xfrm>
            <a:off x="1039876" y="3940683"/>
            <a:ext cx="2091093" cy="2184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lvl1pPr>
              <a:defRPr sz="1000">
                <a:solidFill>
                  <a:srgbClr val="5F6368"/>
                </a:solidFill>
                <a:latin typeface="+mn-lt"/>
                <a:ea typeface="+mn-ea"/>
                <a:cs typeface="+mn-cs"/>
                <a:sym typeface="Helvetica"/>
              </a:defRPr>
            </a:lvl1pPr>
          </a:lstStyle>
          <a:p>
            <a:pPr/>
            <a:r>
              <a:t>手数料</a:t>
            </a:r>
          </a:p>
        </p:txBody>
      </p:sp>
      <p:sp>
        <p:nvSpPr>
          <p:cNvPr id="358" name="Text 18"/>
          <p:cNvSpPr txBox="1"/>
          <p:nvPr/>
        </p:nvSpPr>
        <p:spPr>
          <a:xfrm>
            <a:off x="1039876" y="4107560"/>
            <a:ext cx="2526737"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lvl1pPr>
              <a:defRPr b="1" sz="1600">
                <a:solidFill>
                  <a:srgbClr val="167B81"/>
                </a:solidFill>
                <a:latin typeface="+mn-lt"/>
                <a:ea typeface="+mn-ea"/>
                <a:cs typeface="+mn-cs"/>
                <a:sym typeface="Helvetica"/>
              </a:defRPr>
            </a:lvl1pPr>
          </a:lstStyle>
          <a:p>
            <a:pPr/>
            <a:r>
              <a:t>¥620,000→¥325,000</a:t>
            </a:r>
          </a:p>
        </p:txBody>
      </p:sp>
      <p:sp>
        <p:nvSpPr>
          <p:cNvPr id="359" name="Text 17"/>
          <p:cNvSpPr txBox="1"/>
          <p:nvPr/>
        </p:nvSpPr>
        <p:spPr>
          <a:xfrm>
            <a:off x="1040156" y="3460067"/>
            <a:ext cx="2091093"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lvl1pPr>
              <a:defRPr sz="1000">
                <a:solidFill>
                  <a:srgbClr val="5F6368"/>
                </a:solidFill>
                <a:latin typeface="+mn-lt"/>
                <a:ea typeface="+mn-ea"/>
                <a:cs typeface="+mn-cs"/>
                <a:sym typeface="Helvetica"/>
              </a:defRPr>
            </a:lvl1pPr>
          </a:lstStyle>
          <a:p>
            <a:pPr/>
            <a:r>
              <a:t>宿泊価格</a:t>
            </a:r>
          </a:p>
        </p:txBody>
      </p:sp>
      <p:sp>
        <p:nvSpPr>
          <p:cNvPr id="360" name="Text 17"/>
          <p:cNvSpPr txBox="1"/>
          <p:nvPr/>
        </p:nvSpPr>
        <p:spPr>
          <a:xfrm>
            <a:off x="1040156" y="1900921"/>
            <a:ext cx="2091093"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lvl1pPr>
              <a:defRPr sz="1000">
                <a:solidFill>
                  <a:srgbClr val="5F6368"/>
                </a:solidFill>
                <a:latin typeface="+mn-lt"/>
                <a:ea typeface="+mn-ea"/>
                <a:cs typeface="+mn-cs"/>
                <a:sym typeface="Helvetica"/>
              </a:defRPr>
            </a:lvl1pPr>
          </a:lstStyle>
          <a:p>
            <a:pPr/>
            <a:r>
              <a:t>稼働率の向上</a:t>
            </a:r>
          </a:p>
        </p:txBody>
      </p:sp>
      <p:sp>
        <p:nvSpPr>
          <p:cNvPr id="361" name="Text 18"/>
          <p:cNvSpPr txBox="1"/>
          <p:nvPr/>
        </p:nvSpPr>
        <p:spPr>
          <a:xfrm>
            <a:off x="1040049" y="3602645"/>
            <a:ext cx="2526737"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lvl1pPr>
              <a:defRPr b="1" sz="1600">
                <a:solidFill>
                  <a:srgbClr val="167B81"/>
                </a:solidFill>
                <a:latin typeface="+mn-lt"/>
                <a:ea typeface="+mn-ea"/>
                <a:cs typeface="+mn-cs"/>
                <a:sym typeface="Helvetica"/>
              </a:defRPr>
            </a:lvl1pPr>
          </a:lstStyle>
          <a:p>
            <a:pPr/>
            <a:r>
              <a:t>¥150,000 / 泊</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63" name="IMG_4129 2.JPG" descr="IMG_4129 2.JPG"/>
          <p:cNvPicPr>
            <a:picLocks noChangeAspect="1"/>
          </p:cNvPicPr>
          <p:nvPr/>
        </p:nvPicPr>
        <p:blipFill>
          <a:blip r:embed="rId2">
            <a:extLst/>
          </a:blip>
          <a:stretch>
            <a:fillRect/>
          </a:stretch>
        </p:blipFill>
        <p:spPr>
          <a:xfrm rot="21540000">
            <a:off x="-936732" y="-1947066"/>
            <a:ext cx="11017464" cy="8264964"/>
          </a:xfrm>
          <a:prstGeom prst="rect">
            <a:avLst/>
          </a:prstGeom>
          <a:ln w="12700">
            <a:miter lim="400000"/>
          </a:ln>
        </p:spPr>
      </p:pic>
      <p:sp>
        <p:nvSpPr>
          <p:cNvPr id="364" name="Shape 0"/>
          <p:cNvSpPr/>
          <p:nvPr/>
        </p:nvSpPr>
        <p:spPr>
          <a:xfrm>
            <a:off x="548640" y="438912"/>
            <a:ext cx="1097281" cy="1"/>
          </a:xfrm>
          <a:prstGeom prst="line">
            <a:avLst/>
          </a:prstGeom>
          <a:ln w="38100">
            <a:solidFill>
              <a:srgbClr val="259DA3"/>
            </a:solidFill>
          </a:ln>
        </p:spPr>
        <p:txBody>
          <a:bodyPr lIns="45719" rIns="45719"/>
          <a:lstStyle/>
          <a:p>
            <a:pPr/>
          </a:p>
        </p:txBody>
      </p:sp>
      <p:sp>
        <p:nvSpPr>
          <p:cNvPr id="365" name="Text 1"/>
          <p:cNvSpPr txBox="1"/>
          <p:nvPr/>
        </p:nvSpPr>
        <p:spPr>
          <a:xfrm>
            <a:off x="594359" y="520699"/>
            <a:ext cx="7223761" cy="421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200">
                <a:solidFill>
                  <a:srgbClr val="2D2D2D"/>
                </a:solidFill>
                <a:latin typeface="+mn-lt"/>
                <a:ea typeface="+mn-ea"/>
                <a:cs typeface="+mn-cs"/>
                <a:sym typeface="Helvetica"/>
              </a:defRPr>
            </a:lvl1pPr>
          </a:lstStyle>
          <a:p>
            <a:pPr/>
            <a:r>
              <a:t>事例紹介 ②  B社</a:t>
            </a:r>
          </a:p>
        </p:txBody>
      </p:sp>
      <p:sp>
        <p:nvSpPr>
          <p:cNvPr id="366" name="Text 2"/>
          <p:cNvSpPr txBox="1"/>
          <p:nvPr/>
        </p:nvSpPr>
        <p:spPr>
          <a:xfrm>
            <a:off x="8092439" y="4805679"/>
            <a:ext cx="640081"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9AA0A6"/>
                </a:solidFill>
                <a:latin typeface="+mn-lt"/>
                <a:ea typeface="+mn-ea"/>
                <a:cs typeface="+mn-cs"/>
                <a:sym typeface="Helvetica"/>
              </a:defRPr>
            </a:lvl1pPr>
          </a:lstStyle>
          <a:p>
            <a:pPr/>
            <a:r>
              <a:t>7 / 10</a:t>
            </a:r>
          </a:p>
        </p:txBody>
      </p:sp>
      <p:sp>
        <p:nvSpPr>
          <p:cNvPr id="367" name="Text 3"/>
          <p:cNvSpPr txBox="1"/>
          <p:nvPr/>
        </p:nvSpPr>
        <p:spPr>
          <a:xfrm>
            <a:off x="502919" y="4818379"/>
            <a:ext cx="2651762" cy="193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700">
                <a:solidFill>
                  <a:srgbClr val="9AA0A6"/>
                </a:solidFill>
                <a:latin typeface="+mn-lt"/>
                <a:ea typeface="+mn-ea"/>
                <a:cs typeface="+mn-cs"/>
                <a:sym typeface="Helvetica"/>
              </a:defRPr>
            </a:lvl1pPr>
          </a:lstStyle>
          <a:p>
            <a:pPr/>
            <a:r>
              <a:t>SEKAI STAY  |  CONFIDENTIAL</a:t>
            </a:r>
          </a:p>
        </p:txBody>
      </p:sp>
      <p:sp>
        <p:nvSpPr>
          <p:cNvPr id="368" name="Text 4"/>
          <p:cNvSpPr txBox="1"/>
          <p:nvPr/>
        </p:nvSpPr>
        <p:spPr>
          <a:xfrm>
            <a:off x="594360" y="923290"/>
            <a:ext cx="7955279"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FFFFFF"/>
                </a:solidFill>
                <a:latin typeface="+mn-lt"/>
                <a:ea typeface="+mn-ea"/>
                <a:cs typeface="+mn-cs"/>
                <a:sym typeface="Helvetica"/>
              </a:defRPr>
            </a:lvl1pPr>
          </a:lstStyle>
          <a:p>
            <a:pPr/>
            <a:r>
              <a:t>4棟  |  ペット可・カフェ併設</a:t>
            </a:r>
          </a:p>
        </p:txBody>
      </p:sp>
      <p:sp>
        <p:nvSpPr>
          <p:cNvPr id="369" name="Shape 5"/>
          <p:cNvSpPr/>
          <p:nvPr/>
        </p:nvSpPr>
        <p:spPr>
          <a:xfrm>
            <a:off x="548639" y="1325880"/>
            <a:ext cx="4206242" cy="3200401"/>
          </a:xfrm>
          <a:prstGeom prst="rect">
            <a:avLst/>
          </a:prstGeom>
          <a:solidFill>
            <a:srgbClr val="F7F8FA">
              <a:alpha val="70232"/>
            </a:srgbClr>
          </a:solidFill>
          <a:ln w="12700">
            <a:miter lim="400000"/>
          </a:ln>
          <a:effectLst>
            <a:outerShdw sx="100000" sy="100000" kx="0" ky="0" algn="b" rotWithShape="0" blurRad="76200" dist="25400" dir="8100000">
              <a:srgbClr val="000000">
                <a:alpha val="8000"/>
              </a:srgbClr>
            </a:outerShdw>
          </a:effectLst>
        </p:spPr>
        <p:txBody>
          <a:bodyPr lIns="45719" rIns="45719"/>
          <a:lstStyle/>
          <a:p>
            <a:pPr/>
          </a:p>
        </p:txBody>
      </p:sp>
      <p:sp>
        <p:nvSpPr>
          <p:cNvPr id="370" name="Text 6"/>
          <p:cNvSpPr txBox="1"/>
          <p:nvPr/>
        </p:nvSpPr>
        <p:spPr>
          <a:xfrm>
            <a:off x="777239" y="1423035"/>
            <a:ext cx="1737361" cy="26289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167B81"/>
                </a:solidFill>
                <a:latin typeface="+mn-lt"/>
                <a:ea typeface="+mn-ea"/>
                <a:cs typeface="+mn-cs"/>
                <a:sym typeface="Helvetica"/>
              </a:defRPr>
            </a:lvl1pPr>
          </a:lstStyle>
          <a:p>
            <a:pPr/>
            <a:r>
              <a:t>運用実績</a:t>
            </a:r>
          </a:p>
        </p:txBody>
      </p:sp>
      <p:sp>
        <p:nvSpPr>
          <p:cNvPr id="371" name="Shape 19"/>
          <p:cNvSpPr/>
          <p:nvPr/>
        </p:nvSpPr>
        <p:spPr>
          <a:xfrm>
            <a:off x="4937759" y="1325880"/>
            <a:ext cx="3657601" cy="3200401"/>
          </a:xfrm>
          <a:prstGeom prst="rect">
            <a:avLst/>
          </a:prstGeom>
          <a:solidFill>
            <a:srgbClr val="FFFFFF">
              <a:alpha val="71154"/>
            </a:srgbClr>
          </a:solidFill>
          <a:ln w="12700">
            <a:miter lim="400000"/>
          </a:ln>
          <a:effectLst>
            <a:outerShdw sx="100000" sy="100000" kx="0" ky="0" algn="b" rotWithShape="0" blurRad="76200" dist="25400" dir="8100000">
              <a:srgbClr val="000000">
                <a:alpha val="8000"/>
              </a:srgbClr>
            </a:outerShdw>
          </a:effectLst>
        </p:spPr>
        <p:txBody>
          <a:bodyPr lIns="45719" rIns="45719"/>
          <a:lstStyle/>
          <a:p>
            <a:pPr/>
          </a:p>
        </p:txBody>
      </p:sp>
      <p:sp>
        <p:nvSpPr>
          <p:cNvPr id="372" name="Text 20"/>
          <p:cNvSpPr txBox="1"/>
          <p:nvPr/>
        </p:nvSpPr>
        <p:spPr>
          <a:xfrm>
            <a:off x="5166360" y="1423035"/>
            <a:ext cx="2651761" cy="26289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167B81"/>
                </a:solidFill>
                <a:latin typeface="+mn-lt"/>
                <a:ea typeface="+mn-ea"/>
                <a:cs typeface="+mn-cs"/>
                <a:sym typeface="Helvetica"/>
              </a:defRPr>
            </a:lvl1pPr>
          </a:lstStyle>
          <a:p>
            <a:pPr/>
            <a:r>
              <a:t>運用戦略</a:t>
            </a:r>
          </a:p>
        </p:txBody>
      </p:sp>
      <p:sp>
        <p:nvSpPr>
          <p:cNvPr id="373" name="Shape 21"/>
          <p:cNvSpPr/>
          <p:nvPr/>
        </p:nvSpPr>
        <p:spPr>
          <a:xfrm>
            <a:off x="5120640" y="1828800"/>
            <a:ext cx="3291841" cy="502920"/>
          </a:xfrm>
          <a:prstGeom prst="rect">
            <a:avLst/>
          </a:prstGeom>
          <a:solidFill>
            <a:srgbClr val="E8F5E9"/>
          </a:solidFill>
          <a:ln w="12700">
            <a:miter lim="400000"/>
          </a:ln>
        </p:spPr>
        <p:txBody>
          <a:bodyPr lIns="45719" rIns="45719"/>
          <a:lstStyle/>
          <a:p>
            <a:pPr/>
          </a:p>
        </p:txBody>
      </p:sp>
      <p:sp>
        <p:nvSpPr>
          <p:cNvPr id="374" name="Text 22"/>
          <p:cNvSpPr txBox="1"/>
          <p:nvPr/>
        </p:nvSpPr>
        <p:spPr>
          <a:xfrm>
            <a:off x="5257800" y="1920239"/>
            <a:ext cx="3017521"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100">
                <a:solidFill>
                  <a:srgbClr val="2E7D32"/>
                </a:solidFill>
                <a:latin typeface="+mn-lt"/>
                <a:ea typeface="+mn-ea"/>
                <a:cs typeface="+mn-cs"/>
                <a:sym typeface="Helvetica"/>
              </a:defRPr>
            </a:lvl1pPr>
          </a:lstStyle>
          <a:p>
            <a:pPr/>
            <a:r>
              <a:t>🐾  ペット可 物件（小型犬2頭まで）</a:t>
            </a:r>
          </a:p>
        </p:txBody>
      </p:sp>
      <p:sp>
        <p:nvSpPr>
          <p:cNvPr id="375" name="Text 23"/>
          <p:cNvSpPr txBox="1"/>
          <p:nvPr/>
        </p:nvSpPr>
        <p:spPr>
          <a:xfrm>
            <a:off x="5166360" y="2489381"/>
            <a:ext cx="3200401" cy="2333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2D2D2D"/>
                </a:solidFill>
                <a:latin typeface="+mn-lt"/>
                <a:ea typeface="+mn-ea"/>
                <a:cs typeface="+mn-cs"/>
                <a:sym typeface="Helvetica"/>
              </a:defRPr>
            </a:lvl1pPr>
          </a:lstStyle>
          <a:p>
            <a:pPr/>
            <a:r>
              <a:t>✓  全写真の入れ替え</a:t>
            </a:r>
          </a:p>
        </p:txBody>
      </p:sp>
      <p:sp>
        <p:nvSpPr>
          <p:cNvPr id="376" name="Text 24"/>
          <p:cNvSpPr txBox="1"/>
          <p:nvPr/>
        </p:nvSpPr>
        <p:spPr>
          <a:xfrm>
            <a:off x="5166360" y="2818565"/>
            <a:ext cx="3200401" cy="2333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2D2D2D"/>
                </a:solidFill>
                <a:latin typeface="+mn-lt"/>
                <a:ea typeface="+mn-ea"/>
                <a:cs typeface="+mn-cs"/>
                <a:sym typeface="Helvetica"/>
              </a:defRPr>
            </a:lvl1pPr>
          </a:lstStyle>
          <a:p>
            <a:pPr/>
            <a:r>
              <a:t>✓  各OTAへの最適化掲載で集客最大化</a:t>
            </a:r>
          </a:p>
        </p:txBody>
      </p:sp>
      <p:sp>
        <p:nvSpPr>
          <p:cNvPr id="377" name="Text 25"/>
          <p:cNvSpPr txBox="1"/>
          <p:nvPr/>
        </p:nvSpPr>
        <p:spPr>
          <a:xfrm>
            <a:off x="5166360" y="3147749"/>
            <a:ext cx="3200401" cy="2333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2D2D2D"/>
                </a:solidFill>
                <a:latin typeface="+mn-lt"/>
                <a:ea typeface="+mn-ea"/>
                <a:cs typeface="+mn-cs"/>
                <a:sym typeface="Helvetica"/>
              </a:defRPr>
            </a:lvl1pPr>
          </a:lstStyle>
          <a:p>
            <a:pPr/>
            <a:r>
              <a:t>✓  The Lake Side Cafe併設で顧客満足度UP</a:t>
            </a:r>
          </a:p>
        </p:txBody>
      </p:sp>
      <p:sp>
        <p:nvSpPr>
          <p:cNvPr id="378" name="Text 26"/>
          <p:cNvSpPr txBox="1"/>
          <p:nvPr/>
        </p:nvSpPr>
        <p:spPr>
          <a:xfrm>
            <a:off x="5166360" y="3476933"/>
            <a:ext cx="3200401" cy="2333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2D2D2D"/>
                </a:solidFill>
                <a:latin typeface="+mn-lt"/>
                <a:ea typeface="+mn-ea"/>
                <a:cs typeface="+mn-cs"/>
                <a:sym typeface="Helvetica"/>
              </a:defRPr>
            </a:lvl1pPr>
          </a:lstStyle>
          <a:p>
            <a:pPr/>
            <a:r>
              <a:t>✓  PRによる外部露出の増加</a:t>
            </a:r>
          </a:p>
        </p:txBody>
      </p:sp>
      <p:sp>
        <p:nvSpPr>
          <p:cNvPr id="379" name="Text 27"/>
          <p:cNvSpPr txBox="1"/>
          <p:nvPr/>
        </p:nvSpPr>
        <p:spPr>
          <a:xfrm>
            <a:off x="5166360" y="3806117"/>
            <a:ext cx="3200401" cy="23331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2D2D2D"/>
                </a:solidFill>
                <a:latin typeface="+mn-lt"/>
                <a:ea typeface="+mn-ea"/>
                <a:cs typeface="+mn-cs"/>
                <a:sym typeface="Helvetica"/>
              </a:defRPr>
            </a:lvl1pPr>
          </a:lstStyle>
          <a:p>
            <a:pPr/>
            <a:r>
              <a:t>✓  ペット宿泊可の押し出し</a:t>
            </a:r>
          </a:p>
        </p:txBody>
      </p:sp>
      <p:sp>
        <p:nvSpPr>
          <p:cNvPr id="380" name="Text 28"/>
          <p:cNvSpPr txBox="1"/>
          <p:nvPr/>
        </p:nvSpPr>
        <p:spPr>
          <a:xfrm>
            <a:off x="5166360" y="4135301"/>
            <a:ext cx="3200401" cy="2333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2D2D2D"/>
                </a:solidFill>
                <a:latin typeface="+mn-lt"/>
                <a:ea typeface="+mn-ea"/>
                <a:cs typeface="+mn-cs"/>
                <a:sym typeface="Helvetica"/>
              </a:defRPr>
            </a:lvl1pPr>
          </a:lstStyle>
          <a:p>
            <a:pPr/>
            <a:r>
              <a:t>✓  常に評価4.9以上をキープ</a:t>
            </a:r>
          </a:p>
        </p:txBody>
      </p:sp>
      <p:sp>
        <p:nvSpPr>
          <p:cNvPr id="381" name="Shape 29"/>
          <p:cNvSpPr/>
          <p:nvPr/>
        </p:nvSpPr>
        <p:spPr>
          <a:xfrm>
            <a:off x="548640" y="4617720"/>
            <a:ext cx="8046719" cy="27433"/>
          </a:xfrm>
          <a:prstGeom prst="rect">
            <a:avLst/>
          </a:prstGeom>
          <a:solidFill>
            <a:srgbClr val="259DA3"/>
          </a:solidFill>
          <a:ln w="12700">
            <a:miter lim="400000"/>
          </a:ln>
        </p:spPr>
        <p:txBody>
          <a:bodyPr lIns="45719" rIns="45719"/>
          <a:lstStyle/>
          <a:p>
            <a:pPr/>
          </a:p>
        </p:txBody>
      </p:sp>
      <p:sp>
        <p:nvSpPr>
          <p:cNvPr id="382" name="Text 30"/>
          <p:cNvSpPr txBox="1"/>
          <p:nvPr/>
        </p:nvSpPr>
        <p:spPr>
          <a:xfrm>
            <a:off x="594360" y="4645660"/>
            <a:ext cx="7955279"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9AA0A6"/>
                </a:solidFill>
                <a:latin typeface="+mn-lt"/>
                <a:ea typeface="+mn-ea"/>
                <a:cs typeface="+mn-cs"/>
                <a:sym typeface="Helvetica"/>
              </a:defRPr>
            </a:lvl1pPr>
          </a:lstStyle>
          <a:p>
            <a:pPr/>
            <a:r>
              <a:t>IHキッチン・専用バスルーム・Wi-Fi完備 / 小型犬2頭まで同伴可</a:t>
            </a:r>
          </a:p>
        </p:txBody>
      </p:sp>
      <p:sp>
        <p:nvSpPr>
          <p:cNvPr id="383" name="Shape 7"/>
          <p:cNvSpPr/>
          <p:nvPr/>
        </p:nvSpPr>
        <p:spPr>
          <a:xfrm>
            <a:off x="909482" y="1677163"/>
            <a:ext cx="3484556" cy="485402"/>
          </a:xfrm>
          <a:prstGeom prst="rect">
            <a:avLst/>
          </a:prstGeom>
          <a:solidFill>
            <a:srgbClr val="FFFFFF"/>
          </a:solidFill>
          <a:ln w="12700">
            <a:miter lim="400000"/>
          </a:ln>
        </p:spPr>
        <p:txBody>
          <a:bodyPr lIns="45719" rIns="45719"/>
          <a:lstStyle/>
          <a:p>
            <a:pPr/>
          </a:p>
        </p:txBody>
      </p:sp>
      <p:sp>
        <p:nvSpPr>
          <p:cNvPr id="384" name="Text 8"/>
          <p:cNvSpPr txBox="1"/>
          <p:nvPr/>
        </p:nvSpPr>
        <p:spPr>
          <a:xfrm>
            <a:off x="1116896" y="1699717"/>
            <a:ext cx="1991175" cy="210832"/>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lvl1pPr>
              <a:defRPr sz="1000">
                <a:solidFill>
                  <a:srgbClr val="5F6368"/>
                </a:solidFill>
                <a:latin typeface="+mn-lt"/>
                <a:ea typeface="+mn-ea"/>
                <a:cs typeface="+mn-cs"/>
                <a:sym typeface="Helvetica"/>
              </a:defRPr>
            </a:lvl1pPr>
          </a:lstStyle>
          <a:p>
            <a:pPr/>
            <a:r>
              <a:t>稼働率の向上</a:t>
            </a:r>
          </a:p>
        </p:txBody>
      </p:sp>
      <p:sp>
        <p:nvSpPr>
          <p:cNvPr id="385" name="Text 9"/>
          <p:cNvSpPr txBox="1"/>
          <p:nvPr/>
        </p:nvSpPr>
        <p:spPr>
          <a:xfrm>
            <a:off x="1116896" y="1860782"/>
            <a:ext cx="2820831" cy="321151"/>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lvl1pPr>
              <a:defRPr b="1" sz="1600">
                <a:solidFill>
                  <a:srgbClr val="167B81"/>
                </a:solidFill>
                <a:latin typeface="+mn-lt"/>
                <a:ea typeface="+mn-ea"/>
                <a:cs typeface="+mn-cs"/>
                <a:sym typeface="Helvetica"/>
              </a:defRPr>
            </a:lvl1pPr>
          </a:lstStyle>
          <a:p>
            <a:pPr/>
            <a:r>
              <a:t>40%→75%</a:t>
            </a:r>
          </a:p>
        </p:txBody>
      </p:sp>
      <p:sp>
        <p:nvSpPr>
          <p:cNvPr id="386" name="Shape 10"/>
          <p:cNvSpPr/>
          <p:nvPr/>
        </p:nvSpPr>
        <p:spPr>
          <a:xfrm>
            <a:off x="909482" y="2250820"/>
            <a:ext cx="3484556" cy="485402"/>
          </a:xfrm>
          <a:prstGeom prst="rect">
            <a:avLst/>
          </a:prstGeom>
          <a:solidFill>
            <a:srgbClr val="FFFFFF"/>
          </a:solidFill>
          <a:ln w="12700">
            <a:miter lim="400000"/>
          </a:ln>
        </p:spPr>
        <p:txBody>
          <a:bodyPr lIns="45719" rIns="45719"/>
          <a:lstStyle/>
          <a:p>
            <a:pPr/>
          </a:p>
        </p:txBody>
      </p:sp>
      <p:sp>
        <p:nvSpPr>
          <p:cNvPr id="387" name="Text 11"/>
          <p:cNvSpPr txBox="1"/>
          <p:nvPr/>
        </p:nvSpPr>
        <p:spPr>
          <a:xfrm>
            <a:off x="1116896" y="2273374"/>
            <a:ext cx="1991175" cy="210832"/>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lvl1pPr>
              <a:defRPr sz="1000">
                <a:solidFill>
                  <a:srgbClr val="5F6368"/>
                </a:solidFill>
                <a:latin typeface="+mn-lt"/>
                <a:ea typeface="+mn-ea"/>
                <a:cs typeface="+mn-cs"/>
                <a:sym typeface="Helvetica"/>
              </a:defRPr>
            </a:lvl1pPr>
          </a:lstStyle>
          <a:p>
            <a:pPr/>
            <a:r>
              <a:t>物件評価（平均）</a:t>
            </a:r>
          </a:p>
        </p:txBody>
      </p:sp>
      <p:sp>
        <p:nvSpPr>
          <p:cNvPr id="388" name="Text 12"/>
          <p:cNvSpPr txBox="1"/>
          <p:nvPr/>
        </p:nvSpPr>
        <p:spPr>
          <a:xfrm>
            <a:off x="1116896" y="2434439"/>
            <a:ext cx="2820831" cy="321151"/>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lvl1pPr>
              <a:defRPr b="1" sz="1600">
                <a:solidFill>
                  <a:srgbClr val="167B81"/>
                </a:solidFill>
                <a:latin typeface="+mn-lt"/>
                <a:ea typeface="+mn-ea"/>
                <a:cs typeface="+mn-cs"/>
                <a:sym typeface="Helvetica"/>
              </a:defRPr>
            </a:lvl1pPr>
          </a:lstStyle>
          <a:p>
            <a:pPr/>
            <a:r>
              <a:t>4.9以上 / 5.0</a:t>
            </a:r>
          </a:p>
        </p:txBody>
      </p:sp>
      <p:sp>
        <p:nvSpPr>
          <p:cNvPr id="389" name="Shape 13"/>
          <p:cNvSpPr/>
          <p:nvPr/>
        </p:nvSpPr>
        <p:spPr>
          <a:xfrm>
            <a:off x="909482" y="2824477"/>
            <a:ext cx="3484556" cy="485402"/>
          </a:xfrm>
          <a:prstGeom prst="rect">
            <a:avLst/>
          </a:prstGeom>
          <a:solidFill>
            <a:srgbClr val="FFFFFF"/>
          </a:solidFill>
          <a:ln w="12700">
            <a:miter lim="400000"/>
          </a:ln>
        </p:spPr>
        <p:txBody>
          <a:bodyPr lIns="45719" rIns="45719"/>
          <a:lstStyle/>
          <a:p>
            <a:pPr/>
          </a:p>
        </p:txBody>
      </p:sp>
      <p:sp>
        <p:nvSpPr>
          <p:cNvPr id="390" name="Text 14"/>
          <p:cNvSpPr txBox="1"/>
          <p:nvPr/>
        </p:nvSpPr>
        <p:spPr>
          <a:xfrm>
            <a:off x="1116896" y="2834773"/>
            <a:ext cx="1991175" cy="23534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lvl1pPr>
              <a:defRPr sz="1000">
                <a:solidFill>
                  <a:srgbClr val="5F6368"/>
                </a:solidFill>
                <a:latin typeface="+mn-lt"/>
                <a:ea typeface="+mn-ea"/>
                <a:cs typeface="+mn-cs"/>
                <a:sym typeface="Helvetica"/>
              </a:defRPr>
            </a:lvl1pPr>
          </a:lstStyle>
          <a:p>
            <a:pPr/>
            <a:r>
              <a:t>Instagram フォロワー</a:t>
            </a:r>
          </a:p>
        </p:txBody>
      </p:sp>
      <p:sp>
        <p:nvSpPr>
          <p:cNvPr id="391" name="Text 15"/>
          <p:cNvSpPr txBox="1"/>
          <p:nvPr/>
        </p:nvSpPr>
        <p:spPr>
          <a:xfrm>
            <a:off x="1116896" y="3008096"/>
            <a:ext cx="2820831" cy="321151"/>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lvl1pPr>
              <a:defRPr b="1" sz="1600">
                <a:solidFill>
                  <a:srgbClr val="167B81"/>
                </a:solidFill>
                <a:latin typeface="+mn-lt"/>
                <a:ea typeface="+mn-ea"/>
                <a:cs typeface="+mn-cs"/>
                <a:sym typeface="Helvetica"/>
              </a:defRPr>
            </a:lvl1pPr>
          </a:lstStyle>
          <a:p>
            <a:pPr/>
            <a:r>
              <a:t>2,000人（1年で達成）</a:t>
            </a:r>
          </a:p>
        </p:txBody>
      </p:sp>
      <p:sp>
        <p:nvSpPr>
          <p:cNvPr id="392" name="Shape 16"/>
          <p:cNvSpPr/>
          <p:nvPr/>
        </p:nvSpPr>
        <p:spPr>
          <a:xfrm>
            <a:off x="909482" y="3398134"/>
            <a:ext cx="3484556" cy="485402"/>
          </a:xfrm>
          <a:prstGeom prst="rect">
            <a:avLst/>
          </a:prstGeom>
          <a:solidFill>
            <a:srgbClr val="FFFFFF"/>
          </a:solidFill>
          <a:ln w="12700">
            <a:miter lim="400000"/>
          </a:ln>
        </p:spPr>
        <p:txBody>
          <a:bodyPr lIns="45719" rIns="45719"/>
          <a:lstStyle/>
          <a:p>
            <a:pPr/>
          </a:p>
        </p:txBody>
      </p:sp>
      <p:sp>
        <p:nvSpPr>
          <p:cNvPr id="393" name="Text 17"/>
          <p:cNvSpPr txBox="1"/>
          <p:nvPr/>
        </p:nvSpPr>
        <p:spPr>
          <a:xfrm>
            <a:off x="1116896" y="3408430"/>
            <a:ext cx="1991175" cy="23534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lvl1pPr>
              <a:defRPr sz="1000">
                <a:solidFill>
                  <a:srgbClr val="5F6368"/>
                </a:solidFill>
                <a:latin typeface="+mn-lt"/>
                <a:ea typeface="+mn-ea"/>
                <a:cs typeface="+mn-cs"/>
                <a:sym typeface="Helvetica"/>
              </a:defRPr>
            </a:lvl1pPr>
          </a:lstStyle>
          <a:p>
            <a:pPr/>
            <a:r>
              <a:t>宿泊単価（1棟）</a:t>
            </a:r>
          </a:p>
        </p:txBody>
      </p:sp>
      <p:sp>
        <p:nvSpPr>
          <p:cNvPr id="394" name="Text 18"/>
          <p:cNvSpPr txBox="1"/>
          <p:nvPr/>
        </p:nvSpPr>
        <p:spPr>
          <a:xfrm>
            <a:off x="1116896" y="3581753"/>
            <a:ext cx="2820831" cy="321150"/>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lvl1pPr>
              <a:defRPr b="1" sz="1600">
                <a:solidFill>
                  <a:srgbClr val="167B81"/>
                </a:solidFill>
                <a:latin typeface="+mn-lt"/>
                <a:ea typeface="+mn-ea"/>
                <a:cs typeface="+mn-cs"/>
                <a:sym typeface="Helvetica"/>
              </a:defRPr>
            </a:lvl1pPr>
          </a:lstStyle>
          <a:p>
            <a:pPr/>
            <a:r>
              <a:t>¥25,000〜 / 泊</a:t>
            </a:r>
          </a:p>
        </p:txBody>
      </p:sp>
      <p:sp>
        <p:nvSpPr>
          <p:cNvPr id="395" name="Shape 16"/>
          <p:cNvSpPr/>
          <p:nvPr/>
        </p:nvSpPr>
        <p:spPr>
          <a:xfrm>
            <a:off x="909482" y="3952423"/>
            <a:ext cx="3484556" cy="485402"/>
          </a:xfrm>
          <a:prstGeom prst="rect">
            <a:avLst/>
          </a:prstGeom>
          <a:solidFill>
            <a:srgbClr val="FFFFFF"/>
          </a:solidFill>
          <a:ln w="12700">
            <a:miter lim="400000"/>
          </a:ln>
        </p:spPr>
        <p:txBody>
          <a:bodyPr lIns="45719" rIns="45719"/>
          <a:lstStyle/>
          <a:p>
            <a:pPr/>
          </a:p>
        </p:txBody>
      </p:sp>
      <p:sp>
        <p:nvSpPr>
          <p:cNvPr id="396" name="Text 17"/>
          <p:cNvSpPr txBox="1"/>
          <p:nvPr/>
        </p:nvSpPr>
        <p:spPr>
          <a:xfrm>
            <a:off x="1116896" y="3974977"/>
            <a:ext cx="1991175" cy="210832"/>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lvl1pPr>
              <a:defRPr sz="1000">
                <a:solidFill>
                  <a:srgbClr val="5F6368"/>
                </a:solidFill>
                <a:latin typeface="+mn-lt"/>
                <a:ea typeface="+mn-ea"/>
                <a:cs typeface="+mn-cs"/>
                <a:sym typeface="Helvetica"/>
              </a:defRPr>
            </a:lvl1pPr>
          </a:lstStyle>
          <a:p>
            <a:pPr/>
            <a:r>
              <a:t>手数料</a:t>
            </a:r>
          </a:p>
        </p:txBody>
      </p:sp>
      <p:sp>
        <p:nvSpPr>
          <p:cNvPr id="397" name="Text 18"/>
          <p:cNvSpPr txBox="1"/>
          <p:nvPr/>
        </p:nvSpPr>
        <p:spPr>
          <a:xfrm>
            <a:off x="1116896" y="4136042"/>
            <a:ext cx="2820831" cy="321151"/>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lvl1pPr>
              <a:defRPr b="1" sz="1600">
                <a:solidFill>
                  <a:srgbClr val="167B81"/>
                </a:solidFill>
                <a:latin typeface="+mn-lt"/>
                <a:ea typeface="+mn-ea"/>
                <a:cs typeface="+mn-cs"/>
                <a:sym typeface="Helvetica"/>
              </a:defRPr>
            </a:lvl1pPr>
          </a:lstStyle>
          <a:p>
            <a:pPr/>
            <a:r>
              <a:t>¥320,000→¥165,000</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9" name="Text 0"/>
          <p:cNvSpPr txBox="1"/>
          <p:nvPr/>
        </p:nvSpPr>
        <p:spPr>
          <a:xfrm>
            <a:off x="8092439" y="4828540"/>
            <a:ext cx="548641"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9AA0A6"/>
                </a:solidFill>
                <a:latin typeface="+mn-lt"/>
                <a:ea typeface="+mn-ea"/>
                <a:cs typeface="+mn-cs"/>
                <a:sym typeface="Helvetica"/>
              </a:defRPr>
            </a:lvl1pPr>
          </a:lstStyle>
          <a:p>
            <a:pPr/>
            <a:r>
              <a:t>8 / 9</a:t>
            </a:r>
          </a:p>
        </p:txBody>
      </p:sp>
      <p:sp>
        <p:nvSpPr>
          <p:cNvPr id="400" name="Text 1"/>
          <p:cNvSpPr txBox="1"/>
          <p:nvPr/>
        </p:nvSpPr>
        <p:spPr>
          <a:xfrm>
            <a:off x="502919" y="4828540"/>
            <a:ext cx="2651762" cy="218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800">
                <a:solidFill>
                  <a:srgbClr val="9AA0A6"/>
                </a:solidFill>
                <a:latin typeface="+mn-lt"/>
                <a:ea typeface="+mn-ea"/>
                <a:cs typeface="+mn-cs"/>
                <a:sym typeface="Helvetica"/>
              </a:defRPr>
            </a:lvl1pPr>
          </a:lstStyle>
          <a:p>
            <a:pPr/>
            <a:r>
              <a:t>SEKAI STAY  |  CONFIDENTIAL</a:t>
            </a:r>
          </a:p>
        </p:txBody>
      </p:sp>
      <p:sp>
        <p:nvSpPr>
          <p:cNvPr id="401" name="Shape 2"/>
          <p:cNvSpPr/>
          <p:nvPr/>
        </p:nvSpPr>
        <p:spPr>
          <a:xfrm>
            <a:off x="548640" y="411480"/>
            <a:ext cx="1097281" cy="1"/>
          </a:xfrm>
          <a:prstGeom prst="line">
            <a:avLst/>
          </a:prstGeom>
          <a:ln w="38100">
            <a:solidFill>
              <a:srgbClr val="259DA3"/>
            </a:solidFill>
          </a:ln>
        </p:spPr>
        <p:txBody>
          <a:bodyPr lIns="45719" rIns="45719"/>
          <a:lstStyle/>
          <a:p>
            <a:pPr/>
          </a:p>
        </p:txBody>
      </p:sp>
      <p:sp>
        <p:nvSpPr>
          <p:cNvPr id="402" name="Text 3"/>
          <p:cNvSpPr txBox="1"/>
          <p:nvPr/>
        </p:nvSpPr>
        <p:spPr>
          <a:xfrm>
            <a:off x="594359" y="505968"/>
            <a:ext cx="7223761" cy="3962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400">
                <a:solidFill>
                  <a:srgbClr val="2D2D2D"/>
                </a:solidFill>
                <a:latin typeface="+mn-lt"/>
                <a:ea typeface="+mn-ea"/>
                <a:cs typeface="+mn-cs"/>
                <a:sym typeface="Helvetica"/>
              </a:defRPr>
            </a:lvl1pPr>
          </a:lstStyle>
          <a:p>
            <a:pPr/>
            <a:r>
              <a:t>料金プランと費用対効果</a:t>
            </a:r>
          </a:p>
        </p:txBody>
      </p:sp>
      <p:sp>
        <p:nvSpPr>
          <p:cNvPr id="403" name="Shape 4"/>
          <p:cNvSpPr/>
          <p:nvPr/>
        </p:nvSpPr>
        <p:spPr>
          <a:xfrm>
            <a:off x="548640" y="1097280"/>
            <a:ext cx="3657601" cy="2743201"/>
          </a:xfrm>
          <a:prstGeom prst="rect">
            <a:avLst/>
          </a:prstGeom>
          <a:solidFill>
            <a:srgbClr val="259DA3"/>
          </a:solidFill>
          <a:ln w="12700">
            <a:miter lim="400000"/>
          </a:ln>
          <a:effectLst>
            <a:outerShdw sx="100000" sy="100000" kx="0" ky="0" algn="b" rotWithShape="0" blurRad="50800" dist="19050" dir="8100000">
              <a:srgbClr val="000000">
                <a:alpha val="6000"/>
              </a:srgbClr>
            </a:outerShdw>
          </a:effectLst>
        </p:spPr>
        <p:txBody>
          <a:bodyPr lIns="45719" rIns="45719"/>
          <a:lstStyle/>
          <a:p>
            <a:pPr/>
          </a:p>
        </p:txBody>
      </p:sp>
      <p:sp>
        <p:nvSpPr>
          <p:cNvPr id="404" name="Text 5"/>
          <p:cNvSpPr txBox="1"/>
          <p:nvPr/>
        </p:nvSpPr>
        <p:spPr>
          <a:xfrm>
            <a:off x="594359" y="1167383"/>
            <a:ext cx="3566161" cy="243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pc="200" sz="1000">
                <a:solidFill>
                  <a:srgbClr val="FFFFFF">
                    <a:alpha val="70000"/>
                  </a:srgbClr>
                </a:solidFill>
                <a:latin typeface="+mn-lt"/>
                <a:ea typeface="+mn-ea"/>
                <a:cs typeface="+mn-cs"/>
                <a:sym typeface="Helvetica"/>
              </a:defRPr>
            </a:lvl1pPr>
          </a:lstStyle>
          <a:p>
            <a:pPr/>
            <a:r>
              <a:t>ALL INCLUSIVE</a:t>
            </a:r>
          </a:p>
        </p:txBody>
      </p:sp>
      <p:sp>
        <p:nvSpPr>
          <p:cNvPr id="405" name="Text 6"/>
          <p:cNvSpPr txBox="1"/>
          <p:nvPr/>
        </p:nvSpPr>
        <p:spPr>
          <a:xfrm>
            <a:off x="594359" y="1419860"/>
            <a:ext cx="3566161" cy="2692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400">
                <a:solidFill>
                  <a:srgbClr val="FFFFFF"/>
                </a:solidFill>
                <a:latin typeface="+mn-lt"/>
                <a:ea typeface="+mn-ea"/>
                <a:cs typeface="+mn-cs"/>
                <a:sym typeface="Helvetica"/>
              </a:defRPr>
            </a:lvl1pPr>
          </a:lstStyle>
          <a:p>
            <a:pPr/>
            <a:r>
              <a:t>スタンダードプラン</a:t>
            </a:r>
          </a:p>
        </p:txBody>
      </p:sp>
      <p:sp>
        <p:nvSpPr>
          <p:cNvPr id="406" name="Text 7"/>
          <p:cNvSpPr txBox="1"/>
          <p:nvPr/>
        </p:nvSpPr>
        <p:spPr>
          <a:xfrm>
            <a:off x="594359" y="1617979"/>
            <a:ext cx="3566161" cy="878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5200">
                <a:solidFill>
                  <a:srgbClr val="FFFFFF"/>
                </a:solidFill>
                <a:latin typeface="+mn-lt"/>
                <a:ea typeface="+mn-ea"/>
                <a:cs typeface="+mn-cs"/>
                <a:sym typeface="Helvetica"/>
              </a:defRPr>
            </a:lvl1pPr>
          </a:lstStyle>
          <a:p>
            <a:pPr/>
            <a:r>
              <a:t>8%</a:t>
            </a:r>
          </a:p>
        </p:txBody>
      </p:sp>
      <p:sp>
        <p:nvSpPr>
          <p:cNvPr id="407" name="Text 8"/>
          <p:cNvSpPr txBox="1"/>
          <p:nvPr/>
        </p:nvSpPr>
        <p:spPr>
          <a:xfrm>
            <a:off x="594359" y="2315210"/>
            <a:ext cx="356616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400">
                <a:solidFill>
                  <a:srgbClr val="FFFFFF">
                    <a:alpha val="85000"/>
                  </a:srgbClr>
                </a:solidFill>
                <a:latin typeface="+mn-lt"/>
                <a:ea typeface="+mn-ea"/>
                <a:cs typeface="+mn-cs"/>
                <a:sym typeface="Helvetica"/>
              </a:defRPr>
            </a:lvl1pPr>
          </a:lstStyle>
          <a:p>
            <a:pPr/>
            <a:r>
              <a:t>+ ¥5,000 / 部屋 / 月</a:t>
            </a:r>
          </a:p>
        </p:txBody>
      </p:sp>
      <p:sp>
        <p:nvSpPr>
          <p:cNvPr id="408" name="Text 9"/>
          <p:cNvSpPr txBox="1"/>
          <p:nvPr/>
        </p:nvSpPr>
        <p:spPr>
          <a:xfrm>
            <a:off x="868680" y="2665790"/>
            <a:ext cx="3108961" cy="24626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solidFill>
                  <a:srgbClr val="FFFFFF"/>
                </a:solidFill>
                <a:latin typeface="+mn-lt"/>
                <a:ea typeface="+mn-ea"/>
                <a:cs typeface="+mn-cs"/>
                <a:sym typeface="Helvetica"/>
              </a:defRPr>
            </a:lvl1pPr>
          </a:lstStyle>
          <a:p>
            <a:pPr/>
            <a:r>
              <a:t>✓ 全OTA掲載・最適化</a:t>
            </a:r>
          </a:p>
        </p:txBody>
      </p:sp>
      <p:sp>
        <p:nvSpPr>
          <p:cNvPr id="409" name="Text 10"/>
          <p:cNvSpPr txBox="1"/>
          <p:nvPr/>
        </p:nvSpPr>
        <p:spPr>
          <a:xfrm>
            <a:off x="868680" y="2866958"/>
            <a:ext cx="3108961" cy="24626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solidFill>
                  <a:srgbClr val="FFFFFF"/>
                </a:solidFill>
                <a:latin typeface="+mn-lt"/>
                <a:ea typeface="+mn-ea"/>
                <a:cs typeface="+mn-cs"/>
                <a:sym typeface="Helvetica"/>
              </a:defRPr>
            </a:lvl1pPr>
          </a:lstStyle>
          <a:p>
            <a:pPr/>
            <a:r>
              <a:t>✓ 24h多言語ゲスト対応</a:t>
            </a:r>
          </a:p>
        </p:txBody>
      </p:sp>
      <p:sp>
        <p:nvSpPr>
          <p:cNvPr id="410" name="Text 11"/>
          <p:cNvSpPr txBox="1"/>
          <p:nvPr/>
        </p:nvSpPr>
        <p:spPr>
          <a:xfrm>
            <a:off x="868680" y="3068126"/>
            <a:ext cx="3108961" cy="24626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solidFill>
                  <a:srgbClr val="FFFFFF"/>
                </a:solidFill>
                <a:latin typeface="+mn-lt"/>
                <a:ea typeface="+mn-ea"/>
                <a:cs typeface="+mn-cs"/>
                <a:sym typeface="Helvetica"/>
              </a:defRPr>
            </a:lvl1pPr>
          </a:lstStyle>
          <a:p>
            <a:pPr/>
            <a:r>
              <a:t>✓ 清掃手配・品質管理</a:t>
            </a:r>
          </a:p>
        </p:txBody>
      </p:sp>
      <p:sp>
        <p:nvSpPr>
          <p:cNvPr id="411" name="Text 12"/>
          <p:cNvSpPr txBox="1"/>
          <p:nvPr/>
        </p:nvSpPr>
        <p:spPr>
          <a:xfrm>
            <a:off x="868680" y="3269295"/>
            <a:ext cx="3108961" cy="24625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solidFill>
                  <a:srgbClr val="FFFFFF"/>
                </a:solidFill>
                <a:latin typeface="+mn-lt"/>
                <a:ea typeface="+mn-ea"/>
                <a:cs typeface="+mn-cs"/>
                <a:sym typeface="Helvetica"/>
              </a:defRPr>
            </a:lvl1pPr>
          </a:lstStyle>
          <a:p>
            <a:pPr/>
            <a:r>
              <a:t>✓ 価格自動最適化</a:t>
            </a:r>
          </a:p>
        </p:txBody>
      </p:sp>
      <p:sp>
        <p:nvSpPr>
          <p:cNvPr id="412" name="Text 13"/>
          <p:cNvSpPr txBox="1"/>
          <p:nvPr/>
        </p:nvSpPr>
        <p:spPr>
          <a:xfrm>
            <a:off x="868680" y="3470463"/>
            <a:ext cx="3108961" cy="24625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solidFill>
                  <a:srgbClr val="FFFFFF"/>
                </a:solidFill>
                <a:latin typeface="+mn-lt"/>
                <a:ea typeface="+mn-ea"/>
                <a:cs typeface="+mn-cs"/>
                <a:sym typeface="Helvetica"/>
              </a:defRPr>
            </a:lvl1pPr>
          </a:lstStyle>
          <a:p>
            <a:pPr/>
            <a:r>
              <a:t>✓ オーナーダッシュボード</a:t>
            </a:r>
          </a:p>
        </p:txBody>
      </p:sp>
      <p:graphicFrame>
        <p:nvGraphicFramePr>
          <p:cNvPr id="413" name="Table 0"/>
          <p:cNvGraphicFramePr/>
          <p:nvPr/>
        </p:nvGraphicFramePr>
        <p:xfrm>
          <a:off x="4480559" y="1097280"/>
          <a:ext cx="4114801" cy="16002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914400"/>
                <a:gridCol w="1005839"/>
                <a:gridCol w="1005839"/>
                <a:gridCol w="1188720"/>
              </a:tblGrid>
              <a:tr h="320040">
                <a:tc>
                  <a:txBody>
                    <a:bodyPr/>
                    <a:lstStyle/>
                    <a:p>
                      <a:pPr algn="ctr">
                        <a:defRPr sz="1800"/>
                      </a:pPr>
                      <a:r>
                        <a:rPr b="1" sz="1000">
                          <a:solidFill>
                            <a:srgbClr val="FFFFFF"/>
                          </a:solidFill>
                          <a:latin typeface="+mn-lt"/>
                          <a:ea typeface="+mn-ea"/>
                          <a:cs typeface="+mn-cs"/>
                          <a:sym typeface="Helvetica"/>
                        </a:rPr>
                        <a:t>月間売上</a:t>
                      </a:r>
                    </a:p>
                  </a:txBody>
                  <a:tcPr marL="45720" marR="45720" marT="45720" marB="45720" anchor="ctr" anchorCtr="0" horzOverflow="overflow">
                    <a:lnL w="6350">
                      <a:solidFill>
                        <a:srgbClr val="DADCE0"/>
                      </a:solidFill>
                    </a:lnL>
                    <a:lnR w="6350">
                      <a:solidFill>
                        <a:srgbClr val="DADCE0"/>
                      </a:solidFill>
                    </a:lnR>
                    <a:lnT w="6350">
                      <a:solidFill>
                        <a:srgbClr val="DADCE0"/>
                      </a:solidFill>
                    </a:lnT>
                    <a:lnB w="6350">
                      <a:solidFill>
                        <a:srgbClr val="DADCE0"/>
                      </a:solidFill>
                    </a:lnB>
                    <a:solidFill>
                      <a:srgbClr val="2D2D2D"/>
                    </a:solidFill>
                  </a:tcPr>
                </a:tc>
                <a:tc>
                  <a:txBody>
                    <a:bodyPr/>
                    <a:lstStyle/>
                    <a:p>
                      <a:pPr algn="ctr">
                        <a:defRPr sz="1800"/>
                      </a:pPr>
                      <a:r>
                        <a:rPr b="1" sz="1000">
                          <a:solidFill>
                            <a:srgbClr val="FFFFFF"/>
                          </a:solidFill>
                          <a:latin typeface="+mn-lt"/>
                          <a:ea typeface="+mn-ea"/>
                          <a:cs typeface="+mn-cs"/>
                          <a:sym typeface="Helvetica"/>
                        </a:rPr>
                        <a:t>他社(20%)</a:t>
                      </a:r>
                    </a:p>
                  </a:txBody>
                  <a:tcPr marL="45720" marR="45720" marT="45720" marB="45720" anchor="ctr" anchorCtr="0" horzOverflow="overflow">
                    <a:lnL w="6350">
                      <a:solidFill>
                        <a:srgbClr val="DADCE0"/>
                      </a:solidFill>
                    </a:lnL>
                    <a:lnR w="6350">
                      <a:solidFill>
                        <a:srgbClr val="DADCE0"/>
                      </a:solidFill>
                    </a:lnR>
                    <a:lnT w="6350">
                      <a:solidFill>
                        <a:srgbClr val="DADCE0"/>
                      </a:solidFill>
                    </a:lnT>
                    <a:lnB w="6350">
                      <a:solidFill>
                        <a:srgbClr val="DADCE0"/>
                      </a:solidFill>
                    </a:lnB>
                    <a:solidFill>
                      <a:srgbClr val="2D2D2D"/>
                    </a:solidFill>
                  </a:tcPr>
                </a:tc>
                <a:tc>
                  <a:txBody>
                    <a:bodyPr/>
                    <a:lstStyle/>
                    <a:p>
                      <a:pPr algn="ctr">
                        <a:defRPr sz="1800"/>
                      </a:pPr>
                      <a:r>
                        <a:rPr b="1" sz="1000">
                          <a:solidFill>
                            <a:srgbClr val="FFFFFF"/>
                          </a:solidFill>
                          <a:latin typeface="+mn-lt"/>
                          <a:ea typeface="+mn-ea"/>
                          <a:cs typeface="+mn-cs"/>
                          <a:sym typeface="Helvetica"/>
                        </a:rPr>
                        <a:t>他社(15%)</a:t>
                      </a:r>
                    </a:p>
                  </a:txBody>
                  <a:tcPr marL="45720" marR="45720" marT="45720" marB="45720" anchor="ctr" anchorCtr="0" horzOverflow="overflow">
                    <a:lnL w="6350">
                      <a:solidFill>
                        <a:srgbClr val="DADCE0"/>
                      </a:solidFill>
                    </a:lnL>
                    <a:lnR w="6350">
                      <a:solidFill>
                        <a:srgbClr val="DADCE0"/>
                      </a:solidFill>
                    </a:lnR>
                    <a:lnT w="6350">
                      <a:solidFill>
                        <a:srgbClr val="DADCE0"/>
                      </a:solidFill>
                    </a:lnT>
                    <a:lnB w="6350">
                      <a:solidFill>
                        <a:srgbClr val="DADCE0"/>
                      </a:solidFill>
                    </a:lnB>
                    <a:solidFill>
                      <a:srgbClr val="2D2D2D"/>
                    </a:solidFill>
                  </a:tcPr>
                </a:tc>
                <a:tc>
                  <a:txBody>
                    <a:bodyPr/>
                    <a:lstStyle/>
                    <a:p>
                      <a:pPr algn="ctr">
                        <a:defRPr sz="1800"/>
                      </a:pPr>
                      <a:r>
                        <a:rPr b="1" sz="1000">
                          <a:solidFill>
                            <a:srgbClr val="FFFFFF"/>
                          </a:solidFill>
                          <a:latin typeface="+mn-lt"/>
                          <a:ea typeface="+mn-ea"/>
                          <a:cs typeface="+mn-cs"/>
                          <a:sym typeface="Helvetica"/>
                        </a:rPr>
                        <a:t>SEKAI STAY</a:t>
                      </a:r>
                    </a:p>
                  </a:txBody>
                  <a:tcPr marL="45720" marR="45720" marT="45720" marB="45720" anchor="ctr" anchorCtr="0" horzOverflow="overflow">
                    <a:lnL w="6350">
                      <a:solidFill>
                        <a:srgbClr val="DADCE0"/>
                      </a:solidFill>
                    </a:lnL>
                    <a:lnR w="6350">
                      <a:solidFill>
                        <a:srgbClr val="DADCE0"/>
                      </a:solidFill>
                    </a:lnR>
                    <a:lnT w="6350">
                      <a:solidFill>
                        <a:srgbClr val="DADCE0"/>
                      </a:solidFill>
                    </a:lnT>
                    <a:lnB w="6350">
                      <a:solidFill>
                        <a:srgbClr val="DADCE0"/>
                      </a:solidFill>
                    </a:lnB>
                    <a:solidFill>
                      <a:srgbClr val="2D2D2D"/>
                    </a:solidFill>
                  </a:tcPr>
                </a:tc>
              </a:tr>
              <a:tr h="320040">
                <a:tc>
                  <a:txBody>
                    <a:bodyPr/>
                    <a:lstStyle/>
                    <a:p>
                      <a:pPr algn="l">
                        <a:defRPr sz="1800"/>
                      </a:pPr>
                      <a:r>
                        <a:rPr b="1" sz="1000">
                          <a:solidFill>
                            <a:srgbClr val="2D2D2D"/>
                          </a:solidFill>
                          <a:latin typeface="+mn-lt"/>
                          <a:ea typeface="+mn-ea"/>
                          <a:cs typeface="+mn-cs"/>
                          <a:sym typeface="Helvetica"/>
                        </a:rPr>
                        <a:t>30万円</a:t>
                      </a:r>
                    </a:p>
                  </a:txBody>
                  <a:tcPr marL="45720" marR="45720" marT="45720" marB="45720" anchor="ctr" anchorCtr="0" horzOverflow="overflow">
                    <a:lnL w="6350">
                      <a:solidFill>
                        <a:srgbClr val="DADCE0"/>
                      </a:solidFill>
                    </a:lnL>
                    <a:lnR w="6350">
                      <a:solidFill>
                        <a:srgbClr val="DADCE0"/>
                      </a:solidFill>
                    </a:lnR>
                    <a:lnT w="6350">
                      <a:solidFill>
                        <a:srgbClr val="DADCE0"/>
                      </a:solidFill>
                    </a:lnT>
                    <a:lnB w="6350">
                      <a:solidFill>
                        <a:srgbClr val="DADCE0"/>
                      </a:solidFill>
                    </a:lnB>
                    <a:solidFill>
                      <a:srgbClr val="E5F4F5"/>
                    </a:solidFill>
                  </a:tcPr>
                </a:tc>
                <a:tc>
                  <a:txBody>
                    <a:bodyPr/>
                    <a:lstStyle/>
                    <a:p>
                      <a:pPr algn="ctr">
                        <a:defRPr sz="1800"/>
                      </a:pPr>
                      <a:r>
                        <a:rPr sz="1000">
                          <a:solidFill>
                            <a:srgbClr val="2D2D2D"/>
                          </a:solidFill>
                          <a:latin typeface="+mn-lt"/>
                          <a:ea typeface="+mn-ea"/>
                          <a:cs typeface="+mn-cs"/>
                          <a:sym typeface="Helvetica"/>
                        </a:rPr>
                        <a:t>6万円</a:t>
                      </a:r>
                    </a:p>
                  </a:txBody>
                  <a:tcPr marL="45720" marR="45720" marT="45720" marB="45720" anchor="ctr" anchorCtr="0" horzOverflow="overflow">
                    <a:lnL w="6350">
                      <a:solidFill>
                        <a:srgbClr val="DADCE0"/>
                      </a:solidFill>
                    </a:lnL>
                    <a:lnR w="6350">
                      <a:solidFill>
                        <a:srgbClr val="DADCE0"/>
                      </a:solidFill>
                    </a:lnR>
                    <a:lnT w="6350">
                      <a:solidFill>
                        <a:srgbClr val="DADCE0"/>
                      </a:solidFill>
                    </a:lnT>
                    <a:lnB w="6350">
                      <a:solidFill>
                        <a:srgbClr val="DADCE0"/>
                      </a:solidFill>
                    </a:lnB>
                    <a:solidFill>
                      <a:srgbClr val="E5F4F5"/>
                    </a:solidFill>
                  </a:tcPr>
                </a:tc>
                <a:tc>
                  <a:txBody>
                    <a:bodyPr/>
                    <a:lstStyle/>
                    <a:p>
                      <a:pPr algn="ctr">
                        <a:defRPr sz="1800"/>
                      </a:pPr>
                      <a:r>
                        <a:rPr sz="1000">
                          <a:solidFill>
                            <a:srgbClr val="2D2D2D"/>
                          </a:solidFill>
                          <a:latin typeface="+mn-lt"/>
                          <a:ea typeface="+mn-ea"/>
                          <a:cs typeface="+mn-cs"/>
                          <a:sym typeface="Helvetica"/>
                        </a:rPr>
                        <a:t>4.5万円</a:t>
                      </a:r>
                    </a:p>
                  </a:txBody>
                  <a:tcPr marL="45720" marR="45720" marT="45720" marB="45720" anchor="ctr" anchorCtr="0" horzOverflow="overflow">
                    <a:lnL w="6350">
                      <a:solidFill>
                        <a:srgbClr val="DADCE0"/>
                      </a:solidFill>
                    </a:lnL>
                    <a:lnR w="6350">
                      <a:solidFill>
                        <a:srgbClr val="DADCE0"/>
                      </a:solidFill>
                    </a:lnR>
                    <a:lnT w="6350">
                      <a:solidFill>
                        <a:srgbClr val="DADCE0"/>
                      </a:solidFill>
                    </a:lnT>
                    <a:lnB w="6350">
                      <a:solidFill>
                        <a:srgbClr val="DADCE0"/>
                      </a:solidFill>
                    </a:lnB>
                    <a:solidFill>
                      <a:srgbClr val="E5F4F5"/>
                    </a:solidFill>
                  </a:tcPr>
                </a:tc>
                <a:tc>
                  <a:txBody>
                    <a:bodyPr/>
                    <a:lstStyle/>
                    <a:p>
                      <a:pPr algn="ctr">
                        <a:defRPr sz="1800"/>
                      </a:pPr>
                      <a:r>
                        <a:rPr b="1" sz="1000">
                          <a:solidFill>
                            <a:srgbClr val="259DA3"/>
                          </a:solidFill>
                          <a:latin typeface="+mn-lt"/>
                          <a:ea typeface="+mn-ea"/>
                          <a:cs typeface="+mn-cs"/>
                          <a:sym typeface="Helvetica"/>
                        </a:rPr>
                        <a:t>2.9万円</a:t>
                      </a:r>
                    </a:p>
                  </a:txBody>
                  <a:tcPr marL="45720" marR="45720" marT="45720" marB="45720" anchor="ctr" anchorCtr="0" horzOverflow="overflow">
                    <a:lnL w="6350">
                      <a:solidFill>
                        <a:srgbClr val="DADCE0"/>
                      </a:solidFill>
                    </a:lnL>
                    <a:lnR w="6350">
                      <a:solidFill>
                        <a:srgbClr val="DADCE0"/>
                      </a:solidFill>
                    </a:lnR>
                    <a:lnT w="6350">
                      <a:solidFill>
                        <a:srgbClr val="DADCE0"/>
                      </a:solidFill>
                    </a:lnT>
                    <a:lnB w="6350">
                      <a:solidFill>
                        <a:srgbClr val="DADCE0"/>
                      </a:solidFill>
                    </a:lnB>
                    <a:solidFill>
                      <a:srgbClr val="E5F4F5"/>
                    </a:solidFill>
                  </a:tcPr>
                </a:tc>
              </a:tr>
              <a:tr h="320040">
                <a:tc>
                  <a:txBody>
                    <a:bodyPr/>
                    <a:lstStyle/>
                    <a:p>
                      <a:pPr algn="l">
                        <a:defRPr sz="1800"/>
                      </a:pPr>
                      <a:r>
                        <a:rPr b="1" sz="1000">
                          <a:solidFill>
                            <a:srgbClr val="2D2D2D"/>
                          </a:solidFill>
                          <a:latin typeface="+mn-lt"/>
                          <a:ea typeface="+mn-ea"/>
                          <a:cs typeface="+mn-cs"/>
                          <a:sym typeface="Helvetica"/>
                        </a:rPr>
                        <a:t>50万円</a:t>
                      </a:r>
                    </a:p>
                  </a:txBody>
                  <a:tcPr marL="45720" marR="45720" marT="45720" marB="45720" anchor="ctr" anchorCtr="0" horzOverflow="overflow">
                    <a:lnL w="6350">
                      <a:solidFill>
                        <a:srgbClr val="DADCE0"/>
                      </a:solidFill>
                    </a:lnL>
                    <a:lnR w="6350">
                      <a:solidFill>
                        <a:srgbClr val="DADCE0"/>
                      </a:solidFill>
                    </a:lnR>
                    <a:lnT w="6350">
                      <a:solidFill>
                        <a:srgbClr val="DADCE0"/>
                      </a:solidFill>
                    </a:lnT>
                    <a:lnB w="6350">
                      <a:solidFill>
                        <a:srgbClr val="DADCE0"/>
                      </a:solidFill>
                    </a:lnB>
                    <a:solidFill>
                      <a:srgbClr val="FFFFFF"/>
                    </a:solidFill>
                  </a:tcPr>
                </a:tc>
                <a:tc>
                  <a:txBody>
                    <a:bodyPr/>
                    <a:lstStyle/>
                    <a:p>
                      <a:pPr algn="ctr">
                        <a:defRPr sz="1800"/>
                      </a:pPr>
                      <a:r>
                        <a:rPr sz="1000">
                          <a:solidFill>
                            <a:srgbClr val="2D2D2D"/>
                          </a:solidFill>
                          <a:latin typeface="+mn-lt"/>
                          <a:ea typeface="+mn-ea"/>
                          <a:cs typeface="+mn-cs"/>
                          <a:sym typeface="Helvetica"/>
                        </a:rPr>
                        <a:t>10万円</a:t>
                      </a:r>
                    </a:p>
                  </a:txBody>
                  <a:tcPr marL="45720" marR="45720" marT="45720" marB="45720" anchor="ctr" anchorCtr="0" horzOverflow="overflow">
                    <a:lnL w="6350">
                      <a:solidFill>
                        <a:srgbClr val="DADCE0"/>
                      </a:solidFill>
                    </a:lnL>
                    <a:lnR w="6350">
                      <a:solidFill>
                        <a:srgbClr val="DADCE0"/>
                      </a:solidFill>
                    </a:lnR>
                    <a:lnT w="6350">
                      <a:solidFill>
                        <a:srgbClr val="DADCE0"/>
                      </a:solidFill>
                    </a:lnT>
                    <a:lnB w="6350">
                      <a:solidFill>
                        <a:srgbClr val="DADCE0"/>
                      </a:solidFill>
                    </a:lnB>
                    <a:solidFill>
                      <a:srgbClr val="FFFFFF"/>
                    </a:solidFill>
                  </a:tcPr>
                </a:tc>
                <a:tc>
                  <a:txBody>
                    <a:bodyPr/>
                    <a:lstStyle/>
                    <a:p>
                      <a:pPr algn="ctr">
                        <a:defRPr sz="1800"/>
                      </a:pPr>
                      <a:r>
                        <a:rPr sz="1000">
                          <a:solidFill>
                            <a:srgbClr val="2D2D2D"/>
                          </a:solidFill>
                          <a:latin typeface="+mn-lt"/>
                          <a:ea typeface="+mn-ea"/>
                          <a:cs typeface="+mn-cs"/>
                          <a:sym typeface="Helvetica"/>
                        </a:rPr>
                        <a:t>7.5万円</a:t>
                      </a:r>
                    </a:p>
                  </a:txBody>
                  <a:tcPr marL="45720" marR="45720" marT="45720" marB="45720" anchor="ctr" anchorCtr="0" horzOverflow="overflow">
                    <a:lnL w="6350">
                      <a:solidFill>
                        <a:srgbClr val="DADCE0"/>
                      </a:solidFill>
                    </a:lnL>
                    <a:lnR w="6350">
                      <a:solidFill>
                        <a:srgbClr val="DADCE0"/>
                      </a:solidFill>
                    </a:lnR>
                    <a:lnT w="6350">
                      <a:solidFill>
                        <a:srgbClr val="DADCE0"/>
                      </a:solidFill>
                    </a:lnT>
                    <a:lnB w="6350">
                      <a:solidFill>
                        <a:srgbClr val="DADCE0"/>
                      </a:solidFill>
                    </a:lnB>
                    <a:solidFill>
                      <a:srgbClr val="FFFFFF"/>
                    </a:solidFill>
                  </a:tcPr>
                </a:tc>
                <a:tc>
                  <a:txBody>
                    <a:bodyPr/>
                    <a:lstStyle/>
                    <a:p>
                      <a:pPr algn="ctr">
                        <a:defRPr sz="1800"/>
                      </a:pPr>
                      <a:r>
                        <a:rPr b="1" sz="1000">
                          <a:solidFill>
                            <a:srgbClr val="259DA3"/>
                          </a:solidFill>
                          <a:latin typeface="+mn-lt"/>
                          <a:ea typeface="+mn-ea"/>
                          <a:cs typeface="+mn-cs"/>
                          <a:sym typeface="Helvetica"/>
                        </a:rPr>
                        <a:t>4.5万円</a:t>
                      </a:r>
                    </a:p>
                  </a:txBody>
                  <a:tcPr marL="45720" marR="45720" marT="45720" marB="45720" anchor="ctr" anchorCtr="0" horzOverflow="overflow">
                    <a:lnL w="6350">
                      <a:solidFill>
                        <a:srgbClr val="DADCE0"/>
                      </a:solidFill>
                    </a:lnL>
                    <a:lnR w="6350">
                      <a:solidFill>
                        <a:srgbClr val="DADCE0"/>
                      </a:solidFill>
                    </a:lnR>
                    <a:lnT w="6350">
                      <a:solidFill>
                        <a:srgbClr val="DADCE0"/>
                      </a:solidFill>
                    </a:lnT>
                    <a:lnB w="6350">
                      <a:solidFill>
                        <a:srgbClr val="DADCE0"/>
                      </a:solidFill>
                    </a:lnB>
                    <a:solidFill>
                      <a:srgbClr val="FFFFFF"/>
                    </a:solidFill>
                  </a:tcPr>
                </a:tc>
              </a:tr>
              <a:tr h="320040">
                <a:tc>
                  <a:txBody>
                    <a:bodyPr/>
                    <a:lstStyle/>
                    <a:p>
                      <a:pPr algn="l">
                        <a:defRPr sz="1800"/>
                      </a:pPr>
                      <a:r>
                        <a:rPr b="1" sz="1000">
                          <a:solidFill>
                            <a:srgbClr val="2D2D2D"/>
                          </a:solidFill>
                          <a:latin typeface="+mn-lt"/>
                          <a:ea typeface="+mn-ea"/>
                          <a:cs typeface="+mn-cs"/>
                          <a:sym typeface="Helvetica"/>
                        </a:rPr>
                        <a:t>100万円</a:t>
                      </a:r>
                    </a:p>
                  </a:txBody>
                  <a:tcPr marL="45720" marR="45720" marT="45720" marB="45720" anchor="ctr" anchorCtr="0" horzOverflow="overflow">
                    <a:lnL w="6350">
                      <a:solidFill>
                        <a:srgbClr val="DADCE0"/>
                      </a:solidFill>
                    </a:lnL>
                    <a:lnR w="6350">
                      <a:solidFill>
                        <a:srgbClr val="DADCE0"/>
                      </a:solidFill>
                    </a:lnR>
                    <a:lnT w="6350">
                      <a:solidFill>
                        <a:srgbClr val="DADCE0"/>
                      </a:solidFill>
                    </a:lnT>
                    <a:lnB w="6350">
                      <a:solidFill>
                        <a:srgbClr val="DADCE0"/>
                      </a:solidFill>
                    </a:lnB>
                    <a:solidFill>
                      <a:srgbClr val="E5F4F5"/>
                    </a:solidFill>
                  </a:tcPr>
                </a:tc>
                <a:tc>
                  <a:txBody>
                    <a:bodyPr/>
                    <a:lstStyle/>
                    <a:p>
                      <a:pPr algn="ctr">
                        <a:defRPr sz="1800"/>
                      </a:pPr>
                      <a:r>
                        <a:rPr sz="1000">
                          <a:solidFill>
                            <a:srgbClr val="2D2D2D"/>
                          </a:solidFill>
                          <a:latin typeface="+mn-lt"/>
                          <a:ea typeface="+mn-ea"/>
                          <a:cs typeface="+mn-cs"/>
                          <a:sym typeface="Helvetica"/>
                        </a:rPr>
                        <a:t>20万円</a:t>
                      </a:r>
                    </a:p>
                  </a:txBody>
                  <a:tcPr marL="45720" marR="45720" marT="45720" marB="45720" anchor="ctr" anchorCtr="0" horzOverflow="overflow">
                    <a:lnL w="6350">
                      <a:solidFill>
                        <a:srgbClr val="DADCE0"/>
                      </a:solidFill>
                    </a:lnL>
                    <a:lnR w="6350">
                      <a:solidFill>
                        <a:srgbClr val="DADCE0"/>
                      </a:solidFill>
                    </a:lnR>
                    <a:lnT w="6350">
                      <a:solidFill>
                        <a:srgbClr val="DADCE0"/>
                      </a:solidFill>
                    </a:lnT>
                    <a:lnB w="6350">
                      <a:solidFill>
                        <a:srgbClr val="DADCE0"/>
                      </a:solidFill>
                    </a:lnB>
                    <a:solidFill>
                      <a:srgbClr val="E5F4F5"/>
                    </a:solidFill>
                  </a:tcPr>
                </a:tc>
                <a:tc>
                  <a:txBody>
                    <a:bodyPr/>
                    <a:lstStyle/>
                    <a:p>
                      <a:pPr algn="ctr">
                        <a:defRPr sz="1800"/>
                      </a:pPr>
                      <a:r>
                        <a:rPr sz="1000">
                          <a:solidFill>
                            <a:srgbClr val="2D2D2D"/>
                          </a:solidFill>
                          <a:latin typeface="+mn-lt"/>
                          <a:ea typeface="+mn-ea"/>
                          <a:cs typeface="+mn-cs"/>
                          <a:sym typeface="Helvetica"/>
                        </a:rPr>
                        <a:t>15万円</a:t>
                      </a:r>
                    </a:p>
                  </a:txBody>
                  <a:tcPr marL="45720" marR="45720" marT="45720" marB="45720" anchor="ctr" anchorCtr="0" horzOverflow="overflow">
                    <a:lnL w="6350">
                      <a:solidFill>
                        <a:srgbClr val="DADCE0"/>
                      </a:solidFill>
                    </a:lnL>
                    <a:lnR w="6350">
                      <a:solidFill>
                        <a:srgbClr val="DADCE0"/>
                      </a:solidFill>
                    </a:lnR>
                    <a:lnT w="6350">
                      <a:solidFill>
                        <a:srgbClr val="DADCE0"/>
                      </a:solidFill>
                    </a:lnT>
                    <a:lnB w="6350">
                      <a:solidFill>
                        <a:srgbClr val="DADCE0"/>
                      </a:solidFill>
                    </a:lnB>
                    <a:solidFill>
                      <a:srgbClr val="E5F4F5"/>
                    </a:solidFill>
                  </a:tcPr>
                </a:tc>
                <a:tc>
                  <a:txBody>
                    <a:bodyPr/>
                    <a:lstStyle/>
                    <a:p>
                      <a:pPr algn="ctr">
                        <a:defRPr sz="1800"/>
                      </a:pPr>
                      <a:r>
                        <a:rPr b="1" sz="1000">
                          <a:solidFill>
                            <a:srgbClr val="259DA3"/>
                          </a:solidFill>
                          <a:latin typeface="+mn-lt"/>
                          <a:ea typeface="+mn-ea"/>
                          <a:cs typeface="+mn-cs"/>
                          <a:sym typeface="Helvetica"/>
                        </a:rPr>
                        <a:t>8.5万円</a:t>
                      </a:r>
                    </a:p>
                  </a:txBody>
                  <a:tcPr marL="45720" marR="45720" marT="45720" marB="45720" anchor="ctr" anchorCtr="0" horzOverflow="overflow">
                    <a:lnL w="6350">
                      <a:solidFill>
                        <a:srgbClr val="DADCE0"/>
                      </a:solidFill>
                    </a:lnL>
                    <a:lnR w="6350">
                      <a:solidFill>
                        <a:srgbClr val="DADCE0"/>
                      </a:solidFill>
                    </a:lnR>
                    <a:lnT w="6350">
                      <a:solidFill>
                        <a:srgbClr val="DADCE0"/>
                      </a:solidFill>
                    </a:lnT>
                    <a:lnB w="6350">
                      <a:solidFill>
                        <a:srgbClr val="DADCE0"/>
                      </a:solidFill>
                    </a:lnB>
                    <a:solidFill>
                      <a:srgbClr val="E5F4F5"/>
                    </a:solidFill>
                  </a:tcPr>
                </a:tc>
              </a:tr>
              <a:tr h="320040">
                <a:tc>
                  <a:txBody>
                    <a:bodyPr/>
                    <a:lstStyle/>
                    <a:p>
                      <a:pPr algn="l">
                        <a:defRPr sz="1800"/>
                      </a:pPr>
                      <a:r>
                        <a:rPr b="1" sz="1000">
                          <a:solidFill>
                            <a:srgbClr val="2D2D2D"/>
                          </a:solidFill>
                          <a:latin typeface="+mn-lt"/>
                          <a:ea typeface="+mn-ea"/>
                          <a:cs typeface="+mn-cs"/>
                          <a:sym typeface="Helvetica"/>
                        </a:rPr>
                        <a:t>200万円</a:t>
                      </a:r>
                    </a:p>
                  </a:txBody>
                  <a:tcPr marL="45720" marR="45720" marT="45720" marB="45720" anchor="ctr" anchorCtr="0" horzOverflow="overflow">
                    <a:lnL w="6350">
                      <a:solidFill>
                        <a:srgbClr val="DADCE0"/>
                      </a:solidFill>
                    </a:lnL>
                    <a:lnR w="6350">
                      <a:solidFill>
                        <a:srgbClr val="DADCE0"/>
                      </a:solidFill>
                    </a:lnR>
                    <a:lnT w="6350">
                      <a:solidFill>
                        <a:srgbClr val="DADCE0"/>
                      </a:solidFill>
                    </a:lnT>
                    <a:lnB w="6350">
                      <a:solidFill>
                        <a:srgbClr val="DADCE0"/>
                      </a:solidFill>
                    </a:lnB>
                    <a:solidFill>
                      <a:srgbClr val="FFFFFF"/>
                    </a:solidFill>
                  </a:tcPr>
                </a:tc>
                <a:tc>
                  <a:txBody>
                    <a:bodyPr/>
                    <a:lstStyle/>
                    <a:p>
                      <a:pPr algn="ctr">
                        <a:defRPr sz="1800"/>
                      </a:pPr>
                      <a:r>
                        <a:rPr sz="1000">
                          <a:solidFill>
                            <a:srgbClr val="2D2D2D"/>
                          </a:solidFill>
                          <a:latin typeface="+mn-lt"/>
                          <a:ea typeface="+mn-ea"/>
                          <a:cs typeface="+mn-cs"/>
                          <a:sym typeface="Helvetica"/>
                        </a:rPr>
                        <a:t>40万円</a:t>
                      </a:r>
                    </a:p>
                  </a:txBody>
                  <a:tcPr marL="45720" marR="45720" marT="45720" marB="45720" anchor="ctr" anchorCtr="0" horzOverflow="overflow">
                    <a:lnL w="6350">
                      <a:solidFill>
                        <a:srgbClr val="DADCE0"/>
                      </a:solidFill>
                    </a:lnL>
                    <a:lnR w="6350">
                      <a:solidFill>
                        <a:srgbClr val="DADCE0"/>
                      </a:solidFill>
                    </a:lnR>
                    <a:lnT w="6350">
                      <a:solidFill>
                        <a:srgbClr val="DADCE0"/>
                      </a:solidFill>
                    </a:lnT>
                    <a:lnB w="6350">
                      <a:solidFill>
                        <a:srgbClr val="DADCE0"/>
                      </a:solidFill>
                    </a:lnB>
                    <a:solidFill>
                      <a:srgbClr val="FFFFFF"/>
                    </a:solidFill>
                  </a:tcPr>
                </a:tc>
                <a:tc>
                  <a:txBody>
                    <a:bodyPr/>
                    <a:lstStyle/>
                    <a:p>
                      <a:pPr algn="ctr">
                        <a:defRPr sz="1800"/>
                      </a:pPr>
                      <a:r>
                        <a:rPr sz="1000">
                          <a:solidFill>
                            <a:srgbClr val="2D2D2D"/>
                          </a:solidFill>
                          <a:latin typeface="+mn-lt"/>
                          <a:ea typeface="+mn-ea"/>
                          <a:cs typeface="+mn-cs"/>
                          <a:sym typeface="Helvetica"/>
                        </a:rPr>
                        <a:t>30万円</a:t>
                      </a:r>
                    </a:p>
                  </a:txBody>
                  <a:tcPr marL="45720" marR="45720" marT="45720" marB="45720" anchor="ctr" anchorCtr="0" horzOverflow="overflow">
                    <a:lnL w="6350">
                      <a:solidFill>
                        <a:srgbClr val="DADCE0"/>
                      </a:solidFill>
                    </a:lnL>
                    <a:lnR w="6350">
                      <a:solidFill>
                        <a:srgbClr val="DADCE0"/>
                      </a:solidFill>
                    </a:lnR>
                    <a:lnT w="6350">
                      <a:solidFill>
                        <a:srgbClr val="DADCE0"/>
                      </a:solidFill>
                    </a:lnT>
                    <a:lnB w="6350">
                      <a:solidFill>
                        <a:srgbClr val="DADCE0"/>
                      </a:solidFill>
                    </a:lnB>
                    <a:solidFill>
                      <a:srgbClr val="FFFFFF"/>
                    </a:solidFill>
                  </a:tcPr>
                </a:tc>
                <a:tc>
                  <a:txBody>
                    <a:bodyPr/>
                    <a:lstStyle/>
                    <a:p>
                      <a:pPr algn="ctr">
                        <a:defRPr sz="1800"/>
                      </a:pPr>
                      <a:r>
                        <a:rPr b="1" sz="1000">
                          <a:solidFill>
                            <a:srgbClr val="259DA3"/>
                          </a:solidFill>
                          <a:latin typeface="+mn-lt"/>
                          <a:ea typeface="+mn-ea"/>
                          <a:cs typeface="+mn-cs"/>
                          <a:sym typeface="Helvetica"/>
                        </a:rPr>
                        <a:t>16.5万円</a:t>
                      </a:r>
                    </a:p>
                  </a:txBody>
                  <a:tcPr marL="45720" marR="45720" marT="45720" marB="45720" anchor="ctr" anchorCtr="0" horzOverflow="overflow">
                    <a:lnL w="6350">
                      <a:solidFill>
                        <a:srgbClr val="DADCE0"/>
                      </a:solidFill>
                    </a:lnL>
                    <a:lnR w="6350">
                      <a:solidFill>
                        <a:srgbClr val="DADCE0"/>
                      </a:solidFill>
                    </a:lnR>
                    <a:lnT w="6350">
                      <a:solidFill>
                        <a:srgbClr val="DADCE0"/>
                      </a:solidFill>
                    </a:lnT>
                    <a:lnB w="6350">
                      <a:solidFill>
                        <a:srgbClr val="DADCE0"/>
                      </a:solidFill>
                    </a:lnB>
                    <a:solidFill>
                      <a:srgbClr val="FFFFFF"/>
                    </a:solidFill>
                  </a:tcPr>
                </a:tc>
              </a:tr>
            </a:tbl>
          </a:graphicData>
        </a:graphic>
      </p:graphicFrame>
      <p:sp>
        <p:nvSpPr>
          <p:cNvPr id="414" name="Shape 14"/>
          <p:cNvSpPr/>
          <p:nvPr/>
        </p:nvSpPr>
        <p:spPr>
          <a:xfrm>
            <a:off x="4480559" y="2788920"/>
            <a:ext cx="4294254" cy="1036578"/>
          </a:xfrm>
          <a:prstGeom prst="rect">
            <a:avLst/>
          </a:prstGeom>
          <a:solidFill>
            <a:srgbClr val="E8F5E9"/>
          </a:solidFill>
          <a:ln w="12700">
            <a:miter lim="400000"/>
          </a:ln>
        </p:spPr>
        <p:txBody>
          <a:bodyPr lIns="45719" rIns="45719"/>
          <a:lstStyle/>
          <a:p>
            <a:pPr/>
          </a:p>
        </p:txBody>
      </p:sp>
      <p:sp>
        <p:nvSpPr>
          <p:cNvPr id="415" name="Text 15"/>
          <p:cNvSpPr txBox="1"/>
          <p:nvPr/>
        </p:nvSpPr>
        <p:spPr>
          <a:xfrm>
            <a:off x="4617720" y="2856677"/>
            <a:ext cx="3840480" cy="256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solidFill>
                  <a:srgbClr val="2E7D32"/>
                </a:solidFill>
                <a:latin typeface="+mn-lt"/>
                <a:ea typeface="+mn-ea"/>
                <a:cs typeface="+mn-cs"/>
                <a:sym typeface="Helvetica"/>
              </a:defRPr>
            </a:lvl1pPr>
          </a:lstStyle>
          <a:p>
            <a:pPr/>
            <a:r>
              <a:t>月50万円の物件なら、15%からの切り替えで</a:t>
            </a:r>
          </a:p>
        </p:txBody>
      </p:sp>
      <p:sp>
        <p:nvSpPr>
          <p:cNvPr id="416" name="Text 16"/>
          <p:cNvSpPr txBox="1"/>
          <p:nvPr/>
        </p:nvSpPr>
        <p:spPr>
          <a:xfrm>
            <a:off x="4617720" y="3143504"/>
            <a:ext cx="3840480"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700">
                <a:solidFill>
                  <a:srgbClr val="2E7D32"/>
                </a:solidFill>
                <a:latin typeface="+mn-lt"/>
                <a:ea typeface="+mn-ea"/>
                <a:cs typeface="+mn-cs"/>
                <a:sym typeface="Helvetica"/>
              </a:defRPr>
            </a:lvl1pPr>
          </a:lstStyle>
          <a:p>
            <a:pPr/>
            <a:r>
              <a:t>年間 36万円 の削減効果</a:t>
            </a:r>
          </a:p>
        </p:txBody>
      </p:sp>
      <p:sp>
        <p:nvSpPr>
          <p:cNvPr id="417" name="Text 17"/>
          <p:cNvSpPr txBox="1"/>
          <p:nvPr/>
        </p:nvSpPr>
        <p:spPr>
          <a:xfrm>
            <a:off x="594360" y="4083110"/>
            <a:ext cx="7955279" cy="24625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259DA3"/>
                </a:solidFill>
                <a:latin typeface="+mn-lt"/>
                <a:ea typeface="+mn-ea"/>
                <a:cs typeface="+mn-cs"/>
                <a:sym typeface="Helvetica"/>
              </a:defRPr>
            </a:lvl1pPr>
          </a:lstStyle>
          <a:p>
            <a:pPr/>
            <a:r>
              <a:t>✓ 解約手数料 0円（2ヶ月前通知）    ✓ 移行コスト 現在無料（先着10オーナー）    ✓ 清掃費はゲスト負担</a:t>
            </a:r>
          </a:p>
        </p:txBody>
      </p:sp>
      <p:sp>
        <p:nvSpPr>
          <p:cNvPr id="418" name="Text 18"/>
          <p:cNvSpPr txBox="1"/>
          <p:nvPr/>
        </p:nvSpPr>
        <p:spPr>
          <a:xfrm>
            <a:off x="594360" y="4367784"/>
            <a:ext cx="7955279" cy="243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9AA0A6"/>
                </a:solidFill>
                <a:latin typeface="+mn-lt"/>
                <a:ea typeface="+mn-ea"/>
                <a:cs typeface="+mn-cs"/>
                <a:sym typeface="Helvetica"/>
              </a:defRPr>
            </a:lvl1pPr>
          </a:lstStyle>
          <a:p>
            <a:pPr/>
            <a:r>
              <a:t>※ SEKAI STAY の手数料 = 売上の8% + ¥5,000×部屋数/月（売上連動型）。初期費用なし。</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3B9EA3"/>
        </a:solidFill>
      </p:bgPr>
    </p:bg>
    <p:spTree>
      <p:nvGrpSpPr>
        <p:cNvPr id="1" name=""/>
        <p:cNvGrpSpPr/>
        <p:nvPr/>
      </p:nvGrpSpPr>
      <p:grpSpPr>
        <a:xfrm>
          <a:off x="0" y="0"/>
          <a:ext cx="0" cy="0"/>
          <a:chOff x="0" y="0"/>
          <a:chExt cx="0" cy="0"/>
        </a:xfrm>
      </p:grpSpPr>
      <p:sp>
        <p:nvSpPr>
          <p:cNvPr id="420" name="Text 0"/>
          <p:cNvSpPr txBox="1"/>
          <p:nvPr/>
        </p:nvSpPr>
        <p:spPr>
          <a:xfrm>
            <a:off x="457200" y="210820"/>
            <a:ext cx="27432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00">
                <a:solidFill>
                  <a:srgbClr val="FFFFFF"/>
                </a:solidFill>
              </a:defRPr>
            </a:lvl1pPr>
          </a:lstStyle>
          <a:p>
            <a:pPr/>
            <a:r>
              <a:t>S E K A I   S T A Y</a:t>
            </a:r>
          </a:p>
        </p:txBody>
      </p:sp>
      <p:sp>
        <p:nvSpPr>
          <p:cNvPr id="421" name="Text 1"/>
          <p:cNvSpPr txBox="1"/>
          <p:nvPr/>
        </p:nvSpPr>
        <p:spPr>
          <a:xfrm>
            <a:off x="457200" y="449580"/>
            <a:ext cx="8229600" cy="3810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3000">
                <a:solidFill>
                  <a:srgbClr val="FFFFFF"/>
                </a:solidFill>
              </a:defRPr>
            </a:lvl1pPr>
          </a:lstStyle>
          <a:p>
            <a:pPr/>
            <a:r>
              <a:t>導入フロー</a:t>
            </a:r>
          </a:p>
        </p:txBody>
      </p:sp>
      <p:sp>
        <p:nvSpPr>
          <p:cNvPr id="422" name="Text 2"/>
          <p:cNvSpPr txBox="1"/>
          <p:nvPr/>
        </p:nvSpPr>
        <p:spPr>
          <a:xfrm>
            <a:off x="457200" y="932815"/>
            <a:ext cx="8229600" cy="14605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D4EEEF"/>
                </a:solidFill>
              </a:defRPr>
            </a:lvl1pPr>
          </a:lstStyle>
          <a:p>
            <a:pPr/>
            <a:r>
              <a:t>ご契約から最短２週間で運用開始。すべて弊社がリードします。</a:t>
            </a:r>
          </a:p>
        </p:txBody>
      </p:sp>
      <p:sp>
        <p:nvSpPr>
          <p:cNvPr id="423" name="Shape 3"/>
          <p:cNvSpPr/>
          <p:nvPr/>
        </p:nvSpPr>
        <p:spPr>
          <a:xfrm>
            <a:off x="411480" y="1371600"/>
            <a:ext cx="1508761" cy="2423161"/>
          </a:xfrm>
          <a:prstGeom prst="roundRect">
            <a:avLst>
              <a:gd name="adj" fmla="val 7273"/>
            </a:avLst>
          </a:prstGeom>
          <a:solidFill>
            <a:srgbClr val="FFFFFF"/>
          </a:solidFill>
          <a:ln w="12700">
            <a:miter lim="400000"/>
          </a:ln>
          <a:effectLst>
            <a:outerShdw sx="100000" sy="100000" kx="0" ky="0" algn="b" rotWithShape="0" blurRad="50800" dist="19050" dir="8100000">
              <a:srgbClr val="000000">
                <a:alpha val="8000"/>
              </a:srgbClr>
            </a:outerShdw>
          </a:effectLst>
        </p:spPr>
        <p:txBody>
          <a:bodyPr lIns="45719" rIns="45719"/>
          <a:lstStyle/>
          <a:p>
            <a:pPr/>
          </a:p>
        </p:txBody>
      </p:sp>
      <p:sp>
        <p:nvSpPr>
          <p:cNvPr id="424" name="Shape 4"/>
          <p:cNvSpPr/>
          <p:nvPr/>
        </p:nvSpPr>
        <p:spPr>
          <a:xfrm>
            <a:off x="946403" y="1508760"/>
            <a:ext cx="438913" cy="438913"/>
          </a:xfrm>
          <a:prstGeom prst="ellipse">
            <a:avLst/>
          </a:prstGeom>
          <a:solidFill>
            <a:srgbClr val="3B9EA3"/>
          </a:solidFill>
          <a:ln w="12700">
            <a:miter lim="400000"/>
          </a:ln>
        </p:spPr>
        <p:txBody>
          <a:bodyPr lIns="45719" rIns="45719"/>
          <a:lstStyle/>
          <a:p>
            <a:pPr/>
          </a:p>
        </p:txBody>
      </p:sp>
      <p:sp>
        <p:nvSpPr>
          <p:cNvPr id="425" name="Text 5"/>
          <p:cNvSpPr txBox="1"/>
          <p:nvPr/>
        </p:nvSpPr>
        <p:spPr>
          <a:xfrm>
            <a:off x="992123" y="1561672"/>
            <a:ext cx="347473" cy="33308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a:solidFill>
                  <a:srgbClr val="FFFFFF"/>
                </a:solidFill>
              </a:defRPr>
            </a:lvl1pPr>
          </a:lstStyle>
          <a:p>
            <a:pPr/>
            <a:r>
              <a:t>1</a:t>
            </a:r>
          </a:p>
        </p:txBody>
      </p:sp>
      <p:sp>
        <p:nvSpPr>
          <p:cNvPr id="426" name="Text 6"/>
          <p:cNvSpPr txBox="1"/>
          <p:nvPr/>
        </p:nvSpPr>
        <p:spPr>
          <a:xfrm>
            <a:off x="502919" y="2113788"/>
            <a:ext cx="1325881" cy="1524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2D2D2D"/>
                </a:solidFill>
              </a:defRPr>
            </a:lvl1pPr>
          </a:lstStyle>
          <a:p>
            <a:pPr/>
            <a:r>
              <a:t>ご契約</a:t>
            </a:r>
          </a:p>
        </p:txBody>
      </p:sp>
      <p:sp>
        <p:nvSpPr>
          <p:cNvPr id="427" name="Shape 7"/>
          <p:cNvSpPr/>
          <p:nvPr/>
        </p:nvSpPr>
        <p:spPr>
          <a:xfrm>
            <a:off x="594359" y="2377439"/>
            <a:ext cx="1143001" cy="1"/>
          </a:xfrm>
          <a:prstGeom prst="line">
            <a:avLst/>
          </a:prstGeom>
          <a:ln>
            <a:solidFill>
              <a:srgbClr val="EEEEEE"/>
            </a:solidFill>
          </a:ln>
        </p:spPr>
        <p:txBody>
          <a:bodyPr lIns="45719" rIns="45719"/>
          <a:lstStyle/>
          <a:p>
            <a:pPr/>
          </a:p>
        </p:txBody>
      </p:sp>
      <p:sp>
        <p:nvSpPr>
          <p:cNvPr id="428" name="Text 8"/>
          <p:cNvSpPr txBox="1"/>
          <p:nvPr/>
        </p:nvSpPr>
        <p:spPr>
          <a:xfrm>
            <a:off x="521208" y="2886837"/>
            <a:ext cx="1289304" cy="36195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35000"/>
              </a:lnSpc>
              <a:defRPr sz="1000">
                <a:solidFill>
                  <a:srgbClr val="777777"/>
                </a:solidFill>
              </a:defRPr>
            </a:pPr>
            <a:r>
              <a:t>契約書締結</a:t>
            </a:r>
          </a:p>
          <a:p>
            <a:pPr>
              <a:lnSpc>
                <a:spcPct val="135000"/>
              </a:lnSpc>
              <a:defRPr sz="1000">
                <a:solidFill>
                  <a:srgbClr val="777777"/>
                </a:solidFill>
              </a:defRPr>
            </a:pPr>
            <a:r>
              <a:t>担当者のご紹介</a:t>
            </a:r>
          </a:p>
        </p:txBody>
      </p:sp>
      <p:sp>
        <p:nvSpPr>
          <p:cNvPr id="429" name="Shape 10"/>
          <p:cNvSpPr/>
          <p:nvPr/>
        </p:nvSpPr>
        <p:spPr>
          <a:xfrm>
            <a:off x="2121407" y="1371600"/>
            <a:ext cx="1508761" cy="2423161"/>
          </a:xfrm>
          <a:prstGeom prst="roundRect">
            <a:avLst>
              <a:gd name="adj" fmla="val 7273"/>
            </a:avLst>
          </a:prstGeom>
          <a:solidFill>
            <a:srgbClr val="FFFFFF"/>
          </a:solidFill>
          <a:ln w="12700">
            <a:miter lim="400000"/>
          </a:ln>
          <a:effectLst>
            <a:outerShdw sx="100000" sy="100000" kx="0" ky="0" algn="b" rotWithShape="0" blurRad="50800" dist="19050" dir="8100000">
              <a:srgbClr val="000000">
                <a:alpha val="8000"/>
              </a:srgbClr>
            </a:outerShdw>
          </a:effectLst>
        </p:spPr>
        <p:txBody>
          <a:bodyPr lIns="45719" rIns="45719"/>
          <a:lstStyle/>
          <a:p>
            <a:pPr/>
          </a:p>
        </p:txBody>
      </p:sp>
      <p:sp>
        <p:nvSpPr>
          <p:cNvPr id="430" name="Shape 11"/>
          <p:cNvSpPr/>
          <p:nvPr/>
        </p:nvSpPr>
        <p:spPr>
          <a:xfrm>
            <a:off x="2656332" y="1508760"/>
            <a:ext cx="438913" cy="438913"/>
          </a:xfrm>
          <a:prstGeom prst="ellipse">
            <a:avLst/>
          </a:prstGeom>
          <a:solidFill>
            <a:srgbClr val="3B9EA3"/>
          </a:solidFill>
          <a:ln w="12700">
            <a:miter lim="400000"/>
          </a:ln>
        </p:spPr>
        <p:txBody>
          <a:bodyPr lIns="45719" rIns="45719"/>
          <a:lstStyle/>
          <a:p>
            <a:pPr/>
          </a:p>
        </p:txBody>
      </p:sp>
      <p:sp>
        <p:nvSpPr>
          <p:cNvPr id="431" name="Text 12"/>
          <p:cNvSpPr txBox="1"/>
          <p:nvPr/>
        </p:nvSpPr>
        <p:spPr>
          <a:xfrm>
            <a:off x="2702052" y="1561672"/>
            <a:ext cx="347473" cy="33308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a:solidFill>
                  <a:srgbClr val="FFFFFF"/>
                </a:solidFill>
              </a:defRPr>
            </a:lvl1pPr>
          </a:lstStyle>
          <a:p>
            <a:pPr/>
            <a:r>
              <a:t>2</a:t>
            </a:r>
          </a:p>
        </p:txBody>
      </p:sp>
      <p:sp>
        <p:nvSpPr>
          <p:cNvPr id="432" name="Text 13"/>
          <p:cNvSpPr txBox="1"/>
          <p:nvPr/>
        </p:nvSpPr>
        <p:spPr>
          <a:xfrm>
            <a:off x="2212848" y="2113788"/>
            <a:ext cx="1325881" cy="1524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2D2D2D"/>
                </a:solidFill>
              </a:defRPr>
            </a:lvl1pPr>
          </a:lstStyle>
          <a:p>
            <a:pPr/>
            <a:r>
              <a:t>物件調査</a:t>
            </a:r>
          </a:p>
        </p:txBody>
      </p:sp>
      <p:sp>
        <p:nvSpPr>
          <p:cNvPr id="433" name="Shape 14"/>
          <p:cNvSpPr/>
          <p:nvPr/>
        </p:nvSpPr>
        <p:spPr>
          <a:xfrm>
            <a:off x="2304288" y="2377439"/>
            <a:ext cx="1143001" cy="1"/>
          </a:xfrm>
          <a:prstGeom prst="line">
            <a:avLst/>
          </a:prstGeom>
          <a:ln>
            <a:solidFill>
              <a:srgbClr val="EEEEEE"/>
            </a:solidFill>
          </a:ln>
        </p:spPr>
        <p:txBody>
          <a:bodyPr lIns="45719" rIns="45719"/>
          <a:lstStyle/>
          <a:p>
            <a:pPr/>
          </a:p>
        </p:txBody>
      </p:sp>
      <p:sp>
        <p:nvSpPr>
          <p:cNvPr id="434" name="Text 15"/>
          <p:cNvSpPr txBox="1"/>
          <p:nvPr/>
        </p:nvSpPr>
        <p:spPr>
          <a:xfrm>
            <a:off x="2231135" y="2769362"/>
            <a:ext cx="1325881" cy="596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35000"/>
              </a:lnSpc>
              <a:defRPr sz="1000">
                <a:solidFill>
                  <a:srgbClr val="777777"/>
                </a:solidFill>
              </a:defRPr>
            </a:pPr>
            <a:r>
              <a:t>オンライン確認</a:t>
            </a:r>
          </a:p>
          <a:p>
            <a:pPr>
              <a:lnSpc>
                <a:spcPct val="135000"/>
              </a:lnSpc>
              <a:defRPr sz="1000">
                <a:solidFill>
                  <a:srgbClr val="777777"/>
                </a:solidFill>
              </a:defRPr>
            </a:pPr>
            <a:r>
              <a:t>設備・備品チェック</a:t>
            </a:r>
          </a:p>
          <a:p>
            <a:pPr>
              <a:lnSpc>
                <a:spcPct val="135000"/>
              </a:lnSpc>
              <a:defRPr sz="1000">
                <a:solidFill>
                  <a:srgbClr val="777777"/>
                </a:solidFill>
              </a:defRPr>
            </a:pPr>
            <a:r>
              <a:t>改善ポイント提案</a:t>
            </a:r>
          </a:p>
        </p:txBody>
      </p:sp>
      <p:sp>
        <p:nvSpPr>
          <p:cNvPr id="435" name="Shape 17"/>
          <p:cNvSpPr/>
          <p:nvPr/>
        </p:nvSpPr>
        <p:spPr>
          <a:xfrm>
            <a:off x="3831335" y="1371600"/>
            <a:ext cx="1508761" cy="2423161"/>
          </a:xfrm>
          <a:prstGeom prst="roundRect">
            <a:avLst>
              <a:gd name="adj" fmla="val 7273"/>
            </a:avLst>
          </a:prstGeom>
          <a:solidFill>
            <a:srgbClr val="FFFFFF"/>
          </a:solidFill>
          <a:ln w="12700">
            <a:miter lim="400000"/>
          </a:ln>
          <a:effectLst>
            <a:outerShdw sx="100000" sy="100000" kx="0" ky="0" algn="b" rotWithShape="0" blurRad="50800" dist="19050" dir="8100000">
              <a:srgbClr val="000000">
                <a:alpha val="8000"/>
              </a:srgbClr>
            </a:outerShdw>
          </a:effectLst>
        </p:spPr>
        <p:txBody>
          <a:bodyPr lIns="45719" rIns="45719"/>
          <a:lstStyle/>
          <a:p>
            <a:pPr/>
          </a:p>
        </p:txBody>
      </p:sp>
      <p:sp>
        <p:nvSpPr>
          <p:cNvPr id="436" name="Shape 18"/>
          <p:cNvSpPr/>
          <p:nvPr/>
        </p:nvSpPr>
        <p:spPr>
          <a:xfrm>
            <a:off x="4366259" y="1508760"/>
            <a:ext cx="438913" cy="438913"/>
          </a:xfrm>
          <a:prstGeom prst="ellipse">
            <a:avLst/>
          </a:prstGeom>
          <a:solidFill>
            <a:srgbClr val="3B9EA3"/>
          </a:solidFill>
          <a:ln w="12700">
            <a:miter lim="400000"/>
          </a:ln>
        </p:spPr>
        <p:txBody>
          <a:bodyPr lIns="45719" rIns="45719"/>
          <a:lstStyle/>
          <a:p>
            <a:pPr/>
          </a:p>
        </p:txBody>
      </p:sp>
      <p:sp>
        <p:nvSpPr>
          <p:cNvPr id="437" name="Text 19"/>
          <p:cNvSpPr txBox="1"/>
          <p:nvPr/>
        </p:nvSpPr>
        <p:spPr>
          <a:xfrm>
            <a:off x="4411979" y="1561672"/>
            <a:ext cx="347473" cy="33308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a:solidFill>
                  <a:srgbClr val="FFFFFF"/>
                </a:solidFill>
              </a:defRPr>
            </a:lvl1pPr>
          </a:lstStyle>
          <a:p>
            <a:pPr/>
            <a:r>
              <a:t>3</a:t>
            </a:r>
          </a:p>
        </p:txBody>
      </p:sp>
      <p:sp>
        <p:nvSpPr>
          <p:cNvPr id="438" name="Text 20"/>
          <p:cNvSpPr txBox="1"/>
          <p:nvPr/>
        </p:nvSpPr>
        <p:spPr>
          <a:xfrm>
            <a:off x="3922776" y="2113788"/>
            <a:ext cx="1325881" cy="1524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2D2D2D"/>
                </a:solidFill>
              </a:defRPr>
            </a:lvl1pPr>
          </a:lstStyle>
          <a:p>
            <a:pPr/>
            <a:r>
              <a:t>セットアップ</a:t>
            </a:r>
          </a:p>
        </p:txBody>
      </p:sp>
      <p:sp>
        <p:nvSpPr>
          <p:cNvPr id="439" name="Shape 21"/>
          <p:cNvSpPr/>
          <p:nvPr/>
        </p:nvSpPr>
        <p:spPr>
          <a:xfrm>
            <a:off x="4014215" y="2377439"/>
            <a:ext cx="1143001" cy="1"/>
          </a:xfrm>
          <a:prstGeom prst="line">
            <a:avLst/>
          </a:prstGeom>
          <a:ln>
            <a:solidFill>
              <a:srgbClr val="EEEEEE"/>
            </a:solidFill>
          </a:ln>
        </p:spPr>
        <p:txBody>
          <a:bodyPr lIns="45719" rIns="45719"/>
          <a:lstStyle/>
          <a:p>
            <a:pPr/>
          </a:p>
        </p:txBody>
      </p:sp>
      <p:sp>
        <p:nvSpPr>
          <p:cNvPr id="440" name="Text 22"/>
          <p:cNvSpPr txBox="1"/>
          <p:nvPr/>
        </p:nvSpPr>
        <p:spPr>
          <a:xfrm>
            <a:off x="3922775" y="2512123"/>
            <a:ext cx="1325881" cy="11113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35000"/>
              </a:lnSpc>
              <a:defRPr sz="1000">
                <a:solidFill>
                  <a:srgbClr val="777777"/>
                </a:solidFill>
              </a:defRPr>
            </a:pPr>
            <a:r>
              <a:t>写真変更</a:t>
            </a:r>
          </a:p>
          <a:p>
            <a:pPr>
              <a:lnSpc>
                <a:spcPct val="135000"/>
              </a:lnSpc>
              <a:defRPr sz="1000">
                <a:solidFill>
                  <a:srgbClr val="777777"/>
                </a:solidFill>
              </a:defRPr>
            </a:pPr>
            <a:r>
              <a:t>OTAリスティング作成</a:t>
            </a:r>
          </a:p>
          <a:p>
            <a:pPr>
              <a:lnSpc>
                <a:spcPct val="135000"/>
              </a:lnSpc>
              <a:defRPr sz="1000">
                <a:solidFill>
                  <a:srgbClr val="777777"/>
                </a:solidFill>
              </a:defRPr>
            </a:pPr>
            <a:r>
              <a:t>ダイナミックプライシング設定</a:t>
            </a:r>
            <a:br/>
            <a:r>
              <a:t>清掃との連携</a:t>
            </a:r>
          </a:p>
        </p:txBody>
      </p:sp>
      <p:sp>
        <p:nvSpPr>
          <p:cNvPr id="441" name="Shape 24"/>
          <p:cNvSpPr/>
          <p:nvPr/>
        </p:nvSpPr>
        <p:spPr>
          <a:xfrm>
            <a:off x="5541264" y="1371600"/>
            <a:ext cx="1508761" cy="2423161"/>
          </a:xfrm>
          <a:prstGeom prst="roundRect">
            <a:avLst>
              <a:gd name="adj" fmla="val 7273"/>
            </a:avLst>
          </a:prstGeom>
          <a:solidFill>
            <a:srgbClr val="FFFFFF"/>
          </a:solidFill>
          <a:ln w="12700">
            <a:miter lim="400000"/>
          </a:ln>
          <a:effectLst>
            <a:outerShdw sx="100000" sy="100000" kx="0" ky="0" algn="b" rotWithShape="0" blurRad="50800" dist="19050" dir="8100000">
              <a:srgbClr val="000000">
                <a:alpha val="8000"/>
              </a:srgbClr>
            </a:outerShdw>
          </a:effectLst>
        </p:spPr>
        <p:txBody>
          <a:bodyPr lIns="45719" rIns="45719"/>
          <a:lstStyle/>
          <a:p>
            <a:pPr/>
          </a:p>
        </p:txBody>
      </p:sp>
      <p:sp>
        <p:nvSpPr>
          <p:cNvPr id="442" name="Shape 25"/>
          <p:cNvSpPr/>
          <p:nvPr/>
        </p:nvSpPr>
        <p:spPr>
          <a:xfrm>
            <a:off x="6076188" y="1508760"/>
            <a:ext cx="438912" cy="438913"/>
          </a:xfrm>
          <a:prstGeom prst="ellipse">
            <a:avLst/>
          </a:prstGeom>
          <a:solidFill>
            <a:srgbClr val="3B9EA3"/>
          </a:solidFill>
          <a:ln w="12700">
            <a:miter lim="400000"/>
          </a:ln>
        </p:spPr>
        <p:txBody>
          <a:bodyPr lIns="45719" rIns="45719"/>
          <a:lstStyle/>
          <a:p>
            <a:pPr/>
          </a:p>
        </p:txBody>
      </p:sp>
      <p:sp>
        <p:nvSpPr>
          <p:cNvPr id="443" name="Text 26"/>
          <p:cNvSpPr txBox="1"/>
          <p:nvPr/>
        </p:nvSpPr>
        <p:spPr>
          <a:xfrm>
            <a:off x="6121908" y="1561672"/>
            <a:ext cx="347473" cy="33308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a:solidFill>
                  <a:srgbClr val="FFFFFF"/>
                </a:solidFill>
              </a:defRPr>
            </a:lvl1pPr>
          </a:lstStyle>
          <a:p>
            <a:pPr/>
            <a:r>
              <a:t>4</a:t>
            </a:r>
          </a:p>
        </p:txBody>
      </p:sp>
      <p:sp>
        <p:nvSpPr>
          <p:cNvPr id="444" name="Text 27"/>
          <p:cNvSpPr txBox="1"/>
          <p:nvPr/>
        </p:nvSpPr>
        <p:spPr>
          <a:xfrm>
            <a:off x="5632703" y="2113788"/>
            <a:ext cx="1325881" cy="1524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2D2D2D"/>
                </a:solidFill>
              </a:defRPr>
            </a:lvl1pPr>
          </a:lstStyle>
          <a:p>
            <a:pPr/>
            <a:r>
              <a:t>運用テスト</a:t>
            </a:r>
          </a:p>
        </p:txBody>
      </p:sp>
      <p:sp>
        <p:nvSpPr>
          <p:cNvPr id="445" name="Shape 28"/>
          <p:cNvSpPr/>
          <p:nvPr/>
        </p:nvSpPr>
        <p:spPr>
          <a:xfrm>
            <a:off x="5724144" y="2377439"/>
            <a:ext cx="1143001" cy="1"/>
          </a:xfrm>
          <a:prstGeom prst="line">
            <a:avLst/>
          </a:prstGeom>
          <a:ln>
            <a:solidFill>
              <a:srgbClr val="EEEEEE"/>
            </a:solidFill>
          </a:ln>
        </p:spPr>
        <p:txBody>
          <a:bodyPr lIns="45719" rIns="45719"/>
          <a:lstStyle/>
          <a:p>
            <a:pPr/>
          </a:p>
        </p:txBody>
      </p:sp>
      <p:sp>
        <p:nvSpPr>
          <p:cNvPr id="446" name="Text 29"/>
          <p:cNvSpPr txBox="1"/>
          <p:nvPr/>
        </p:nvSpPr>
        <p:spPr>
          <a:xfrm>
            <a:off x="5650991" y="2769362"/>
            <a:ext cx="1289305" cy="596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35000"/>
              </a:lnSpc>
              <a:defRPr sz="1000">
                <a:solidFill>
                  <a:srgbClr val="777777"/>
                </a:solidFill>
              </a:defRPr>
            </a:pPr>
            <a:r>
              <a:t>掲載内容の最終確認</a:t>
            </a:r>
          </a:p>
          <a:p>
            <a:pPr>
              <a:lnSpc>
                <a:spcPct val="135000"/>
              </a:lnSpc>
              <a:defRPr sz="1000">
                <a:solidFill>
                  <a:srgbClr val="777777"/>
                </a:solidFill>
              </a:defRPr>
            </a:pPr>
            <a:r>
              <a:t>予約導線テスト</a:t>
            </a:r>
          </a:p>
          <a:p>
            <a:pPr>
              <a:lnSpc>
                <a:spcPct val="135000"/>
              </a:lnSpc>
              <a:defRPr sz="1000">
                <a:solidFill>
                  <a:srgbClr val="777777"/>
                </a:solidFill>
              </a:defRPr>
            </a:pPr>
            <a:r>
              <a:t>オーナー様承認</a:t>
            </a:r>
          </a:p>
        </p:txBody>
      </p:sp>
      <p:sp>
        <p:nvSpPr>
          <p:cNvPr id="447" name="Shape 31"/>
          <p:cNvSpPr/>
          <p:nvPr/>
        </p:nvSpPr>
        <p:spPr>
          <a:xfrm>
            <a:off x="7251192" y="1371600"/>
            <a:ext cx="1508761" cy="2423161"/>
          </a:xfrm>
          <a:prstGeom prst="roundRect">
            <a:avLst>
              <a:gd name="adj" fmla="val 7273"/>
            </a:avLst>
          </a:prstGeom>
          <a:solidFill>
            <a:srgbClr val="FFFFFF"/>
          </a:solidFill>
          <a:ln w="12700">
            <a:miter lim="400000"/>
          </a:ln>
          <a:effectLst>
            <a:outerShdw sx="100000" sy="100000" kx="0" ky="0" algn="b" rotWithShape="0" blurRad="50800" dist="19050" dir="8100000">
              <a:srgbClr val="000000">
                <a:alpha val="8000"/>
              </a:srgbClr>
            </a:outerShdw>
          </a:effectLst>
        </p:spPr>
        <p:txBody>
          <a:bodyPr lIns="45719" rIns="45719"/>
          <a:lstStyle/>
          <a:p>
            <a:pPr/>
          </a:p>
        </p:txBody>
      </p:sp>
      <p:sp>
        <p:nvSpPr>
          <p:cNvPr id="448" name="Shape 32"/>
          <p:cNvSpPr/>
          <p:nvPr/>
        </p:nvSpPr>
        <p:spPr>
          <a:xfrm>
            <a:off x="7786116" y="1508760"/>
            <a:ext cx="438913" cy="438913"/>
          </a:xfrm>
          <a:prstGeom prst="ellipse">
            <a:avLst/>
          </a:prstGeom>
          <a:solidFill>
            <a:srgbClr val="3B9EA3"/>
          </a:solidFill>
          <a:ln w="12700">
            <a:miter lim="400000"/>
          </a:ln>
        </p:spPr>
        <p:txBody>
          <a:bodyPr lIns="45719" rIns="45719"/>
          <a:lstStyle/>
          <a:p>
            <a:pPr/>
          </a:p>
        </p:txBody>
      </p:sp>
      <p:sp>
        <p:nvSpPr>
          <p:cNvPr id="449" name="Text 33"/>
          <p:cNvSpPr txBox="1"/>
          <p:nvPr/>
        </p:nvSpPr>
        <p:spPr>
          <a:xfrm>
            <a:off x="7831835" y="1561672"/>
            <a:ext cx="347473" cy="33308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a:solidFill>
                  <a:srgbClr val="FFFFFF"/>
                </a:solidFill>
              </a:defRPr>
            </a:lvl1pPr>
          </a:lstStyle>
          <a:p>
            <a:pPr/>
            <a:r>
              <a:t>5</a:t>
            </a:r>
          </a:p>
        </p:txBody>
      </p:sp>
      <p:sp>
        <p:nvSpPr>
          <p:cNvPr id="450" name="Text 34"/>
          <p:cNvSpPr txBox="1"/>
          <p:nvPr/>
        </p:nvSpPr>
        <p:spPr>
          <a:xfrm>
            <a:off x="7342631" y="2113788"/>
            <a:ext cx="1325881" cy="1524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2D2D2D"/>
                </a:solidFill>
              </a:defRPr>
            </a:lvl1pPr>
          </a:lstStyle>
          <a:p>
            <a:pPr/>
            <a:r>
              <a:t>運用開始</a:t>
            </a:r>
          </a:p>
        </p:txBody>
      </p:sp>
      <p:sp>
        <p:nvSpPr>
          <p:cNvPr id="451" name="Shape 35"/>
          <p:cNvSpPr/>
          <p:nvPr/>
        </p:nvSpPr>
        <p:spPr>
          <a:xfrm>
            <a:off x="7434071" y="2377439"/>
            <a:ext cx="1143001" cy="1"/>
          </a:xfrm>
          <a:prstGeom prst="line">
            <a:avLst/>
          </a:prstGeom>
          <a:ln>
            <a:solidFill>
              <a:srgbClr val="EEEEEE"/>
            </a:solidFill>
          </a:ln>
        </p:spPr>
        <p:txBody>
          <a:bodyPr lIns="45719" rIns="45719"/>
          <a:lstStyle/>
          <a:p>
            <a:pPr/>
          </a:p>
        </p:txBody>
      </p:sp>
      <p:sp>
        <p:nvSpPr>
          <p:cNvPr id="452" name="Text 36"/>
          <p:cNvSpPr txBox="1"/>
          <p:nvPr/>
        </p:nvSpPr>
        <p:spPr>
          <a:xfrm>
            <a:off x="7360919" y="2629598"/>
            <a:ext cx="1289305" cy="87642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35000"/>
              </a:lnSpc>
              <a:defRPr sz="1000">
                <a:solidFill>
                  <a:srgbClr val="000000">
                    <a:alpha val="84705"/>
                  </a:srgbClr>
                </a:solidFill>
              </a:defRPr>
            </a:pPr>
            <a:r>
              <a:t>全 OTA で予約受付開始</a:t>
            </a:r>
          </a:p>
          <a:p>
            <a:pPr>
              <a:lnSpc>
                <a:spcPct val="135000"/>
              </a:lnSpc>
              <a:defRPr sz="1000">
                <a:solidFill>
                  <a:srgbClr val="000000">
                    <a:alpha val="84705"/>
                  </a:srgbClr>
                </a:solidFill>
              </a:defRPr>
            </a:pPr>
            <a:r>
              <a:t>ダッシュボードご案内</a:t>
            </a:r>
          </a:p>
          <a:p>
            <a:pPr>
              <a:lnSpc>
                <a:spcPct val="135000"/>
              </a:lnSpc>
              <a:defRPr sz="1000">
                <a:solidFill>
                  <a:srgbClr val="000000">
                    <a:alpha val="84705"/>
                  </a:srgbClr>
                </a:solidFill>
              </a:defRPr>
            </a:pPr>
            <a:r>
              <a:t>専任チームが 24h 体制で対応</a:t>
            </a:r>
          </a:p>
        </p:txBody>
      </p:sp>
      <p:sp>
        <p:nvSpPr>
          <p:cNvPr id="453" name="Text 37"/>
          <p:cNvSpPr txBox="1"/>
          <p:nvPr/>
        </p:nvSpPr>
        <p:spPr>
          <a:xfrm>
            <a:off x="411479" y="4043045"/>
            <a:ext cx="8321042" cy="1435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000">
                <a:solidFill>
                  <a:srgbClr val="FFFFFF"/>
                </a:solidFill>
              </a:defRPr>
            </a:lvl1pPr>
          </a:lstStyle>
          <a:p>
            <a:pPr/>
            <a:r>
              <a:t>約 2 週間</a:t>
            </a:r>
          </a:p>
        </p:txBody>
      </p:sp>
      <p:sp>
        <p:nvSpPr>
          <p:cNvPr id="454" name="Shape 38"/>
          <p:cNvSpPr/>
          <p:nvPr/>
        </p:nvSpPr>
        <p:spPr>
          <a:xfrm>
            <a:off x="822959" y="3950208"/>
            <a:ext cx="7498082" cy="1"/>
          </a:xfrm>
          <a:prstGeom prst="line">
            <a:avLst/>
          </a:prstGeom>
          <a:ln w="12700">
            <a:solidFill>
              <a:srgbClr val="FFFFFF"/>
            </a:solidFill>
          </a:ln>
        </p:spPr>
        <p:txBody>
          <a:bodyPr lIns="45719" rIns="45719"/>
          <a:lstStyle/>
          <a:p>
            <a:pPr/>
          </a:p>
        </p:txBody>
      </p:sp>
      <p:sp>
        <p:nvSpPr>
          <p:cNvPr id="455" name="Text 39"/>
          <p:cNvSpPr txBox="1"/>
          <p:nvPr/>
        </p:nvSpPr>
        <p:spPr>
          <a:xfrm>
            <a:off x="457200" y="4311648"/>
            <a:ext cx="8229600" cy="15494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B0D8DA"/>
                </a:solidFill>
              </a:defRPr>
            </a:lvl1pPr>
          </a:lstStyle>
          <a:p>
            <a:pPr/>
            <a:r>
              <a:t>※ 物件の状態により前後する場合があります  |  移行コスト 0 円（先着 10 オーナー様）</a:t>
            </a:r>
          </a:p>
        </p:txBody>
      </p:sp>
      <p:sp>
        <p:nvSpPr>
          <p:cNvPr id="456" name="Text 40"/>
          <p:cNvSpPr txBox="1"/>
          <p:nvPr/>
        </p:nvSpPr>
        <p:spPr>
          <a:xfrm>
            <a:off x="457200" y="4820285"/>
            <a:ext cx="8229600" cy="1435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000">
                <a:solidFill>
                  <a:srgbClr val="A0CCCE"/>
                </a:solidFill>
              </a:defRPr>
            </a:lvl1pPr>
          </a:lstStyle>
          <a:p>
            <a:pPr/>
            <a:r>
              <a:t>株式会社セカイチ  |  東京都渋谷区恵比寿西 2-14-7  |  資本金 1600万円</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